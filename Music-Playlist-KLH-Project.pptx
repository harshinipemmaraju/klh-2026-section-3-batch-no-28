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1" r:id="rId4"/>
    <p:sldId id="258" r:id="rId5"/>
    <p:sldId id="259" r:id="rId6"/>
    <p:sldId id="260" r:id="rId7"/>
    <p:sldId id="263" r:id="rId16"/>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  <Relationship Id="rId16" Type="http://schemas.openxmlformats.org/officeDocument/2006/relationships/slide" Target="slides/slide8.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15-09-2026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15-09-2026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15-09-2026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15-09-2026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15-09-2026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15-09-2026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15-09-2026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15-09-2026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15-09-2026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15-09-2026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15-09-2026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15-09-2026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harshinipemmaraju/KLH-2026-Section-3-Batch-no-28" TargetMode="External"/><Relationship Id="rId3" Type="http://schemas.openxmlformats.org/officeDocument/2006/relationships/hyperlink" Target="https://github.com/Vidhijna2009/KLH-2026-Section-3-Batch-no-2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lstStyle/>
          <a:p>
            <a:r>
              <a:rPr sz="4000" b="1"/>
              <a:t>Music Playlist and Listening Stats Manager</a:t>
            </a:r>
            <a:br/>
            <a:r>
              <a:rPr sz="3200">
                <a:solidFill>
                  <a:srgbClr val="A31F24"/>
                </a:solidFill>
              </a:rPr>
              <a:t>Team No: 28</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P. Sai Lakshmi Harshini  –  2620030063</a:t>
            </a:r>
          </a:p>
          <a:p>
            <a:r>
              <a:rPr lang="en-IN" dirty="0"/>
              <a:t>B. Vidhijna  –  2620090018</a:t>
            </a: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463040"/>
            <a:ext cx="10515600" cy="4297680"/>
          </a:xfrm>
        </p:spPr>
        <p:txBody>
          <a:bodyPr wrap="square"/>
          <a:lstStyle/>
          <a:p>
            <a:pPr algn="just" marL="0" indent="0">
              <a:lnSpc>
                <a:spcPct val="110000"/>
              </a:lnSpc>
              <a:spcAft>
                <a:spcPts val="1000"/>
              </a:spcAft>
              <a:buNone/>
            </a:pPr>
            <a:r>
              <a:rPr sz="1500"/>
              <a:t>The Music Playlist and Listening Stats Manager is a Java software application aimed at simplifying and automating music-related recording jobs. Usually dealing with a large volume of songs under the same heading, along with listening records and details. The system is there to provide an application to save the recorded songs as well as playlists so both elements can effectively be managed. The system allows the user to add, edit, search, and display records. Each song is saved with the ID, name, artist, album, genre, and length. New playlists may be created and populated with the available music. A song currently playing may be saved for listening statistics. The system shows the number of times each song is played, as well as how long it's been played, etc.</a:t>
            </a:r>
          </a:p>
          <a:p>
            <a:pPr algn="just" marL="0" indent="0">
              <a:lnSpc>
                <a:spcPct val="110000"/>
              </a:lnSpc>
              <a:spcAft>
                <a:spcPts val="1000"/>
              </a:spcAft>
              <a:buNone/>
            </a:pPr>
            <a:r>
              <a:rPr sz="1500"/>
              <a:t>The task is made significantly easier and requires minimal work through the reduction in manual work required; not just to store music, but also to manage playlists effectively, and to analyze data on how the application and song information is consumed, and how to make an advanced listening analysis using it more efficiently. The program could be developed into a client and could be a client program working directly and/or as a web service. The system is extensible, and new functions like arranging songs in sorted order, find mostly played songs in a playlist, and other important listening data related, can further develop to be designed so user can analyse their consumption data better and more clearly.</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t>Understanding Problem Statement</a:t>
            </a:r>
          </a:p>
        </p:txBody>
      </p:sp>
      <p:sp>
        <p:nvSpPr>
          <p:cNvPr id="6" name="TextBox 5"/>
          <p:cNvSpPr txBox="1"/>
          <p:nvPr/>
        </p:nvSpPr>
        <p:spPr>
          <a:xfrm>
            <a:off x="838200" y="1463040"/>
            <a:ext cx="10515600" cy="822960"/>
          </a:xfrm>
          <a:prstGeom prst="rect">
            <a:avLst/>
          </a:prstGeom>
          <a:noFill/>
        </p:spPr>
        <p:txBody>
          <a:bodyPr wrap="square" anchor="t">
            <a:spAutoFit/>
          </a:bodyPr>
          <a:lstStyle/>
          <a:p>
            <a:pPr>
              <a:spcAft>
                <a:spcPts val="400"/>
              </a:spcAft>
            </a:pPr>
            <a:r>
              <a:rPr sz="1600" b="1">
                <a:solidFill>
                  <a:srgbClr val="A31F24"/>
                </a:solidFill>
              </a:rPr>
              <a:t>Problem: </a:t>
            </a:r>
            <a:r>
              <a:rPr sz="1600" b="0">
                <a:solidFill>
                  <a:srgbClr val="222222"/>
                </a:solidFill>
              </a:rPr>
              <a:t>Keeping track of songs and how often each one is played is usually done by hand, which is slow and error-prone. We need a simple Java console program that stores a small playlist, records play counts, and reports useful listening statistics.</a:t>
            </a:r>
          </a:p>
        </p:txBody>
      </p:sp>
      <p:sp>
        <p:nvSpPr>
          <p:cNvPr id="7" name="Rectangle 6"/>
          <p:cNvSpPr/>
          <p:nvPr/>
        </p:nvSpPr>
        <p:spPr>
          <a:xfrm>
            <a:off x="83820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500" b="1">
                <a:solidFill>
                  <a:srgbClr val="FFFFFF"/>
                </a:solidFill>
              </a:rPr>
              <a:t>INPUT</a:t>
            </a:r>
          </a:p>
        </p:txBody>
      </p:sp>
      <p:sp>
        <p:nvSpPr>
          <p:cNvPr id="8" name="Rectangle 7"/>
          <p:cNvSpPr/>
          <p:nvPr/>
        </p:nvSpPr>
        <p:spPr>
          <a:xfrm>
            <a:off x="83820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82880"/>
          <a:lstStyle/>
          <a:p>
            <a:pPr algn="l">
              <a:spcAft>
                <a:spcPts val="600"/>
              </a:spcAft>
            </a:pPr>
            <a:r>
              <a:rPr sz="1300" b="0">
                <a:solidFill>
                  <a:srgbClr val="222222"/>
                </a:solidFill>
              </a:rPr>
              <a:t>•  Song names (5 songs)</a:t>
            </a:r>
          </a:p>
          <a:p>
            <a:pPr algn="l">
              <a:spcAft>
                <a:spcPts val="600"/>
              </a:spcAft>
            </a:pPr>
            <a:r>
              <a:rPr sz="1300" b="0">
                <a:solidFill>
                  <a:srgbClr val="222222"/>
                </a:solidFill>
              </a:rPr>
              <a:t>•  Number of plays for each song</a:t>
            </a:r>
          </a:p>
          <a:p>
            <a:pPr algn="l">
              <a:spcAft>
                <a:spcPts val="600"/>
              </a:spcAft>
            </a:pPr>
            <a:r>
              <a:rPr sz="1300" b="0">
                <a:solidFill>
                  <a:srgbClr val="222222"/>
                </a:solidFill>
              </a:rPr>
              <a:t>•  Entered through the keyboard using Scanner</a:t>
            </a:r>
          </a:p>
        </p:txBody>
      </p:sp>
      <p:sp>
        <p:nvSpPr>
          <p:cNvPr id="9" name="Right Arrow 8"/>
          <p:cNvSpPr/>
          <p:nvPr/>
        </p:nvSpPr>
        <p:spPr>
          <a:xfrm>
            <a:off x="403174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5582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500" b="1">
                <a:solidFill>
                  <a:srgbClr val="FFFFFF"/>
                </a:solidFill>
              </a:rPr>
              <a:t>PROCESSING</a:t>
            </a:r>
          </a:p>
        </p:txBody>
      </p:sp>
      <p:sp>
        <p:nvSpPr>
          <p:cNvPr id="11" name="Rectangle 10"/>
          <p:cNvSpPr/>
          <p:nvPr/>
        </p:nvSpPr>
        <p:spPr>
          <a:xfrm>
            <a:off x="465582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82880"/>
          <a:lstStyle/>
          <a:p>
            <a:pPr algn="l">
              <a:spcAft>
                <a:spcPts val="600"/>
              </a:spcAft>
            </a:pPr>
            <a:r>
              <a:rPr sz="1300" b="0">
                <a:solidFill>
                  <a:srgbClr val="222222"/>
                </a:solidFill>
              </a:rPr>
              <a:t>•  Store data in parallel arrays</a:t>
            </a:r>
          </a:p>
          <a:p>
            <a:pPr algn="l">
              <a:spcAft>
                <a:spcPts val="600"/>
              </a:spcAft>
            </a:pPr>
            <a:r>
              <a:rPr sz="1300" b="0">
                <a:solidFill>
                  <a:srgbClr val="222222"/>
                </a:solidFill>
              </a:rPr>
              <a:t>•  Traverse arrays with for loops</a:t>
            </a:r>
          </a:p>
          <a:p>
            <a:pPr algn="l">
              <a:spcAft>
                <a:spcPts val="600"/>
              </a:spcAft>
            </a:pPr>
            <a:r>
              <a:rPr sz="1300" b="0">
                <a:solidFill>
                  <a:srgbClr val="222222"/>
                </a:solidFill>
              </a:rPr>
              <a:t>•  Compare values to find the maximum</a:t>
            </a:r>
          </a:p>
          <a:p>
            <a:pPr algn="l">
              <a:spcAft>
                <a:spcPts val="600"/>
              </a:spcAft>
            </a:pPr>
            <a:r>
              <a:rPr sz="1300" b="0">
                <a:solidFill>
                  <a:srgbClr val="222222"/>
                </a:solidFill>
              </a:rPr>
              <a:t>•  Add plays for total, divide for average</a:t>
            </a:r>
          </a:p>
        </p:txBody>
      </p:sp>
      <p:sp>
        <p:nvSpPr>
          <p:cNvPr id="12" name="Right Arrow 11"/>
          <p:cNvSpPr/>
          <p:nvPr/>
        </p:nvSpPr>
        <p:spPr>
          <a:xfrm>
            <a:off x="784936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7344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500" b="1">
                <a:solidFill>
                  <a:srgbClr val="FFFFFF"/>
                </a:solidFill>
              </a:rPr>
              <a:t>OUTPUT</a:t>
            </a:r>
          </a:p>
        </p:txBody>
      </p:sp>
      <p:sp>
        <p:nvSpPr>
          <p:cNvPr id="14" name="Rectangle 13"/>
          <p:cNvSpPr/>
          <p:nvPr/>
        </p:nvSpPr>
        <p:spPr>
          <a:xfrm>
            <a:off x="847344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82880"/>
          <a:lstStyle/>
          <a:p>
            <a:pPr algn="l">
              <a:spcAft>
                <a:spcPts val="600"/>
              </a:spcAft>
            </a:pPr>
            <a:r>
              <a:rPr sz="1300" b="0">
                <a:solidFill>
                  <a:srgbClr val="222222"/>
                </a:solidFill>
              </a:rPr>
              <a:t>•  Full playlist with play counts</a:t>
            </a:r>
          </a:p>
          <a:p>
            <a:pPr algn="l">
              <a:spcAft>
                <a:spcPts val="600"/>
              </a:spcAft>
            </a:pPr>
            <a:r>
              <a:rPr sz="1300" b="0">
                <a:solidFill>
                  <a:srgbClr val="222222"/>
                </a:solidFill>
              </a:rPr>
              <a:t>•  Most played song and its count</a:t>
            </a:r>
          </a:p>
          <a:p>
            <a:pPr algn="l">
              <a:spcAft>
                <a:spcPts val="600"/>
              </a:spcAft>
            </a:pPr>
            <a:r>
              <a:rPr sz="1300" b="0">
                <a:solidFill>
                  <a:srgbClr val="222222"/>
                </a:solidFill>
              </a:rPr>
              <a:t>•  Total plays</a:t>
            </a:r>
          </a:p>
          <a:p>
            <a:pPr algn="l">
              <a:spcAft>
                <a:spcPts val="600"/>
              </a:spcAft>
            </a:pPr>
            <a:r>
              <a:rPr sz="1300" b="0">
                <a:solidFill>
                  <a:srgbClr val="222222"/>
                </a:solidFill>
              </a:rPr>
              <a:t>•  Average plays per song</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t>CO 1 Topics</a:t>
            </a:r>
          </a:p>
        </p:txBody>
      </p:sp>
      <p:sp>
        <p:nvSpPr>
          <p:cNvPr id="6" name="TextBox 5"/>
          <p:cNvSpPr txBox="1"/>
          <p:nvPr/>
        </p:nvSpPr>
        <p:spPr>
          <a:xfrm>
            <a:off x="838200" y="1371600"/>
            <a:ext cx="10515600" cy="365760"/>
          </a:xfrm>
          <a:prstGeom prst="rect">
            <a:avLst/>
          </a:prstGeom>
          <a:noFill/>
        </p:spPr>
        <p:txBody>
          <a:bodyPr wrap="square" anchor="t">
            <a:spAutoFit/>
          </a:bodyPr>
          <a:lstStyle/>
          <a:p>
            <a:pPr>
              <a:spcAft>
                <a:spcPts val="400"/>
              </a:spcAft>
            </a:pPr>
            <a:r>
              <a:rPr sz="1400" b="1">
                <a:solidFill>
                  <a:srgbClr val="A31F24"/>
                </a:solidFill>
              </a:rPr>
              <a:t>Module 1 – From Problem to Program: Computational Thinking &amp; Java Foundations</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gridCol w="4160520"/>
              </a:tblGrid>
              <a:tr h="548640">
                <a:tc>
                  <a:txBody>
                    <a:bodyPr wrap="square"/>
                    <a:lstStyle/>
                    <a:p>
                      <a:r>
                        <a:rPr sz="1200" b="1">
                          <a:solidFill>
                            <a:srgbClr val="FFFFFF"/>
                          </a:solidFill>
                        </a:rPr>
                        <a:t>Topic</a:t>
                      </a:r>
                    </a:p>
                  </a:txBody>
                  <a:tcPr marL="109728" marR="109728" anchor="ctr">
                    <a:solidFill>
                      <a:srgbClr val="A31F24"/>
                    </a:solidFill>
                  </a:tcPr>
                </a:tc>
                <a:tc>
                  <a:txBody>
                    <a:bodyPr wrap="square"/>
                    <a:lstStyle/>
                    <a:p>
                      <a:r>
                        <a:rPr sz="1200" b="1">
                          <a:solidFill>
                            <a:srgbClr val="FFFFFF"/>
                          </a:solidFill>
                        </a:rPr>
                        <a:t>How it is used in our project</a:t>
                      </a:r>
                    </a:p>
                  </a:txBody>
                  <a:tcPr marL="109728" marR="109728" anchor="ctr">
                    <a:solidFill>
                      <a:srgbClr val="A31F24"/>
                    </a:solidFill>
                  </a:tcPr>
                </a:tc>
              </a:tr>
              <a:tr h="548640">
                <a:tc>
                  <a:txBody>
                    <a:bodyPr wrap="square"/>
                    <a:lstStyle/>
                    <a:p>
                      <a:r>
                        <a:rPr sz="1200" b="1">
                          <a:solidFill>
                            <a:srgbClr val="222222"/>
                          </a:solidFill>
                        </a:rPr>
                        <a:t>Problem solving / algorithm</a:t>
                      </a:r>
                    </a:p>
                  </a:txBody>
                  <a:tcPr marL="109728" marR="109728" anchor="ctr">
                    <a:solidFill>
                      <a:srgbClr val="FFFFFF"/>
                    </a:solidFill>
                  </a:tcPr>
                </a:tc>
                <a:tc>
                  <a:txBody>
                    <a:bodyPr wrap="square"/>
                    <a:lstStyle/>
                    <a:p>
                      <a:r>
                        <a:rPr sz="1200" b="0">
                          <a:solidFill>
                            <a:srgbClr val="222222"/>
                          </a:solidFill>
                        </a:rPr>
                        <a:t>Steps: read songs → display → find max → total → average</a:t>
                      </a:r>
                    </a:p>
                  </a:txBody>
                  <a:tcPr marL="109728" marR="109728" anchor="ctr">
                    <a:solidFill>
                      <a:srgbClr val="FFFFFF"/>
                    </a:solidFill>
                  </a:tcPr>
                </a:tc>
              </a:tr>
              <a:tr h="548640">
                <a:tc>
                  <a:txBody>
                    <a:bodyPr wrap="square"/>
                    <a:lstStyle/>
                    <a:p>
                      <a:r>
                        <a:rPr sz="1200" b="1">
                          <a:solidFill>
                            <a:srgbClr val="222222"/>
                          </a:solidFill>
                        </a:rPr>
                        <a:t>Structure of a Java program</a:t>
                      </a:r>
                    </a:p>
                  </a:txBody>
                  <a:tcPr marL="109728" marR="109728" anchor="ctr">
                    <a:solidFill>
                      <a:srgbClr val="F4F4F4"/>
                    </a:solidFill>
                  </a:tcPr>
                </a:tc>
                <a:tc>
                  <a:txBody>
                    <a:bodyPr wrap="square"/>
                    <a:lstStyle/>
                    <a:p>
                      <a:r>
                        <a:rPr sz="1200" b="0">
                          <a:solidFill>
                            <a:srgbClr val="222222"/>
                          </a:solidFill>
                        </a:rPr>
                        <a:t>class MusicPlaylist with public static void main(String[] args)</a:t>
                      </a:r>
                    </a:p>
                  </a:txBody>
                  <a:tcPr marL="109728" marR="109728" anchor="ctr">
                    <a:solidFill>
                      <a:srgbClr val="F4F4F4"/>
                    </a:solidFill>
                  </a:tcPr>
                </a:tc>
              </a:tr>
              <a:tr h="548640">
                <a:tc>
                  <a:txBody>
                    <a:bodyPr wrap="square"/>
                    <a:lstStyle/>
                    <a:p>
                      <a:r>
                        <a:rPr sz="1200" b="1">
                          <a:solidFill>
                            <a:srgbClr val="222222"/>
                          </a:solidFill>
                        </a:rPr>
                        <a:t>Primitive types &amp; variables</a:t>
                      </a:r>
                    </a:p>
                  </a:txBody>
                  <a:tcPr marL="109728" marR="109728" anchor="ctr">
                    <a:solidFill>
                      <a:srgbClr val="FFFFFF"/>
                    </a:solidFill>
                  </a:tcPr>
                </a:tc>
                <a:tc>
                  <a:txBody>
                    <a:bodyPr wrap="square"/>
                    <a:lstStyle/>
                    <a:p>
                      <a:r>
                        <a:rPr sz="1200" b="0">
                          <a:solidFill>
                            <a:srgbClr val="222222"/>
                          </a:solidFill>
                        </a:rPr>
                        <a:t>int max, position, total;  double average</a:t>
                      </a:r>
                    </a:p>
                  </a:txBody>
                  <a:tcPr marL="109728" marR="109728" anchor="ctr">
                    <a:solidFill>
                      <a:srgbClr val="FFFFFF"/>
                    </a:solidFill>
                  </a:tcPr>
                </a:tc>
              </a:tr>
              <a:tr h="548640">
                <a:tc>
                  <a:txBody>
                    <a:bodyPr wrap="square"/>
                    <a:lstStyle/>
                    <a:p>
                      <a:r>
                        <a:rPr sz="1200" b="1">
                          <a:solidFill>
                            <a:srgbClr val="222222"/>
                          </a:solidFill>
                        </a:rPr>
                        <a:t>Operators</a:t>
                      </a:r>
                    </a:p>
                  </a:txBody>
                  <a:tcPr marL="109728" marR="109728" anchor="ctr">
                    <a:solidFill>
                      <a:srgbClr val="F4F4F4"/>
                    </a:solidFill>
                  </a:tcPr>
                </a:tc>
                <a:tc>
                  <a:txBody>
                    <a:bodyPr wrap="square"/>
                    <a:lstStyle/>
                    <a:p>
                      <a:r>
                        <a:rPr sz="1200" b="0">
                          <a:solidFill>
                            <a:srgbClr val="222222"/>
                          </a:solidFill>
                        </a:rPr>
                        <a:t>Arithmetic (+, /), relational (&gt;), assignment (=, +=), string concatenation (+)</a:t>
                      </a:r>
                    </a:p>
                  </a:txBody>
                  <a:tcPr marL="109728" marR="109728" anchor="ctr">
                    <a:solidFill>
                      <a:srgbClr val="F4F4F4"/>
                    </a:solidFill>
                  </a:tcPr>
                </a:tc>
              </a:tr>
              <a:tr h="548640">
                <a:tc>
                  <a:txBody>
                    <a:bodyPr wrap="square"/>
                    <a:lstStyle/>
                    <a:p>
                      <a:r>
                        <a:rPr sz="1200" b="1">
                          <a:solidFill>
                            <a:srgbClr val="222222"/>
                          </a:solidFill>
                        </a:rPr>
                        <a:t>Typecasting / expressions</a:t>
                      </a:r>
                    </a:p>
                  </a:txBody>
                  <a:tcPr marL="109728" marR="109728" anchor="ctr">
                    <a:solidFill>
                      <a:srgbClr val="FFFFFF"/>
                    </a:solidFill>
                  </a:tcPr>
                </a:tc>
                <a:tc>
                  <a:txBody>
                    <a:bodyPr wrap="square"/>
                    <a:lstStyle/>
                    <a:p>
                      <a:r>
                        <a:rPr sz="1200" b="0">
                          <a:solidFill>
                            <a:srgbClr val="222222"/>
                          </a:solidFill>
                        </a:rPr>
                        <a:t>total / 5.0 promotes int to double, so the average keeps decimals</a:t>
                      </a:r>
                    </a:p>
                  </a:txBody>
                  <a:tcPr marL="109728" marR="109728" anchor="ctr">
                    <a:solidFill>
                      <a:srgbClr val="FFFFFF"/>
                    </a:solidFill>
                  </a:tcPr>
                </a:tc>
              </a:tr>
              <a:tr h="548640">
                <a:tc>
                  <a:txBody>
                    <a:bodyPr wrap="square"/>
                    <a:lstStyle/>
                    <a:p>
                      <a:r>
                        <a:rPr sz="1200" b="1">
                          <a:solidFill>
                            <a:srgbClr val="222222"/>
                          </a:solidFill>
                        </a:rPr>
                        <a:t>Console I/O with Scanner</a:t>
                      </a:r>
                    </a:p>
                  </a:txBody>
                  <a:tcPr marL="109728" marR="109728" anchor="ctr">
                    <a:solidFill>
                      <a:srgbClr val="F4F4F4"/>
                    </a:solidFill>
                  </a:tcPr>
                </a:tc>
                <a:tc>
                  <a:txBody>
                    <a:bodyPr wrap="square"/>
                    <a:lstStyle/>
                    <a:p>
                      <a:r>
                        <a:rPr sz="1200" b="0">
                          <a:solidFill>
                            <a:srgbClr val="222222"/>
                          </a:solidFill>
                        </a:rPr>
                        <a:t>nextLine() for song names, nextInt() for plays, println() for output</a:t>
                      </a:r>
                    </a:p>
                  </a:txBody>
                  <a:tcPr marL="109728" marR="109728" anchor="ctr">
                    <a:solidFill>
                      <a:srgbClr val="F4F4F4"/>
                    </a:solidFill>
                  </a:tcPr>
                </a:tc>
              </a:tr>
            </a:tbl>
          </a:graphicData>
        </a:graphic>
      </p:graphicFrame>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t>CO 2 Topics</a:t>
            </a:r>
          </a:p>
        </p:txBody>
      </p:sp>
      <p:sp>
        <p:nvSpPr>
          <p:cNvPr id="6" name="TextBox 5"/>
          <p:cNvSpPr txBox="1"/>
          <p:nvPr/>
        </p:nvSpPr>
        <p:spPr>
          <a:xfrm>
            <a:off x="838200" y="1371600"/>
            <a:ext cx="10515600" cy="365760"/>
          </a:xfrm>
          <a:prstGeom prst="rect">
            <a:avLst/>
          </a:prstGeom>
          <a:noFill/>
        </p:spPr>
        <p:txBody>
          <a:bodyPr wrap="square" anchor="t">
            <a:spAutoFit/>
          </a:bodyPr>
          <a:lstStyle/>
          <a:p>
            <a:pPr>
              <a:spcAft>
                <a:spcPts val="400"/>
              </a:spcAft>
            </a:pPr>
            <a:r>
              <a:rPr sz="1400" b="1">
                <a:solidFill>
                  <a:srgbClr val="A31F24"/>
                </a:solidFill>
              </a:rPr>
              <a:t>Module 2 – Control Flow: Selection &amp; Iteration</a:t>
            </a:r>
          </a:p>
        </p:txBody>
      </p:sp>
      <p:sp>
        <p:nvSpPr>
          <p:cNvPr id="7" name="TextBox 6"/>
          <p:cNvSpPr txBox="1"/>
          <p:nvPr/>
        </p:nvSpPr>
        <p:spPr>
          <a:xfrm>
            <a:off x="838200" y="1920240"/>
            <a:ext cx="5120640" cy="3657600"/>
          </a:xfrm>
          <a:prstGeom prst="rect">
            <a:avLst/>
          </a:prstGeom>
          <a:noFill/>
        </p:spPr>
        <p:txBody>
          <a:bodyPr wrap="square" anchor="t">
            <a:spAutoFit/>
          </a:bodyPr>
          <a:lstStyle/>
          <a:p>
            <a:pPr>
              <a:spcAft>
                <a:spcPts val="1200"/>
              </a:spcAft>
            </a:pPr>
            <a:r>
              <a:rPr sz="1400" b="1">
                <a:solidFill>
                  <a:srgbClr val="A31F24"/>
                </a:solidFill>
              </a:rPr>
              <a:t>for loop:  </a:t>
            </a:r>
            <a:r>
              <a:rPr sz="1400" b="0">
                <a:solidFill>
                  <a:srgbClr val="222222"/>
                </a:solidFill>
              </a:rPr>
              <a:t>Used 4 times: reading input, displaying the playlist, finding the max, and adding the total.</a:t>
            </a:r>
          </a:p>
          <a:p>
            <a:pPr>
              <a:spcAft>
                <a:spcPts val="1200"/>
              </a:spcAft>
            </a:pPr>
            <a:r>
              <a:rPr sz="1400" b="1">
                <a:solidFill>
                  <a:srgbClr val="A31F24"/>
                </a:solidFill>
              </a:rPr>
              <a:t>if statement:  </a:t>
            </a:r>
            <a:r>
              <a:rPr sz="1400" b="0">
                <a:solidFill>
                  <a:srgbClr val="222222"/>
                </a:solidFill>
              </a:rPr>
              <a:t>Compares plays[i] &gt; max to update the most played song.</a:t>
            </a:r>
          </a:p>
          <a:p>
            <a:pPr>
              <a:spcAft>
                <a:spcPts val="1200"/>
              </a:spcAft>
            </a:pPr>
            <a:r>
              <a:rPr sz="1400" b="1">
                <a:solidFill>
                  <a:srgbClr val="A31F24"/>
                </a:solidFill>
              </a:rPr>
              <a:t>Nested control flow:  </a:t>
            </a:r>
            <a:r>
              <a:rPr sz="1400" b="0">
                <a:solidFill>
                  <a:srgbClr val="222222"/>
                </a:solidFill>
              </a:rPr>
              <a:t>An if statement placed inside a for loop to search the array.</a:t>
            </a:r>
          </a:p>
          <a:p>
            <a:pPr>
              <a:spcAft>
                <a:spcPts val="1200"/>
              </a:spcAft>
            </a:pPr>
            <a:r>
              <a:rPr sz="1400" b="1">
                <a:solidFill>
                  <a:srgbClr val="A31F24"/>
                </a:solidFill>
              </a:rPr>
              <a:t>Compound statements:  </a:t>
            </a:r>
            <a:r>
              <a:rPr sz="1400" b="0">
                <a:solidFill>
                  <a:srgbClr val="222222"/>
                </a:solidFill>
              </a:rPr>
              <a:t>Blocks { } group several statements inside loops and conditions.</a:t>
            </a:r>
          </a:p>
          <a:p>
            <a:pPr>
              <a:spcAft>
                <a:spcPts val="1200"/>
              </a:spcAft>
            </a:pPr>
            <a:r>
              <a:rPr sz="1400" b="1">
                <a:solidFill>
                  <a:srgbClr val="A31F24"/>
                </a:solidFill>
              </a:rPr>
              <a:t>Extension idea:  </a:t>
            </a:r>
            <a:r>
              <a:rPr sz="1400" b="0">
                <a:solidFill>
                  <a:srgbClr val="222222"/>
                </a:solidFill>
              </a:rPr>
              <a:t>A menu using switch with a do-while loop (Add / Show / Stats / Exit).</a:t>
            </a:r>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t>CO 3 Topics</a:t>
            </a:r>
          </a:p>
        </p:txBody>
      </p:sp>
      <p:sp>
        <p:nvSpPr>
          <p:cNvPr id="6" name="TextBox 5"/>
          <p:cNvSpPr txBox="1"/>
          <p:nvPr/>
        </p:nvSpPr>
        <p:spPr>
          <a:xfrm>
            <a:off x="838200" y="1371600"/>
            <a:ext cx="10515600" cy="365760"/>
          </a:xfrm>
          <a:prstGeom prst="rect">
            <a:avLst/>
          </a:prstGeom>
          <a:noFill/>
        </p:spPr>
        <p:txBody>
          <a:bodyPr wrap="square" anchor="t">
            <a:spAutoFit/>
          </a:bodyPr>
          <a:lstStyle/>
          <a:p>
            <a:pPr>
              <a:spcAft>
                <a:spcPts val="400"/>
              </a:spcAft>
            </a:pPr>
            <a:r>
              <a:rPr sz="1400" b="1">
                <a:solidFill>
                  <a:srgbClr val="A31F24"/>
                </a:solidFill>
              </a:rPr>
              <a:t>Module 3 – Decomposition with Methods, Recursion &amp; Arrays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gridCol w="3931920"/>
              </a:tblGrid>
              <a:tr h="548640">
                <a:tc>
                  <a:txBody>
                    <a:bodyPr wrap="square"/>
                    <a:lstStyle/>
                    <a:p>
                      <a:r>
                        <a:rPr sz="1200" b="1">
                          <a:solidFill>
                            <a:srgbClr val="FFFFFF"/>
                          </a:solidFill>
                        </a:rPr>
                        <a:t>Array concept</a:t>
                      </a:r>
                    </a:p>
                  </a:txBody>
                  <a:tcPr marL="109728" marR="109728" anchor="ctr">
                    <a:solidFill>
                      <a:srgbClr val="A31F24"/>
                    </a:solidFill>
                  </a:tcPr>
                </a:tc>
                <a:tc>
                  <a:txBody>
                    <a:bodyPr wrap="square"/>
                    <a:lstStyle/>
                    <a:p>
                      <a:r>
                        <a:rPr sz="1200" b="1">
                          <a:solidFill>
                            <a:srgbClr val="FFFFFF"/>
                          </a:solidFill>
                        </a:rPr>
                        <a:t>In our project</a:t>
                      </a:r>
                    </a:p>
                  </a:txBody>
                  <a:tcPr marL="109728" marR="109728" anchor="ctr">
                    <a:solidFill>
                      <a:srgbClr val="A31F24"/>
                    </a:solidFill>
                  </a:tcPr>
                </a:tc>
              </a:tr>
              <a:tr h="548640">
                <a:tc>
                  <a:txBody>
                    <a:bodyPr wrap="square"/>
                    <a:lstStyle/>
                    <a:p>
                      <a:r>
                        <a:rPr sz="1200" b="1">
                          <a:solidFill>
                            <a:srgbClr val="222222"/>
                          </a:solidFill>
                        </a:rPr>
                        <a:t>1D array declaration</a:t>
                      </a:r>
                    </a:p>
                  </a:txBody>
                  <a:tcPr marL="109728" marR="109728" anchor="ctr">
                    <a:solidFill>
                      <a:srgbClr val="FFFFFF"/>
                    </a:solidFill>
                  </a:tcPr>
                </a:tc>
                <a:tc>
                  <a:txBody>
                    <a:bodyPr wrap="square"/>
                    <a:lstStyle/>
                    <a:p>
                      <a:r>
                        <a:rPr sz="1200" b="0">
                          <a:solidFill>
                            <a:srgbClr val="222222"/>
                          </a:solidFill>
                        </a:rPr>
                        <a:t>String[] songs = new String[5];  int[] plays = new int[5];</a:t>
                      </a:r>
                    </a:p>
                  </a:txBody>
                  <a:tcPr marL="109728" marR="109728" anchor="ctr">
                    <a:solidFill>
                      <a:srgbClr val="FFFFFF"/>
                    </a:solidFill>
                  </a:tcPr>
                </a:tc>
              </a:tr>
              <a:tr h="548640">
                <a:tc>
                  <a:txBody>
                    <a:bodyPr wrap="square"/>
                    <a:lstStyle/>
                    <a:p>
                      <a:r>
                        <a:rPr sz="1200" b="1">
                          <a:solidFill>
                            <a:srgbClr val="222222"/>
                          </a:solidFill>
                        </a:rPr>
                        <a:t>Traversal</a:t>
                      </a:r>
                    </a:p>
                  </a:txBody>
                  <a:tcPr marL="109728" marR="109728" anchor="ctr">
                    <a:solidFill>
                      <a:srgbClr val="F4F4F4"/>
                    </a:solidFill>
                  </a:tcPr>
                </a:tc>
                <a:tc>
                  <a:txBody>
                    <a:bodyPr wrap="square"/>
                    <a:lstStyle/>
                    <a:p>
                      <a:r>
                        <a:rPr sz="1200" b="0">
                          <a:solidFill>
                            <a:srgbClr val="222222"/>
                          </a:solidFill>
                        </a:rPr>
                        <a:t>Loop through every index to read and print songs</a:t>
                      </a:r>
                    </a:p>
                  </a:txBody>
                  <a:tcPr marL="109728" marR="109728" anchor="ctr">
                    <a:solidFill>
                      <a:srgbClr val="F4F4F4"/>
                    </a:solidFill>
                  </a:tcPr>
                </a:tc>
              </a:tr>
              <a:tr h="548640">
                <a:tc>
                  <a:txBody>
                    <a:bodyPr wrap="square"/>
                    <a:lstStyle/>
                    <a:p>
                      <a:r>
                        <a:rPr sz="1200" b="1">
                          <a:solidFill>
                            <a:srgbClr val="222222"/>
                          </a:solidFill>
                        </a:rPr>
                        <a:t>Searching</a:t>
                      </a:r>
                    </a:p>
                  </a:txBody>
                  <a:tcPr marL="109728" marR="109728" anchor="ctr">
                    <a:solidFill>
                      <a:srgbClr val="FFFFFF"/>
                    </a:solidFill>
                  </a:tcPr>
                </a:tc>
                <a:tc>
                  <a:txBody>
                    <a:bodyPr wrap="square"/>
                    <a:lstStyle/>
                    <a:p>
                      <a:r>
                        <a:rPr sz="1200" b="0">
                          <a:solidFill>
                            <a:srgbClr val="222222"/>
                          </a:solidFill>
                        </a:rPr>
                        <a:t>Linear search for the highest play count</a:t>
                      </a:r>
                    </a:p>
                  </a:txBody>
                  <a:tcPr marL="109728" marR="109728" anchor="ctr">
                    <a:solidFill>
                      <a:srgbClr val="FFFFFF"/>
                    </a:solidFill>
                  </a:tcPr>
                </a:tc>
              </a:tr>
              <a:tr h="548640">
                <a:tc>
                  <a:txBody>
                    <a:bodyPr wrap="square"/>
                    <a:lstStyle/>
                    <a:p>
                      <a:r>
                        <a:rPr sz="1200" b="1">
                          <a:solidFill>
                            <a:srgbClr val="222222"/>
                          </a:solidFill>
                        </a:rPr>
                        <a:t>Summation</a:t>
                      </a:r>
                    </a:p>
                  </a:txBody>
                  <a:tcPr marL="109728" marR="109728" anchor="ctr">
                    <a:solidFill>
                      <a:srgbClr val="F4F4F4"/>
                    </a:solidFill>
                  </a:tcPr>
                </a:tc>
                <a:tc>
                  <a:txBody>
                    <a:bodyPr wrap="square"/>
                    <a:lstStyle/>
                    <a:p>
                      <a:r>
                        <a:rPr sz="1200" b="0">
                          <a:solidFill>
                            <a:srgbClr val="222222"/>
                          </a:solidFill>
                        </a:rPr>
                        <a:t>total += plays[i] adds all play counts</a:t>
                      </a:r>
                    </a:p>
                  </a:txBody>
                  <a:tcPr marL="109728" marR="109728" anchor="ctr">
                    <a:solidFill>
                      <a:srgbClr val="F4F4F4"/>
                    </a:solidFill>
                  </a:tcPr>
                </a:tc>
              </a:tr>
              <a:tr h="548640">
                <a:tc>
                  <a:txBody>
                    <a:bodyPr wrap="square"/>
                    <a:lstStyle/>
                    <a:p>
                      <a:r>
                        <a:rPr sz="1200" b="1">
                          <a:solidFill>
                            <a:srgbClr val="222222"/>
                          </a:solidFill>
                        </a:rPr>
                        <a:t>Average</a:t>
                      </a:r>
                    </a:p>
                  </a:txBody>
                  <a:tcPr marL="109728" marR="109728" anchor="ctr">
                    <a:solidFill>
                      <a:srgbClr val="FFFFFF"/>
                    </a:solidFill>
                  </a:tcPr>
                </a:tc>
                <a:tc>
                  <a:txBody>
                    <a:bodyPr wrap="square"/>
                    <a:lstStyle/>
                    <a:p>
                      <a:r>
                        <a:rPr sz="1200" b="0">
                          <a:solidFill>
                            <a:srgbClr val="222222"/>
                          </a:solidFill>
                        </a:rPr>
                        <a:t>total / 5.0 gives average plays per song</a:t>
                      </a:r>
                    </a:p>
                  </a:txBody>
                  <a:tcPr marL="109728" marR="109728" anchor="ctr">
                    <a:solidFill>
                      <a:srgbClr val="FFFFFF"/>
                    </a:solidFill>
                  </a:tcPr>
                </a:tc>
              </a:tr>
              <a:tr h="548640">
                <a:tc>
                  <a:txBody>
                    <a:bodyPr wrap="square"/>
                    <a:lstStyle/>
                    <a:p>
                      <a:r>
                        <a:rPr sz="1200" b="1">
                          <a:solidFill>
                            <a:srgbClr val="222222"/>
                          </a:solidFill>
                        </a:rPr>
                        <a:t>Counting</a:t>
                      </a:r>
                    </a:p>
                  </a:txBody>
                  <a:tcPr marL="109728" marR="109728" anchor="ctr">
                    <a:solidFill>
                      <a:srgbClr val="F4F4F4"/>
                    </a:solidFill>
                  </a:tcPr>
                </a:tc>
                <a:tc>
                  <a:txBody>
                    <a:bodyPr wrap="square"/>
                    <a:lstStyle/>
                    <a:p>
                      <a:r>
                        <a:rPr sz="1200" b="0">
                          <a:solidFill>
                            <a:srgbClr val="222222"/>
                          </a:solidFill>
                        </a:rPr>
                        <a:t>Loop counter numbers the songs: "Enter song " + (i + 1)</a:t>
                      </a:r>
                    </a:p>
                  </a:txBody>
                  <a:tcPr marL="109728" marR="109728" anchor="ctr">
                    <a:solidFill>
                      <a:srgbClr val="F4F4F4"/>
                    </a:solidFill>
                  </a:tcPr>
                </a:tc>
              </a:tr>
            </a:tbl>
          </a:graphicData>
        </a:graphic>
      </p:graphicFrame>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t>Geo Tag Photo and GitHub Link</a:t>
            </a:r>
          </a:p>
        </p:txBody>
      </p:sp>
      <p:sp>
        <p:nvSpPr>
          <p:cNvPr id="6" name="TextBox 5"/>
          <p:cNvSpPr txBox="1"/>
          <p:nvPr/>
        </p:nvSpPr>
        <p:spPr>
          <a:xfrm>
            <a:off x="838200" y="1691640"/>
            <a:ext cx="10515600" cy="365760"/>
          </a:xfrm>
          <a:prstGeom prst="rect">
            <a:avLst/>
          </a:prstGeom>
          <a:noFill/>
        </p:spPr>
        <p:txBody>
          <a:bodyPr wrap="square" anchor="t">
            <a:spAutoFit/>
          </a:bodyPr>
          <a:lstStyle/>
          <a:p>
            <a:pPr>
              <a:spcAft>
                <a:spcPts val="400"/>
              </a:spcAft>
            </a:pPr>
            <a:r>
              <a:rPr sz="1300" b="1">
                <a:solidFill>
                  <a:srgbClr val="A31F24"/>
                </a:solidFill>
              </a:rPr>
              <a:t>GITHUB REPOSITORY</a:t>
            </a:r>
          </a:p>
        </p:txBody>
      </p:sp>
      <p:sp>
        <p:nvSpPr>
          <p:cNvPr id="7" name="TextBox 6"/>
          <p:cNvSpPr txBox="1"/>
          <p:nvPr/>
        </p:nvSpPr>
        <p:spPr>
          <a:xfrm>
            <a:off x="838200" y="2103120"/>
            <a:ext cx="10515600" cy="457200"/>
          </a:xfrm>
          <a:prstGeom prst="rect">
            <a:avLst/>
          </a:prstGeom>
          <a:noFill/>
        </p:spPr>
        <p:txBody>
          <a:bodyPr wrap="square" anchor="t">
            <a:spAutoFit/>
          </a:bodyPr>
          <a:lstStyle/>
          <a:p>
            <a:pPr>
              <a:spcAft>
                <a:spcPts val="400"/>
              </a:spcAft>
            </a:pPr>
            <a:r>
              <a:rPr sz="1500" b="0" u="sng">
                <a:solidFill>
                  <a:srgbClr val="0563C1"/>
                </a:solidFill>
                <a:hlinkClick r:id="rId2"/>
              </a:rPr>
              <a:t>https://github.com/harshinipemmaraju/KLH-2026-Section-3-Batch-no-28</a:t>
            </a:r>
          </a:p>
        </p:txBody>
      </p:sp>
      <p:sp>
        <p:nvSpPr>
          <p:cNvPr id="8" name="TextBox 7"/>
          <p:cNvSpPr txBox="1"/>
          <p:nvPr/>
        </p:nvSpPr>
        <p:spPr>
          <a:xfrm>
            <a:off x="838200" y="2606040"/>
            <a:ext cx="10515600" cy="457200"/>
          </a:xfrm>
          <a:prstGeom prst="rect">
            <a:avLst/>
          </a:prstGeom>
          <a:noFill/>
        </p:spPr>
        <p:txBody>
          <a:bodyPr wrap="square" anchor="t">
            <a:spAutoFit/>
          </a:bodyPr>
          <a:lstStyle/>
          <a:p>
            <a:pPr>
              <a:spcAft>
                <a:spcPts val="400"/>
              </a:spcAft>
            </a:pPr>
            <a:r>
              <a:rPr sz="1500" b="0" u="sng">
                <a:solidFill>
                  <a:srgbClr val="0563C1"/>
                </a:solidFill>
                <a:hlinkClick r:id="rId3"/>
              </a:rPr>
              <a:t>https://github.com/Vidhijna2009/KLH-2026-Section-3-Batch-no-28</a:t>
            </a:r>
          </a:p>
        </p:txBody>
      </p:sp>
    </p:spTree>
    <p:extLst>
      <p:ext uri="{BB962C8B-B14F-4D97-AF65-F5344CB8AC3E}">
        <p14:creationId xmlns:p14="http://schemas.microsoft.com/office/powerpoint/2010/main" val="139677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t>Full Program – MusicPlaylist.java</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lIns="91440" rIns="91440" tIns="91440" bIns="91440" wrap="square">
            <a:normAutofit/>
          </a:bodyPr>
          <a:lstStyle/>
          <a:p>
            <a:pPr algn="l"/>
            <a:r>
              <a:rPr sz="900">
                <a:solidFill>
                  <a:srgbClr val="222222"/>
                </a:solidFill>
                <a:latin typeface="Consolas"/>
              </a:rPr>
              <a:t>import java.util.Scanner;</a:t>
            </a:r>
          </a:p>
          <a:p>
            <a:pPr algn="l"/>
            <a:r>
              <a:rPr sz="900">
                <a:solidFill>
                  <a:srgbClr val="222222"/>
                </a:solidFill>
                <a:latin typeface="Consolas"/>
              </a:rPr>
              <a:t/>
            </a:r>
          </a:p>
          <a:p>
            <a:pPr algn="l"/>
            <a:r>
              <a:rPr sz="900">
                <a:solidFill>
                  <a:srgbClr val="222222"/>
                </a:solidFill>
                <a:latin typeface="Consolas"/>
              </a:rPr>
              <a:t>public class MusicPlaylist {</a:t>
            </a:r>
          </a:p>
          <a:p>
            <a:pPr algn="l"/>
            <a:r>
              <a:rPr sz="900">
                <a:solidFill>
                  <a:srgbClr val="222222"/>
                </a:solidFill>
                <a:latin typeface="Consolas"/>
              </a:rPr>
              <a:t>    public static void main(String[] args) {</a:t>
            </a:r>
          </a:p>
          <a:p>
            <a:pPr algn="l"/>
            <a:r>
              <a:rPr sz="900">
                <a:solidFill>
                  <a:srgbClr val="222222"/>
                </a:solidFill>
                <a:latin typeface="Consolas"/>
              </a:rPr>
              <a:t/>
            </a:r>
          </a:p>
          <a:p>
            <a:pPr algn="l"/>
            <a:r>
              <a:rPr sz="900">
                <a:solidFill>
                  <a:srgbClr val="222222"/>
                </a:solidFill>
                <a:latin typeface="Consolas"/>
              </a:rPr>
              <a:t>        Scanner sc = new Scanner(System.in);</a:t>
            </a:r>
          </a:p>
          <a:p>
            <a:pPr algn="l"/>
            <a:r>
              <a:rPr sz="900">
                <a:solidFill>
                  <a:srgbClr val="222222"/>
                </a:solidFill>
                <a:latin typeface="Consolas"/>
              </a:rPr>
              <a:t/>
            </a:r>
          </a:p>
          <a:p>
            <a:pPr algn="l"/>
            <a:r>
              <a:rPr sz="900">
                <a:solidFill>
                  <a:srgbClr val="222222"/>
                </a:solidFill>
                <a:latin typeface="Consolas"/>
              </a:rPr>
              <a:t>        String[] songs = new String[5];</a:t>
            </a:r>
          </a:p>
          <a:p>
            <a:pPr algn="l"/>
            <a:r>
              <a:rPr sz="900">
                <a:solidFill>
                  <a:srgbClr val="222222"/>
                </a:solidFill>
                <a:latin typeface="Consolas"/>
              </a:rPr>
              <a:t>        int[] plays = new int[5];</a:t>
            </a:r>
          </a:p>
          <a:p>
            <a:pPr algn="l"/>
            <a:r>
              <a:rPr sz="900">
                <a:solidFill>
                  <a:srgbClr val="222222"/>
                </a:solidFill>
                <a:latin typeface="Consolas"/>
              </a:rPr>
              <a:t/>
            </a:r>
          </a:p>
          <a:p>
            <a:pPr algn="l"/>
            <a:r>
              <a:rPr sz="900">
                <a:solidFill>
                  <a:srgbClr val="222222"/>
                </a:solidFill>
                <a:latin typeface="Consolas"/>
              </a:rPr>
              <a:t>        System.out.println("Enter 5 songs:");</a:t>
            </a:r>
          </a:p>
          <a:p>
            <a:pPr algn="l"/>
            <a:r>
              <a:rPr sz="900">
                <a:solidFill>
                  <a:srgbClr val="222222"/>
                </a:solidFill>
                <a:latin typeface="Consolas"/>
              </a:rPr>
              <a:t/>
            </a:r>
          </a:p>
          <a:p>
            <a:pPr algn="l"/>
            <a:r>
              <a:rPr sz="900">
                <a:solidFill>
                  <a:srgbClr val="222222"/>
                </a:solidFill>
                <a:latin typeface="Consolas"/>
              </a:rPr>
              <a:t>        for (int i = 0; i &lt; 5; i++) {</a:t>
            </a:r>
          </a:p>
          <a:p>
            <a:pPr algn="l"/>
            <a:r>
              <a:rPr sz="900">
                <a:solidFill>
                  <a:srgbClr val="222222"/>
                </a:solidFill>
                <a:latin typeface="Consolas"/>
              </a:rPr>
              <a:t>            System.out.print("Enter song " + (i + 1) + ": ");</a:t>
            </a:r>
          </a:p>
          <a:p>
            <a:pPr algn="l"/>
            <a:r>
              <a:rPr sz="900">
                <a:solidFill>
                  <a:srgbClr val="222222"/>
                </a:solidFill>
                <a:latin typeface="Consolas"/>
              </a:rPr>
              <a:t>            songs[i] = sc.nextLine();</a:t>
            </a:r>
          </a:p>
          <a:p>
            <a:pPr algn="l"/>
            <a:r>
              <a:rPr sz="900">
                <a:solidFill>
                  <a:srgbClr val="222222"/>
                </a:solidFill>
                <a:latin typeface="Consolas"/>
              </a:rPr>
              <a:t/>
            </a:r>
          </a:p>
          <a:p>
            <a:pPr algn="l"/>
            <a:r>
              <a:rPr sz="900">
                <a:solidFill>
                  <a:srgbClr val="222222"/>
                </a:solidFill>
                <a:latin typeface="Consolas"/>
              </a:rPr>
              <a:t>            System.out.print("Enter number of plays: ");</a:t>
            </a:r>
          </a:p>
          <a:p>
            <a:pPr algn="l"/>
            <a:r>
              <a:rPr sz="900">
                <a:solidFill>
                  <a:srgbClr val="222222"/>
                </a:solidFill>
                <a:latin typeface="Consolas"/>
              </a:rPr>
              <a:t>            plays[i] = sc.nextInt();</a:t>
            </a:r>
          </a:p>
          <a:p>
            <a:pPr algn="l"/>
            <a:r>
              <a:rPr sz="900">
                <a:solidFill>
                  <a:srgbClr val="222222"/>
                </a:solidFill>
                <a:latin typeface="Consolas"/>
              </a:rPr>
              <a:t>            sc.nextLine();</a:t>
            </a:r>
          </a:p>
          <a:p>
            <a:pPr algn="l"/>
            <a:r>
              <a:rPr sz="900">
                <a:solidFill>
                  <a:srgbClr val="222222"/>
                </a:solidFill>
                <a:latin typeface="Consolas"/>
              </a:rPr>
              <a:t>        }</a:t>
            </a:r>
          </a:p>
          <a:p>
            <a:pPr algn="l"/>
            <a:r>
              <a:rPr sz="900">
                <a:solidFill>
                  <a:srgbClr val="222222"/>
                </a:solidFill>
                <a:latin typeface="Consolas"/>
              </a:rPr>
              <a:t/>
            </a:r>
          </a:p>
          <a:p>
            <a:pPr algn="l"/>
            <a:r>
              <a:rPr sz="900">
                <a:solidFill>
                  <a:srgbClr val="222222"/>
                </a:solidFill>
                <a:latin typeface="Consolas"/>
              </a:rPr>
              <a:t>        System.out.println("\n--- Music Playlist ---");</a:t>
            </a:r>
          </a:p>
          <a:p>
            <a:pPr algn="l"/>
            <a:r>
              <a:rPr sz="900">
                <a:solidFill>
                  <a:srgbClr val="222222"/>
                </a:solidFill>
                <a:latin typeface="Consolas"/>
              </a:rPr>
              <a:t/>
            </a:r>
          </a:p>
          <a:p>
            <a:pPr algn="l"/>
            <a:r>
              <a:rPr sz="900">
                <a:solidFill>
                  <a:srgbClr val="222222"/>
                </a:solidFill>
                <a:latin typeface="Consolas"/>
              </a:rPr>
              <a:t>        for (int i = 0; i &lt; 5; i++) {</a:t>
            </a:r>
          </a:p>
          <a:p>
            <a:pPr algn="l"/>
            <a:r>
              <a:rPr sz="900">
                <a:solidFill>
                  <a:srgbClr val="222222"/>
                </a:solidFill>
                <a:latin typeface="Consolas"/>
              </a:rPr>
              <a:t>            System.out.println(songs[i] + " - " + plays[i] + " plays");</a:t>
            </a:r>
          </a:p>
          <a:p>
            <a:pPr algn="l"/>
            <a:r>
              <a:rPr sz="900">
                <a:solidFill>
                  <a:srgbClr val="222222"/>
                </a:solidFill>
                <a:latin typeface="Consolas"/>
              </a:rPr>
              <a:t>        }</a:t>
            </a:r>
          </a:p>
          <a:p>
            <a:pPr algn="l"/>
            <a:r>
              <a:rPr sz="900">
                <a:solidFill>
                  <a:srgbClr val="222222"/>
                </a:solidFill>
                <a:latin typeface="Consolas"/>
              </a:rPr>
              <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lIns="91440" rIns="91440" tIns="91440" bIns="91440" wrap="square">
            <a:normAutofit/>
          </a:bodyPr>
          <a:lstStyle/>
          <a:p>
            <a:pPr algn="l"/>
            <a:r>
              <a:rPr sz="900">
                <a:solidFill>
                  <a:srgbClr val="222222"/>
                </a:solidFill>
                <a:latin typeface="Consolas"/>
              </a:rPr>
              <a:t>        // Find the most played song</a:t>
            </a:r>
          </a:p>
          <a:p>
            <a:pPr algn="l"/>
            <a:r>
              <a:rPr sz="900">
                <a:solidFill>
                  <a:srgbClr val="222222"/>
                </a:solidFill>
                <a:latin typeface="Consolas"/>
              </a:rPr>
              <a:t>        int max = plays[0];</a:t>
            </a:r>
          </a:p>
          <a:p>
            <a:pPr algn="l"/>
            <a:r>
              <a:rPr sz="900">
                <a:solidFill>
                  <a:srgbClr val="222222"/>
                </a:solidFill>
                <a:latin typeface="Consolas"/>
              </a:rPr>
              <a:t>        int position = 0;</a:t>
            </a:r>
          </a:p>
          <a:p>
            <a:pPr algn="l"/>
            <a:r>
              <a:rPr sz="900">
                <a:solidFill>
                  <a:srgbClr val="222222"/>
                </a:solidFill>
                <a:latin typeface="Consolas"/>
              </a:rPr>
              <a:t/>
            </a:r>
          </a:p>
          <a:p>
            <a:pPr algn="l"/>
            <a:r>
              <a:rPr sz="900">
                <a:solidFill>
                  <a:srgbClr val="222222"/>
                </a:solidFill>
                <a:latin typeface="Consolas"/>
              </a:rPr>
              <a:t>        for (int i = 1; i &lt; 5; i++) {</a:t>
            </a:r>
          </a:p>
          <a:p>
            <a:pPr algn="l"/>
            <a:r>
              <a:rPr sz="900">
                <a:solidFill>
                  <a:srgbClr val="222222"/>
                </a:solidFill>
                <a:latin typeface="Consolas"/>
              </a:rPr>
              <a:t>            if (plays[i] &gt; max) {</a:t>
            </a:r>
          </a:p>
          <a:p>
            <a:pPr algn="l"/>
            <a:r>
              <a:rPr sz="900">
                <a:solidFill>
                  <a:srgbClr val="222222"/>
                </a:solidFill>
                <a:latin typeface="Consolas"/>
              </a:rPr>
              <a:t>                max = plays[i];</a:t>
            </a:r>
          </a:p>
          <a:p>
            <a:pPr algn="l"/>
            <a:r>
              <a:rPr sz="900">
                <a:solidFill>
                  <a:srgbClr val="222222"/>
                </a:solidFill>
                <a:latin typeface="Consolas"/>
              </a:rPr>
              <a:t>                position = i;</a:t>
            </a:r>
          </a:p>
          <a:p>
            <a:pPr algn="l"/>
            <a:r>
              <a:rPr sz="900">
                <a:solidFill>
                  <a:srgbClr val="222222"/>
                </a:solidFill>
                <a:latin typeface="Consolas"/>
              </a:rPr>
              <a:t>            }</a:t>
            </a:r>
          </a:p>
          <a:p>
            <a:pPr algn="l"/>
            <a:r>
              <a:rPr sz="900">
                <a:solidFill>
                  <a:srgbClr val="222222"/>
                </a:solidFill>
                <a:latin typeface="Consolas"/>
              </a:rPr>
              <a:t>        }</a:t>
            </a:r>
          </a:p>
          <a:p>
            <a:pPr algn="l"/>
            <a:r>
              <a:rPr sz="900">
                <a:solidFill>
                  <a:srgbClr val="222222"/>
                </a:solidFill>
                <a:latin typeface="Consolas"/>
              </a:rPr>
              <a:t/>
            </a:r>
          </a:p>
          <a:p>
            <a:pPr algn="l"/>
            <a:r>
              <a:rPr sz="900">
                <a:solidFill>
                  <a:srgbClr val="222222"/>
                </a:solidFill>
                <a:latin typeface="Consolas"/>
              </a:rPr>
              <a:t>        System.out.println("\nMost Played Song: " + songs[position]);</a:t>
            </a:r>
          </a:p>
          <a:p>
            <a:pPr algn="l"/>
            <a:r>
              <a:rPr sz="900">
                <a:solidFill>
                  <a:srgbClr val="222222"/>
                </a:solidFill>
                <a:latin typeface="Consolas"/>
              </a:rPr>
              <a:t>        System.out.println("Number of Plays: " + max);</a:t>
            </a:r>
          </a:p>
          <a:p>
            <a:pPr algn="l"/>
            <a:r>
              <a:rPr sz="900">
                <a:solidFill>
                  <a:srgbClr val="222222"/>
                </a:solidFill>
                <a:latin typeface="Consolas"/>
              </a:rPr>
              <a:t/>
            </a:r>
          </a:p>
          <a:p>
            <a:pPr algn="l"/>
            <a:r>
              <a:rPr sz="900">
                <a:solidFill>
                  <a:srgbClr val="222222"/>
                </a:solidFill>
                <a:latin typeface="Consolas"/>
              </a:rPr>
              <a:t>        // Calculate total plays</a:t>
            </a:r>
          </a:p>
          <a:p>
            <a:pPr algn="l"/>
            <a:r>
              <a:rPr sz="900">
                <a:solidFill>
                  <a:srgbClr val="222222"/>
                </a:solidFill>
                <a:latin typeface="Consolas"/>
              </a:rPr>
              <a:t>        int total = 0;</a:t>
            </a:r>
          </a:p>
          <a:p>
            <a:pPr algn="l"/>
            <a:r>
              <a:rPr sz="900">
                <a:solidFill>
                  <a:srgbClr val="222222"/>
                </a:solidFill>
                <a:latin typeface="Consolas"/>
              </a:rPr>
              <a:t/>
            </a:r>
          </a:p>
          <a:p>
            <a:pPr algn="l"/>
            <a:r>
              <a:rPr sz="900">
                <a:solidFill>
                  <a:srgbClr val="222222"/>
                </a:solidFill>
                <a:latin typeface="Consolas"/>
              </a:rPr>
              <a:t>        for (int i = 0; i &lt; 5; i++) {</a:t>
            </a:r>
          </a:p>
          <a:p>
            <a:pPr algn="l"/>
            <a:r>
              <a:rPr sz="900">
                <a:solidFill>
                  <a:srgbClr val="222222"/>
                </a:solidFill>
                <a:latin typeface="Consolas"/>
              </a:rPr>
              <a:t>            total = total + plays[i];</a:t>
            </a:r>
          </a:p>
          <a:p>
            <a:pPr algn="l"/>
            <a:r>
              <a:rPr sz="900">
                <a:solidFill>
                  <a:srgbClr val="222222"/>
                </a:solidFill>
                <a:latin typeface="Consolas"/>
              </a:rPr>
              <a:t>        }</a:t>
            </a:r>
          </a:p>
          <a:p>
            <a:pPr algn="l"/>
            <a:r>
              <a:rPr sz="900">
                <a:solidFill>
                  <a:srgbClr val="222222"/>
                </a:solidFill>
                <a:latin typeface="Consolas"/>
              </a:rPr>
              <a:t/>
            </a:r>
          </a:p>
          <a:p>
            <a:pPr algn="l"/>
            <a:r>
              <a:rPr sz="900">
                <a:solidFill>
                  <a:srgbClr val="222222"/>
                </a:solidFill>
                <a:latin typeface="Consolas"/>
              </a:rPr>
              <a:t>        System.out.println("Total Plays: " + total);</a:t>
            </a:r>
          </a:p>
          <a:p>
            <a:pPr algn="l"/>
            <a:r>
              <a:rPr sz="900">
                <a:solidFill>
                  <a:srgbClr val="222222"/>
                </a:solidFill>
                <a:latin typeface="Consolas"/>
              </a:rPr>
              <a:t/>
            </a:r>
          </a:p>
          <a:p>
            <a:pPr algn="l"/>
            <a:r>
              <a:rPr sz="900">
                <a:solidFill>
                  <a:srgbClr val="222222"/>
                </a:solidFill>
                <a:latin typeface="Consolas"/>
              </a:rPr>
              <a:t>        // Average plays</a:t>
            </a:r>
          </a:p>
          <a:p>
            <a:pPr algn="l"/>
            <a:r>
              <a:rPr sz="900">
                <a:solidFill>
                  <a:srgbClr val="222222"/>
                </a:solidFill>
                <a:latin typeface="Consolas"/>
              </a:rPr>
              <a:t>        double average = total / 5.0;</a:t>
            </a:r>
          </a:p>
          <a:p>
            <a:pPr algn="l"/>
            <a:r>
              <a:rPr sz="900">
                <a:solidFill>
                  <a:srgbClr val="222222"/>
                </a:solidFill>
                <a:latin typeface="Consolas"/>
              </a:rPr>
              <a:t/>
            </a:r>
          </a:p>
          <a:p>
            <a:pPr algn="l"/>
            <a:r>
              <a:rPr sz="900">
                <a:solidFill>
                  <a:srgbClr val="222222"/>
                </a:solidFill>
                <a:latin typeface="Consolas"/>
              </a:rPr>
              <a:t>        System.out.println("Average Plays: " + average);</a:t>
            </a:r>
          </a:p>
          <a:p>
            <a:pPr algn="l"/>
            <a:r>
              <a:rPr sz="900">
                <a:solidFill>
                  <a:srgbClr val="222222"/>
                </a:solidFill>
                <a:latin typeface="Consolas"/>
              </a:rPr>
              <a:t/>
            </a:r>
          </a:p>
          <a:p>
            <a:pPr algn="l"/>
            <a:r>
              <a:rPr sz="900">
                <a:solidFill>
                  <a:srgbClr val="222222"/>
                </a:solidFill>
                <a:latin typeface="Consolas"/>
              </a:rPr>
              <a:t>        sc.close();</a:t>
            </a:r>
          </a:p>
          <a:p>
            <a:pPr algn="l"/>
            <a:r>
              <a:rPr sz="900">
                <a:solidFill>
                  <a:srgbClr val="222222"/>
                </a:solidFill>
                <a:latin typeface="Consolas"/>
              </a:rPr>
              <a:t>    }</a:t>
            </a:r>
          </a:p>
          <a:p>
            <a:pPr algn="l"/>
            <a:r>
              <a:rPr sz="900">
                <a:solidFill>
                  <a:srgbClr val="222222"/>
                </a:solidFill>
                <a:latin typeface="Consolas"/>
              </a:rPr>
              <a:t>}</a:t>
            </a:r>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56</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Title of the Project Team No</vt:lpstr>
      <vt:lpstr>Abstract</vt:lpstr>
      <vt:lpstr>Understanding Problem Statement</vt:lpstr>
      <vt:lpstr>CO 1 Topics</vt:lpstr>
      <vt:lpstr>Co 2 TOPICS</vt:lpstr>
      <vt:lpstr>CO 3 Topics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TSP MADHURI</cp:lastModifiedBy>
  <cp:revision>1</cp:revision>
  <dcterms:created xsi:type="dcterms:W3CDTF">2026-09-15T09:57:10Z</dcterms:created>
  <dcterms:modified xsi:type="dcterms:W3CDTF">2026-09-15T10:05:57Z</dcterms:modified>
</cp:coreProperties>
</file>