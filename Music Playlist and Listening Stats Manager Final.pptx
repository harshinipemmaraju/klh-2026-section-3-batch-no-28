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1" r:id="rId4"/>
    <p:sldId id="258" r:id="rId5"/>
    <p:sldId id="259" r:id="rId6"/>
    <p:sldId id="260" r:id="rId7"/>
    <p:sldId id="263" r:id="rId8"/>
    <p:sldId id="264" r:id="rId9"/>
    <p:sldId id="265" r:id="rId10"/>
    <p:sldId id="266"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12-10-2026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12-10-2026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12-10-2026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12-10-2026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12-10-2026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12-10-2026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12-10-2026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12-10-2026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12-10-2026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12-10-2026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12-10-2026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12-10-2026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lstStyle/>
          <a:p>
            <a:r>
              <a:rPr sz="4000" b="1"/>
              <a:t>Music Playlist and Listening Stats Manager</a:t>
            </a:r>
            <a:br/>
            <a:r>
              <a:rPr sz="3200">
                <a:solidFill>
                  <a:srgbClr val="A31F24"/>
                </a:solidFill>
              </a:rPr>
              <a:t>Team No: 28</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P. Sai Lakshmi Harshini  –  2620030063</a:t>
            </a:r>
          </a:p>
          <a:p>
            <a:r>
              <a:rPr lang="en-IN" dirty="0"/>
              <a:t>B. Vidhijna  –  2620090018</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1508760" y="320040"/>
            <a:ext cx="10363200" cy="822960"/>
          </a:xfrm>
        </p:spPr>
        <p:txBody>
          <a:bodyPr/>
          <a:lstStyle/>
          <a:p>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463040"/>
            <a:ext cx="10515600" cy="4297680"/>
          </a:xfrm>
        </p:spPr>
        <p:txBody>
          <a:bodyPr wrap="square"/>
          <a:lstStyle/>
          <a:p>
            <a:pPr marL="0" indent="0" algn="just">
              <a:lnSpc>
                <a:spcPct val="110000"/>
              </a:lnSpc>
              <a:spcAft>
                <a:spcPts val="1000"/>
              </a:spcAft>
              <a:buNone/>
            </a:pPr>
            <a:r>
              <a:rPr sz="1500"/>
              <a:t>The Music Playlist and Listening Stats Manager is a Java software application aimed at simplifying and automating music-related recording jobs. Usually dealing with a large volume of songs under the same heading, along with listening records and details. The system is there to provide an application to save the recorded songs as well as playlists so both elements can effectively be managed. The system allows the user to add, edit, search, and display records. Each song is saved with the ID, name, artist, album, genre, and length. New playlists may be created and populated with the available music. A song currently playing may be saved for listening statistics. The system shows the number of times each song is played, as well as how long it's been played, etc.</a:t>
            </a:r>
          </a:p>
          <a:p>
            <a:pPr marL="0" indent="0" algn="just">
              <a:lnSpc>
                <a:spcPct val="110000"/>
              </a:lnSpc>
              <a:spcAft>
                <a:spcPts val="1000"/>
              </a:spcAft>
              <a:buNone/>
            </a:pPr>
            <a:r>
              <a:rPr sz="1500"/>
              <a:t>The task is made significantly easier and requires minimal work through the reduction in manual work required; not just to store music, but also to manage playlists effectively, and to analyze data on how the application and song information is consumed, and how to make an advanced listening analysis using it more efficiently. The program could be developed into a client and could be a client program working directly and/or as a web service. The system is extensible, and new functions like arranging songs in sorted order, find mostly played songs in a playlist, and other important listening data related, can further develop to be designed so user can analyse their consumption data better and more clearly.</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508760" y="320040"/>
            <a:ext cx="10363200" cy="822960"/>
          </a:xfrm>
        </p:spPr>
        <p:txBody>
          <a:bodyPr/>
          <a:lstStyle/>
          <a:p>
            <a:r>
              <a:t>Understanding Problem Statement</a:t>
            </a:r>
          </a:p>
        </p:txBody>
      </p:sp>
      <p:sp>
        <p:nvSpPr>
          <p:cNvPr id="6" name="TextBox 5"/>
          <p:cNvSpPr txBox="1"/>
          <p:nvPr/>
        </p:nvSpPr>
        <p:spPr>
          <a:xfrm>
            <a:off x="838200" y="1463040"/>
            <a:ext cx="10515600" cy="822960"/>
          </a:xfrm>
          <a:prstGeom prst="rect">
            <a:avLst/>
          </a:prstGeom>
          <a:noFill/>
        </p:spPr>
        <p:txBody>
          <a:bodyPr wrap="square" anchor="t">
            <a:spAutoFit/>
          </a:bodyPr>
          <a:lstStyle/>
          <a:p>
            <a:pPr>
              <a:spcAft>
                <a:spcPts val="400"/>
              </a:spcAft>
            </a:pPr>
            <a:r>
              <a:rPr sz="1600" b="1">
                <a:solidFill>
                  <a:srgbClr val="A31F24"/>
                </a:solidFill>
              </a:rPr>
              <a:t>Problem: </a:t>
            </a:r>
            <a:r>
              <a:rPr sz="1600" b="0">
                <a:solidFill>
                  <a:srgbClr val="222222"/>
                </a:solidFill>
              </a:rPr>
              <a:t>Keeping track of songs and how often each one is played is usually done by hand, which is slow and error-prone. We need a simple Java console program that stores a small playlist, records play counts, and reports useful listening statistics.</a:t>
            </a:r>
          </a:p>
        </p:txBody>
      </p:sp>
      <p:sp>
        <p:nvSpPr>
          <p:cNvPr id="7" name="Rectangle 6"/>
          <p:cNvSpPr/>
          <p:nvPr/>
        </p:nvSpPr>
        <p:spPr>
          <a:xfrm>
            <a:off x="83820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INPUT</a:t>
            </a:r>
          </a:p>
        </p:txBody>
      </p:sp>
      <p:sp>
        <p:nvSpPr>
          <p:cNvPr id="8" name="Rectangle 7"/>
          <p:cNvSpPr/>
          <p:nvPr/>
        </p:nvSpPr>
        <p:spPr>
          <a:xfrm>
            <a:off x="83820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Song names (5 songs)</a:t>
            </a:r>
          </a:p>
          <a:p>
            <a:pPr algn="l">
              <a:spcAft>
                <a:spcPts val="600"/>
              </a:spcAft>
            </a:pPr>
            <a:r>
              <a:rPr sz="1300" b="0">
                <a:solidFill>
                  <a:srgbClr val="222222"/>
                </a:solidFill>
              </a:rPr>
              <a:t>•  Number of plays for each song</a:t>
            </a:r>
          </a:p>
          <a:p>
            <a:pPr algn="l">
              <a:spcAft>
                <a:spcPts val="600"/>
              </a:spcAft>
            </a:pPr>
            <a:r>
              <a:rPr sz="1300" b="0">
                <a:solidFill>
                  <a:srgbClr val="222222"/>
                </a:solidFill>
              </a:rPr>
              <a:t>•  Entered through the keyboard using Scanner</a:t>
            </a:r>
          </a:p>
        </p:txBody>
      </p:sp>
      <p:sp>
        <p:nvSpPr>
          <p:cNvPr id="9" name="Right Arrow 8"/>
          <p:cNvSpPr/>
          <p:nvPr/>
        </p:nvSpPr>
        <p:spPr>
          <a:xfrm>
            <a:off x="403174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5582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PROCESSING</a:t>
            </a:r>
          </a:p>
        </p:txBody>
      </p:sp>
      <p:sp>
        <p:nvSpPr>
          <p:cNvPr id="11" name="Rectangle 10"/>
          <p:cNvSpPr/>
          <p:nvPr/>
        </p:nvSpPr>
        <p:spPr>
          <a:xfrm>
            <a:off x="465582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Store data in parallel arrays</a:t>
            </a:r>
          </a:p>
          <a:p>
            <a:pPr algn="l">
              <a:spcAft>
                <a:spcPts val="600"/>
              </a:spcAft>
            </a:pPr>
            <a:r>
              <a:rPr sz="1300" b="0">
                <a:solidFill>
                  <a:srgbClr val="222222"/>
                </a:solidFill>
              </a:rPr>
              <a:t>•  Traverse arrays with for loops</a:t>
            </a:r>
          </a:p>
          <a:p>
            <a:pPr algn="l">
              <a:spcAft>
                <a:spcPts val="600"/>
              </a:spcAft>
            </a:pPr>
            <a:r>
              <a:rPr sz="1300" b="0">
                <a:solidFill>
                  <a:srgbClr val="222222"/>
                </a:solidFill>
              </a:rPr>
              <a:t>•  Compare values to find the maximum</a:t>
            </a:r>
          </a:p>
          <a:p>
            <a:pPr algn="l">
              <a:spcAft>
                <a:spcPts val="600"/>
              </a:spcAft>
            </a:pPr>
            <a:r>
              <a:rPr sz="1300" b="0">
                <a:solidFill>
                  <a:srgbClr val="222222"/>
                </a:solidFill>
              </a:rPr>
              <a:t>•  Add plays for total, divide for average</a:t>
            </a:r>
          </a:p>
        </p:txBody>
      </p:sp>
      <p:sp>
        <p:nvSpPr>
          <p:cNvPr id="12" name="Right Arrow 11"/>
          <p:cNvSpPr/>
          <p:nvPr/>
        </p:nvSpPr>
        <p:spPr>
          <a:xfrm>
            <a:off x="784936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47344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OUTPUT</a:t>
            </a:r>
          </a:p>
        </p:txBody>
      </p:sp>
      <p:sp>
        <p:nvSpPr>
          <p:cNvPr id="14" name="Rectangle 13"/>
          <p:cNvSpPr/>
          <p:nvPr/>
        </p:nvSpPr>
        <p:spPr>
          <a:xfrm>
            <a:off x="847344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Full playlist with play counts</a:t>
            </a:r>
          </a:p>
          <a:p>
            <a:pPr algn="l">
              <a:spcAft>
                <a:spcPts val="600"/>
              </a:spcAft>
            </a:pPr>
            <a:r>
              <a:rPr sz="1300" b="0">
                <a:solidFill>
                  <a:srgbClr val="222222"/>
                </a:solidFill>
              </a:rPr>
              <a:t>•  Most played song and its count</a:t>
            </a:r>
          </a:p>
          <a:p>
            <a:pPr algn="l">
              <a:spcAft>
                <a:spcPts val="600"/>
              </a:spcAft>
            </a:pPr>
            <a:r>
              <a:rPr sz="1300" b="0">
                <a:solidFill>
                  <a:srgbClr val="222222"/>
                </a:solidFill>
              </a:rPr>
              <a:t>•  Total plays</a:t>
            </a:r>
          </a:p>
          <a:p>
            <a:pPr algn="l">
              <a:spcAft>
                <a:spcPts val="600"/>
              </a:spcAft>
            </a:pPr>
            <a:r>
              <a:rPr sz="1300" b="0">
                <a:solidFill>
                  <a:srgbClr val="222222"/>
                </a:solidFill>
              </a:rPr>
              <a:t>•  Average plays per song</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0040"/>
            <a:ext cx="10363200" cy="822960"/>
          </a:xfrm>
        </p:spPr>
        <p:txBody>
          <a:bodyPr/>
          <a:lstStyle/>
          <a:p>
            <a:r>
              <a:t>CO 1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1 – From Problem to Program: Computational Thinking &amp; Java Foundations</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200" b="1">
                          <a:solidFill>
                            <a:srgbClr val="FFFFFF"/>
                          </a:solidFill>
                        </a:rPr>
                        <a:t>Topic</a:t>
                      </a:r>
                    </a:p>
                  </a:txBody>
                  <a:tcPr marL="109728" marR="109728" anchor="ctr">
                    <a:solidFill>
                      <a:srgbClr val="A31F24"/>
                    </a:solidFill>
                  </a:tcPr>
                </a:tc>
                <a:tc>
                  <a:txBody>
                    <a:bodyPr/>
                    <a:lstStyle/>
                    <a:p>
                      <a:r>
                        <a:rPr sz="1200" b="1">
                          <a:solidFill>
                            <a:srgbClr val="FFFFFF"/>
                          </a:solidFill>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Problem solving / algorithm</a:t>
                      </a:r>
                    </a:p>
                  </a:txBody>
                  <a:tcPr marL="109728" marR="109728" anchor="ctr">
                    <a:solidFill>
                      <a:srgbClr val="FFFFFF"/>
                    </a:solidFill>
                  </a:tcPr>
                </a:tc>
                <a:tc>
                  <a:txBody>
                    <a:bodyPr/>
                    <a:lstStyle/>
                    <a:p>
                      <a:r>
                        <a:rPr sz="1200" b="0">
                          <a:solidFill>
                            <a:srgbClr val="222222"/>
                          </a:solidFill>
                        </a:rPr>
                        <a:t>Steps: read songs → display → find max → total → average</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Structure of a Java program</a:t>
                      </a:r>
                    </a:p>
                  </a:txBody>
                  <a:tcPr marL="109728" marR="109728" anchor="ctr">
                    <a:solidFill>
                      <a:srgbClr val="F4F4F4"/>
                    </a:solidFill>
                  </a:tcPr>
                </a:tc>
                <a:tc>
                  <a:txBody>
                    <a:bodyPr/>
                    <a:lstStyle/>
                    <a:p>
                      <a:r>
                        <a:rPr sz="1200" b="0">
                          <a:solidFill>
                            <a:srgbClr val="222222"/>
                          </a:solidFill>
                        </a:rPr>
                        <a:t>class MusicPlaylist with public static void main(String[] args)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Primitive types &amp; variables</a:t>
                      </a:r>
                    </a:p>
                  </a:txBody>
                  <a:tcPr marL="109728" marR="109728" anchor="ctr">
                    <a:solidFill>
                      <a:srgbClr val="FFFFFF"/>
                    </a:solidFill>
                  </a:tcPr>
                </a:tc>
                <a:tc>
                  <a:txBody>
                    <a:bodyPr/>
                    <a:lstStyle/>
                    <a:p>
                      <a:r>
                        <a:rPr sz="1200" b="0">
                          <a:solidFill>
                            <a:srgbClr val="222222"/>
                          </a:solidFill>
                        </a:rPr>
                        <a:t>int max, position, total;  double average</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Operators</a:t>
                      </a:r>
                    </a:p>
                  </a:txBody>
                  <a:tcPr marL="109728" marR="109728" anchor="ctr">
                    <a:solidFill>
                      <a:srgbClr val="F4F4F4"/>
                    </a:solidFill>
                  </a:tcPr>
                </a:tc>
                <a:tc>
                  <a:txBody>
                    <a:bodyPr/>
                    <a:lstStyle/>
                    <a:p>
                      <a:r>
                        <a:rPr sz="1200" b="0">
                          <a:solidFill>
                            <a:srgbClr val="222222"/>
                          </a:solidFill>
                        </a:rPr>
                        <a:t>Arithmetic (+, /), relational (&gt;), assignment (=, +=), string concatenation (+)</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Typecasting / expressions</a:t>
                      </a:r>
                    </a:p>
                  </a:txBody>
                  <a:tcPr marL="109728" marR="109728" anchor="ctr">
                    <a:solidFill>
                      <a:srgbClr val="FFFFFF"/>
                    </a:solidFill>
                  </a:tcPr>
                </a:tc>
                <a:tc>
                  <a:txBody>
                    <a:bodyPr/>
                    <a:lstStyle/>
                    <a:p>
                      <a:r>
                        <a:rPr sz="1200" b="0">
                          <a:solidFill>
                            <a:srgbClr val="222222"/>
                          </a:solidFill>
                        </a:rPr>
                        <a:t>total / 5.0 promotes int to double, so the average keeps decimals</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Console I/O with Scanner</a:t>
                      </a:r>
                    </a:p>
                  </a:txBody>
                  <a:tcPr marL="109728" marR="109728" anchor="ctr">
                    <a:solidFill>
                      <a:srgbClr val="F4F4F4"/>
                    </a:solidFill>
                  </a:tcPr>
                </a:tc>
                <a:tc>
                  <a:txBody>
                    <a:bodyPr/>
                    <a:lstStyle/>
                    <a:p>
                      <a:r>
                        <a:rPr sz="1200" b="0">
                          <a:solidFill>
                            <a:srgbClr val="222222"/>
                          </a:solidFill>
                        </a:rPr>
                        <a:t>nextLine() for song names, nextInt() for plays, println() for output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508760" y="320040"/>
            <a:ext cx="10363200" cy="822960"/>
          </a:xfrm>
        </p:spPr>
        <p:txBody>
          <a:bodyPr/>
          <a:lstStyle/>
          <a:p>
            <a:r>
              <a:t>CO 2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2 – Control Flow: Selection &amp; Iteration</a:t>
            </a:r>
          </a:p>
        </p:txBody>
      </p:sp>
      <p:graphicFrame>
        <p:nvGraphicFramePr>
          <p:cNvPr id="7" name="Table 6"/>
          <p:cNvGraphicFramePr>
            <a:graphicFrameLocks noGrp="1"/>
          </p:cNvGraphicFramePr>
          <p:nvPr/>
        </p:nvGraphicFramePr>
        <p:xfrm>
          <a:off x="838200" y="1828800"/>
          <a:ext cx="6309360" cy="466344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t>Topic</a:t>
                      </a:r>
                    </a:p>
                  </a:txBody>
                  <a:tcPr marL="109728" marR="109728" anchor="ctr">
                    <a:solidFill>
                      <a:srgbClr val="A31F24"/>
                    </a:solidFill>
                  </a:tcPr>
                </a:tc>
                <a:tc>
                  <a:txBody>
                    <a:bodyPr/>
                    <a:lstStyle/>
                    <a:p>
                      <a: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t>for loop</a:t>
                      </a:r>
                    </a:p>
                  </a:txBody>
                  <a:tcPr marL="109728" marR="109728" anchor="ctr">
                    <a:solidFill>
                      <a:srgbClr val="FFFFFF"/>
                    </a:solidFill>
                  </a:tcPr>
                </a:tc>
                <a:tc>
                  <a:txBody>
                    <a:bodyPr/>
                    <a:lstStyle/>
                    <a:p>
                      <a:r>
                        <a:t>Used 4 times: reading input, displaying the playlist, finding the max, and adding the total.</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t>if statement</a:t>
                      </a:r>
                    </a:p>
                  </a:txBody>
                  <a:tcPr marL="109728" marR="109728" anchor="ctr">
                    <a:solidFill>
                      <a:srgbClr val="F4F4F4"/>
                    </a:solidFill>
                  </a:tcPr>
                </a:tc>
                <a:tc>
                  <a:txBody>
                    <a:bodyPr/>
                    <a:lstStyle/>
                    <a:p>
                      <a:r>
                        <a:t>Compares plays[i] &gt; max to update the most played song.</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t>Nested control flow</a:t>
                      </a:r>
                    </a:p>
                  </a:txBody>
                  <a:tcPr marL="109728" marR="109728" anchor="ctr">
                    <a:solidFill>
                      <a:srgbClr val="FFFFFF"/>
                    </a:solidFill>
                  </a:tcPr>
                </a:tc>
                <a:tc>
                  <a:txBody>
                    <a:bodyPr/>
                    <a:lstStyle/>
                    <a:p>
                      <a:r>
                        <a:t>An if statement placed inside a for loop to search the array.</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t>Compound statements</a:t>
                      </a:r>
                    </a:p>
                  </a:txBody>
                  <a:tcPr marL="109728" marR="109728" anchor="ctr">
                    <a:solidFill>
                      <a:srgbClr val="F4F4F4"/>
                    </a:solidFill>
                  </a:tcPr>
                </a:tc>
                <a:tc>
                  <a:txBody>
                    <a:bodyPr/>
                    <a:lstStyle/>
                    <a:p>
                      <a:r>
                        <a:t>Blocks { } group several statements inside loops and conditions.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t>switch statement</a:t>
                      </a:r>
                    </a:p>
                  </a:txBody>
                  <a:tcPr marL="109728" marR="109728" anchor="ctr">
                    <a:solidFill>
                      <a:srgbClr val="FFFFFF"/>
                    </a:solidFill>
                  </a:tcPr>
                </a:tc>
                <a:tc>
                  <a:txBody>
                    <a:bodyPr/>
                    <a:lstStyle/>
                    <a:p>
                      <a:r>
                        <a:t>Can be used for a menu to choose options like Add, Show, Stats, and Exit.</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t>do-while loop</a:t>
                      </a:r>
                    </a:p>
                  </a:txBody>
                  <a:tcPr marL="109728" marR="109728" anchor="ctr">
                    <a:solidFill>
                      <a:srgbClr val="F4F4F4"/>
                    </a:solidFill>
                  </a:tcPr>
                </a:tc>
                <a:tc>
                  <a:txBody>
                    <a:bodyPr/>
                    <a:lstStyle/>
                    <a:p>
                      <a:r>
                        <a:t>Can repeat the menu until the user chooses Exit.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508760" y="320040"/>
            <a:ext cx="10363200" cy="822960"/>
          </a:xfrm>
        </p:spPr>
        <p:txBody>
          <a:bodyPr/>
          <a:lstStyle/>
          <a:p>
            <a:r>
              <a:t>CO 3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3 – Decomposition with Methods, Recursion &amp; Arrays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200" b="1">
                          <a:solidFill>
                            <a:srgbClr val="FFFFFF"/>
                          </a:solidFill>
                        </a:rPr>
                        <a:t>Array concept</a:t>
                      </a:r>
                    </a:p>
                  </a:txBody>
                  <a:tcPr marL="109728" marR="109728" anchor="ctr">
                    <a:solidFill>
                      <a:srgbClr val="A31F24"/>
                    </a:solidFill>
                  </a:tcPr>
                </a:tc>
                <a:tc>
                  <a:txBody>
                    <a:bodyPr/>
                    <a:lstStyle/>
                    <a:p>
                      <a:r>
                        <a:rPr sz="1200" b="1">
                          <a:solidFill>
                            <a:srgbClr val="FFFFFF"/>
                          </a:solidFill>
                        </a:rPr>
                        <a:t>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1D array declaration</a:t>
                      </a:r>
                    </a:p>
                  </a:txBody>
                  <a:tcPr marL="109728" marR="109728" anchor="ctr">
                    <a:solidFill>
                      <a:srgbClr val="FFFFFF"/>
                    </a:solidFill>
                  </a:tcPr>
                </a:tc>
                <a:tc>
                  <a:txBody>
                    <a:bodyPr/>
                    <a:lstStyle/>
                    <a:p>
                      <a:r>
                        <a:rPr sz="1200" b="0">
                          <a:solidFill>
                            <a:srgbClr val="222222"/>
                          </a:solidFill>
                        </a:rPr>
                        <a:t>String[] songs = new String[5];  int[] plays = new int[5];</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Traversal</a:t>
                      </a:r>
                    </a:p>
                  </a:txBody>
                  <a:tcPr marL="109728" marR="109728" anchor="ctr">
                    <a:solidFill>
                      <a:srgbClr val="F4F4F4"/>
                    </a:solidFill>
                  </a:tcPr>
                </a:tc>
                <a:tc>
                  <a:txBody>
                    <a:bodyPr/>
                    <a:lstStyle/>
                    <a:p>
                      <a:r>
                        <a:rPr sz="1200" b="0">
                          <a:solidFill>
                            <a:srgbClr val="222222"/>
                          </a:solidFill>
                        </a:rPr>
                        <a:t>Loop through every index to read and print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Searching</a:t>
                      </a:r>
                    </a:p>
                  </a:txBody>
                  <a:tcPr marL="109728" marR="109728" anchor="ctr">
                    <a:solidFill>
                      <a:srgbClr val="FFFFFF"/>
                    </a:solidFill>
                  </a:tcPr>
                </a:tc>
                <a:tc>
                  <a:txBody>
                    <a:bodyPr/>
                    <a:lstStyle/>
                    <a:p>
                      <a:r>
                        <a:rPr sz="1200" b="0">
                          <a:solidFill>
                            <a:srgbClr val="222222"/>
                          </a:solidFill>
                        </a:rPr>
                        <a:t>Linear search for the highest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Summation</a:t>
                      </a:r>
                    </a:p>
                  </a:txBody>
                  <a:tcPr marL="109728" marR="109728" anchor="ctr">
                    <a:solidFill>
                      <a:srgbClr val="F4F4F4"/>
                    </a:solidFill>
                  </a:tcPr>
                </a:tc>
                <a:tc>
                  <a:txBody>
                    <a:bodyPr/>
                    <a:lstStyle/>
                    <a:p>
                      <a:r>
                        <a:rPr sz="1200" b="0">
                          <a:solidFill>
                            <a:srgbClr val="222222"/>
                          </a:solidFill>
                        </a:rPr>
                        <a:t>total += plays[i] adds all play counts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Average</a:t>
                      </a:r>
                    </a:p>
                  </a:txBody>
                  <a:tcPr marL="109728" marR="109728" anchor="ctr">
                    <a:solidFill>
                      <a:srgbClr val="FFFFFF"/>
                    </a:solidFill>
                  </a:tcPr>
                </a:tc>
                <a:tc>
                  <a:txBody>
                    <a:bodyPr/>
                    <a:lstStyle/>
                    <a:p>
                      <a:r>
                        <a:rPr sz="1200" b="0">
                          <a:solidFill>
                            <a:srgbClr val="222222"/>
                          </a:solidFill>
                        </a:rPr>
                        <a:t>total / 5.0 gives average plays per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Counting</a:t>
                      </a:r>
                    </a:p>
                  </a:txBody>
                  <a:tcPr marL="109728" marR="109728" anchor="ctr">
                    <a:solidFill>
                      <a:srgbClr val="F4F4F4"/>
                    </a:solidFill>
                  </a:tcPr>
                </a:tc>
                <a:tc>
                  <a:txBody>
                    <a:bodyPr/>
                    <a:lstStyle/>
                    <a:p>
                      <a:r>
                        <a:rPr sz="1200" b="0">
                          <a:solidFill>
                            <a:srgbClr val="222222"/>
                          </a:solidFill>
                        </a:rPr>
                        <a:t>Loop counter numbers the songs: "Enter song " + (i + 1)</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a:xfrm>
            <a:off x="1508760" y="320040"/>
            <a:ext cx="10363200" cy="822960"/>
          </a:xfrm>
        </p:spPr>
        <p:txBody>
          <a:bodyPr/>
          <a:lstStyle/>
          <a:p>
            <a:r>
              <a:t>Full Program – MusicPlaylist.java</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lgn="l"/>
            <a:r>
              <a:rPr sz="900">
                <a:solidFill>
                  <a:srgbClr val="222222"/>
                </a:solidFill>
                <a:latin typeface="Consolas"/>
              </a:rPr>
              <a:t>import java.util.Scanner;</a:t>
            </a:r>
          </a:p>
          <a:p>
            <a:pPr algn="l"/>
            <a:endParaRPr sz="900">
              <a:solidFill>
                <a:srgbClr val="222222"/>
              </a:solidFill>
              <a:latin typeface="Consolas"/>
            </a:endParaRPr>
          </a:p>
          <a:p>
            <a:pPr algn="l"/>
            <a:r>
              <a:rPr sz="900">
                <a:solidFill>
                  <a:srgbClr val="222222"/>
                </a:solidFill>
                <a:latin typeface="Consolas"/>
              </a:rPr>
              <a:t>public class MusicPlaylist {</a:t>
            </a:r>
          </a:p>
          <a:p>
            <a:pPr algn="l"/>
            <a:r>
              <a:rPr sz="900">
                <a:solidFill>
                  <a:srgbClr val="222222"/>
                </a:solidFill>
                <a:latin typeface="Consolas"/>
              </a:rPr>
              <a:t>    public static void main(String[] args) {</a:t>
            </a:r>
          </a:p>
          <a:p>
            <a:pPr algn="l"/>
            <a:endParaRPr sz="900">
              <a:solidFill>
                <a:srgbClr val="222222"/>
              </a:solidFill>
              <a:latin typeface="Consolas"/>
            </a:endParaRPr>
          </a:p>
          <a:p>
            <a:pPr algn="l"/>
            <a:r>
              <a:rPr sz="900">
                <a:solidFill>
                  <a:srgbClr val="222222"/>
                </a:solidFill>
                <a:latin typeface="Consolas"/>
              </a:rPr>
              <a:t>        Scanner sc = new Scanner(System.in);</a:t>
            </a:r>
          </a:p>
          <a:p>
            <a:pPr algn="l"/>
            <a:endParaRPr sz="900">
              <a:solidFill>
                <a:srgbClr val="222222"/>
              </a:solidFill>
              <a:latin typeface="Consolas"/>
            </a:endParaRPr>
          </a:p>
          <a:p>
            <a:pPr algn="l"/>
            <a:r>
              <a:rPr sz="900">
                <a:solidFill>
                  <a:srgbClr val="222222"/>
                </a:solidFill>
                <a:latin typeface="Consolas"/>
              </a:rPr>
              <a:t>        String[] songs = new String[5];</a:t>
            </a:r>
          </a:p>
          <a:p>
            <a:pPr algn="l"/>
            <a:r>
              <a:rPr sz="900">
                <a:solidFill>
                  <a:srgbClr val="222222"/>
                </a:solidFill>
                <a:latin typeface="Consolas"/>
              </a:rPr>
              <a:t>        int[] plays = new int[5];</a:t>
            </a:r>
          </a:p>
          <a:p>
            <a:pPr algn="l"/>
            <a:endParaRPr sz="900">
              <a:solidFill>
                <a:srgbClr val="222222"/>
              </a:solidFill>
              <a:latin typeface="Consolas"/>
            </a:endParaRPr>
          </a:p>
          <a:p>
            <a:pPr algn="l"/>
            <a:r>
              <a:rPr sz="900">
                <a:solidFill>
                  <a:srgbClr val="222222"/>
                </a:solidFill>
                <a:latin typeface="Consolas"/>
              </a:rPr>
              <a:t>        System.out.println("Enter 5 songs:");</a:t>
            </a:r>
          </a:p>
          <a:p>
            <a:pPr algn="l"/>
            <a:endParaRPr sz="900">
              <a:solidFill>
                <a:srgbClr val="222222"/>
              </a:solidFill>
              <a:latin typeface="Consolas"/>
            </a:endParaRPr>
          </a:p>
          <a:p>
            <a:pPr algn="l"/>
            <a:r>
              <a:rPr sz="900">
                <a:solidFill>
                  <a:srgbClr val="222222"/>
                </a:solidFill>
                <a:latin typeface="Consolas"/>
              </a:rPr>
              <a:t>        for (int i = 0; i &lt; 5; i++) {</a:t>
            </a:r>
          </a:p>
          <a:p>
            <a:pPr algn="l"/>
            <a:r>
              <a:rPr sz="900">
                <a:solidFill>
                  <a:srgbClr val="222222"/>
                </a:solidFill>
                <a:latin typeface="Consolas"/>
              </a:rPr>
              <a:t>            System.out.print("Enter song " + (i + 1) + ": ");</a:t>
            </a:r>
          </a:p>
          <a:p>
            <a:pPr algn="l"/>
            <a:r>
              <a:rPr sz="900">
                <a:solidFill>
                  <a:srgbClr val="222222"/>
                </a:solidFill>
                <a:latin typeface="Consolas"/>
              </a:rPr>
              <a:t>            songs[i] = sc.nextLine();</a:t>
            </a:r>
          </a:p>
          <a:p>
            <a:pPr algn="l"/>
            <a:endParaRPr sz="900">
              <a:solidFill>
                <a:srgbClr val="222222"/>
              </a:solidFill>
              <a:latin typeface="Consolas"/>
            </a:endParaRPr>
          </a:p>
          <a:p>
            <a:pPr algn="l"/>
            <a:r>
              <a:rPr sz="900">
                <a:solidFill>
                  <a:srgbClr val="222222"/>
                </a:solidFill>
                <a:latin typeface="Consolas"/>
              </a:rPr>
              <a:t>            System.out.print("Enter number of plays: ");</a:t>
            </a:r>
          </a:p>
          <a:p>
            <a:pPr algn="l"/>
            <a:r>
              <a:rPr sz="900">
                <a:solidFill>
                  <a:srgbClr val="222222"/>
                </a:solidFill>
                <a:latin typeface="Consolas"/>
              </a:rPr>
              <a:t>            plays[i] = sc.nextInt();</a:t>
            </a:r>
          </a:p>
          <a:p>
            <a:pPr algn="l"/>
            <a:r>
              <a:rPr sz="900">
                <a:solidFill>
                  <a:srgbClr val="222222"/>
                </a:solidFill>
                <a:latin typeface="Consolas"/>
              </a:rPr>
              <a:t>            sc.nextLine();</a:t>
            </a:r>
          </a:p>
          <a:p>
            <a:pPr algn="l"/>
            <a:r>
              <a:rPr sz="900">
                <a:solidFill>
                  <a:srgbClr val="222222"/>
                </a:solidFill>
                <a:latin typeface="Consolas"/>
              </a:rPr>
              <a:t>        }</a:t>
            </a:r>
          </a:p>
          <a:p>
            <a:pPr algn="l"/>
            <a:endParaRPr sz="900">
              <a:solidFill>
                <a:srgbClr val="222222"/>
              </a:solidFill>
              <a:latin typeface="Consolas"/>
            </a:endParaRPr>
          </a:p>
          <a:p>
            <a:pPr algn="l"/>
            <a:r>
              <a:rPr sz="900">
                <a:solidFill>
                  <a:srgbClr val="222222"/>
                </a:solidFill>
                <a:latin typeface="Consolas"/>
              </a:rPr>
              <a:t>        System.out.println("\n--- Music Playlist ---");</a:t>
            </a:r>
          </a:p>
          <a:p>
            <a:pPr algn="l"/>
            <a:endParaRPr sz="900">
              <a:solidFill>
                <a:srgbClr val="222222"/>
              </a:solidFill>
              <a:latin typeface="Consolas"/>
            </a:endParaRPr>
          </a:p>
          <a:p>
            <a:pPr algn="l"/>
            <a:r>
              <a:rPr sz="900">
                <a:solidFill>
                  <a:srgbClr val="222222"/>
                </a:solidFill>
                <a:latin typeface="Consolas"/>
              </a:rPr>
              <a:t>        for (int i = 0; i &lt; 5; i++) {</a:t>
            </a:r>
          </a:p>
          <a:p>
            <a:pPr algn="l"/>
            <a:r>
              <a:rPr sz="900">
                <a:solidFill>
                  <a:srgbClr val="222222"/>
                </a:solidFill>
                <a:latin typeface="Consolas"/>
              </a:rPr>
              <a:t>            System.out.println(songs[i] + " - " + plays[i] + " plays");</a:t>
            </a:r>
          </a:p>
          <a:p>
            <a:pPr algn="l"/>
            <a:r>
              <a:rPr sz="900">
                <a:solidFill>
                  <a:srgbClr val="222222"/>
                </a:solidFill>
                <a:latin typeface="Consolas"/>
              </a:rPr>
              <a:t>        }</a:t>
            </a:r>
          </a:p>
          <a:p>
            <a:pPr algn="l"/>
            <a:endParaRPr sz="900">
              <a:solidFill>
                <a:srgbClr val="222222"/>
              </a:solidFill>
              <a:latin typeface="Consolas"/>
            </a:endParaRP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lgn="l"/>
            <a:r>
              <a:rPr sz="900">
                <a:solidFill>
                  <a:srgbClr val="222222"/>
                </a:solidFill>
                <a:latin typeface="Consolas"/>
              </a:rPr>
              <a:t>        // Find the most played song</a:t>
            </a:r>
          </a:p>
          <a:p>
            <a:pPr algn="l"/>
            <a:r>
              <a:rPr sz="900">
                <a:solidFill>
                  <a:srgbClr val="222222"/>
                </a:solidFill>
                <a:latin typeface="Consolas"/>
              </a:rPr>
              <a:t>        int max = plays[0];</a:t>
            </a:r>
          </a:p>
          <a:p>
            <a:pPr algn="l"/>
            <a:r>
              <a:rPr sz="900">
                <a:solidFill>
                  <a:srgbClr val="222222"/>
                </a:solidFill>
                <a:latin typeface="Consolas"/>
              </a:rPr>
              <a:t>        int position = 0;</a:t>
            </a:r>
          </a:p>
          <a:p>
            <a:pPr algn="l"/>
            <a:endParaRPr sz="900">
              <a:solidFill>
                <a:srgbClr val="222222"/>
              </a:solidFill>
              <a:latin typeface="Consolas"/>
            </a:endParaRPr>
          </a:p>
          <a:p>
            <a:pPr algn="l"/>
            <a:r>
              <a:rPr sz="900">
                <a:solidFill>
                  <a:srgbClr val="222222"/>
                </a:solidFill>
                <a:latin typeface="Consolas"/>
              </a:rPr>
              <a:t>        for (int i = 1; i &lt; 5; i++) {</a:t>
            </a:r>
          </a:p>
          <a:p>
            <a:pPr algn="l"/>
            <a:r>
              <a:rPr sz="900">
                <a:solidFill>
                  <a:srgbClr val="222222"/>
                </a:solidFill>
                <a:latin typeface="Consolas"/>
              </a:rPr>
              <a:t>            if (plays[i] &gt; max) {</a:t>
            </a:r>
          </a:p>
          <a:p>
            <a:pPr algn="l"/>
            <a:r>
              <a:rPr sz="900">
                <a:solidFill>
                  <a:srgbClr val="222222"/>
                </a:solidFill>
                <a:latin typeface="Consolas"/>
              </a:rPr>
              <a:t>                max = plays[i];</a:t>
            </a:r>
          </a:p>
          <a:p>
            <a:pPr algn="l"/>
            <a:r>
              <a:rPr sz="900">
                <a:solidFill>
                  <a:srgbClr val="222222"/>
                </a:solidFill>
                <a:latin typeface="Consolas"/>
              </a:rPr>
              <a:t>                position = i;</a:t>
            </a:r>
          </a:p>
          <a:p>
            <a:pPr algn="l"/>
            <a:r>
              <a:rPr sz="900">
                <a:solidFill>
                  <a:srgbClr val="222222"/>
                </a:solidFill>
                <a:latin typeface="Consolas"/>
              </a:rPr>
              <a:t>            }</a:t>
            </a:r>
          </a:p>
          <a:p>
            <a:pPr algn="l"/>
            <a:r>
              <a:rPr sz="900">
                <a:solidFill>
                  <a:srgbClr val="222222"/>
                </a:solidFill>
                <a:latin typeface="Consolas"/>
              </a:rPr>
              <a:t>        }</a:t>
            </a:r>
          </a:p>
          <a:p>
            <a:pPr algn="l"/>
            <a:endParaRPr sz="900">
              <a:solidFill>
                <a:srgbClr val="222222"/>
              </a:solidFill>
              <a:latin typeface="Consolas"/>
            </a:endParaRPr>
          </a:p>
          <a:p>
            <a:pPr algn="l"/>
            <a:r>
              <a:rPr sz="900">
                <a:solidFill>
                  <a:srgbClr val="222222"/>
                </a:solidFill>
                <a:latin typeface="Consolas"/>
              </a:rPr>
              <a:t>        System.out.println("\nMost Played Song: " + songs[position]);</a:t>
            </a:r>
          </a:p>
          <a:p>
            <a:pPr algn="l"/>
            <a:r>
              <a:rPr sz="900">
                <a:solidFill>
                  <a:srgbClr val="222222"/>
                </a:solidFill>
                <a:latin typeface="Consolas"/>
              </a:rPr>
              <a:t>        System.out.println("Number of Plays: " + max);</a:t>
            </a:r>
          </a:p>
          <a:p>
            <a:pPr algn="l"/>
            <a:endParaRPr sz="900">
              <a:solidFill>
                <a:srgbClr val="222222"/>
              </a:solidFill>
              <a:latin typeface="Consolas"/>
            </a:endParaRPr>
          </a:p>
          <a:p>
            <a:pPr algn="l"/>
            <a:r>
              <a:rPr sz="900">
                <a:solidFill>
                  <a:srgbClr val="222222"/>
                </a:solidFill>
                <a:latin typeface="Consolas"/>
              </a:rPr>
              <a:t>        // Calculate total plays</a:t>
            </a:r>
          </a:p>
          <a:p>
            <a:pPr algn="l"/>
            <a:r>
              <a:rPr sz="900">
                <a:solidFill>
                  <a:srgbClr val="222222"/>
                </a:solidFill>
                <a:latin typeface="Consolas"/>
              </a:rPr>
              <a:t>        int total = 0;</a:t>
            </a:r>
          </a:p>
          <a:p>
            <a:pPr algn="l"/>
            <a:endParaRPr sz="900">
              <a:solidFill>
                <a:srgbClr val="222222"/>
              </a:solidFill>
              <a:latin typeface="Consolas"/>
            </a:endParaRPr>
          </a:p>
          <a:p>
            <a:pPr algn="l"/>
            <a:r>
              <a:rPr sz="900">
                <a:solidFill>
                  <a:srgbClr val="222222"/>
                </a:solidFill>
                <a:latin typeface="Consolas"/>
              </a:rPr>
              <a:t>        for (int i = 0; i &lt; 5; i++) {</a:t>
            </a:r>
          </a:p>
          <a:p>
            <a:pPr algn="l"/>
            <a:r>
              <a:rPr sz="900">
                <a:solidFill>
                  <a:srgbClr val="222222"/>
                </a:solidFill>
                <a:latin typeface="Consolas"/>
              </a:rPr>
              <a:t>            total = total + plays[i];</a:t>
            </a:r>
          </a:p>
          <a:p>
            <a:pPr algn="l"/>
            <a:r>
              <a:rPr sz="900">
                <a:solidFill>
                  <a:srgbClr val="222222"/>
                </a:solidFill>
                <a:latin typeface="Consolas"/>
              </a:rPr>
              <a:t>        }</a:t>
            </a:r>
          </a:p>
          <a:p>
            <a:pPr algn="l"/>
            <a:endParaRPr sz="900">
              <a:solidFill>
                <a:srgbClr val="222222"/>
              </a:solidFill>
              <a:latin typeface="Consolas"/>
            </a:endParaRPr>
          </a:p>
          <a:p>
            <a:pPr algn="l"/>
            <a:r>
              <a:rPr sz="900">
                <a:solidFill>
                  <a:srgbClr val="222222"/>
                </a:solidFill>
                <a:latin typeface="Consolas"/>
              </a:rPr>
              <a:t>        System.out.println("Total Plays: " + total);</a:t>
            </a:r>
          </a:p>
          <a:p>
            <a:pPr algn="l"/>
            <a:endParaRPr sz="900">
              <a:solidFill>
                <a:srgbClr val="222222"/>
              </a:solidFill>
              <a:latin typeface="Consolas"/>
            </a:endParaRPr>
          </a:p>
          <a:p>
            <a:pPr algn="l"/>
            <a:r>
              <a:rPr sz="900">
                <a:solidFill>
                  <a:srgbClr val="222222"/>
                </a:solidFill>
                <a:latin typeface="Consolas"/>
              </a:rPr>
              <a:t>        // Average plays</a:t>
            </a:r>
          </a:p>
          <a:p>
            <a:pPr algn="l"/>
            <a:r>
              <a:rPr sz="900">
                <a:solidFill>
                  <a:srgbClr val="222222"/>
                </a:solidFill>
                <a:latin typeface="Consolas"/>
              </a:rPr>
              <a:t>        double average = total / 5.0;</a:t>
            </a:r>
          </a:p>
          <a:p>
            <a:pPr algn="l"/>
            <a:endParaRPr sz="900">
              <a:solidFill>
                <a:srgbClr val="222222"/>
              </a:solidFill>
              <a:latin typeface="Consolas"/>
            </a:endParaRPr>
          </a:p>
          <a:p>
            <a:pPr algn="l"/>
            <a:r>
              <a:rPr sz="900">
                <a:solidFill>
                  <a:srgbClr val="222222"/>
                </a:solidFill>
                <a:latin typeface="Consolas"/>
              </a:rPr>
              <a:t>        System.out.println("Average Plays: " + average);</a:t>
            </a:r>
          </a:p>
          <a:p>
            <a:pPr algn="l"/>
            <a:endParaRPr sz="900">
              <a:solidFill>
                <a:srgbClr val="222222"/>
              </a:solidFill>
              <a:latin typeface="Consolas"/>
            </a:endParaRPr>
          </a:p>
          <a:p>
            <a:pPr algn="l"/>
            <a:r>
              <a:rPr sz="900">
                <a:solidFill>
                  <a:srgbClr val="222222"/>
                </a:solidFill>
                <a:latin typeface="Consolas"/>
              </a:rPr>
              <a:t>        sc.close();</a:t>
            </a:r>
          </a:p>
          <a:p>
            <a:pPr algn="l"/>
            <a:r>
              <a:rPr sz="900">
                <a:solidFill>
                  <a:srgbClr val="222222"/>
                </a:solidFill>
                <a:latin typeface="Consolas"/>
              </a:rPr>
              <a:t>    }</a:t>
            </a:r>
          </a:p>
          <a:p>
            <a:pPr algn="l"/>
            <a:r>
              <a:rPr sz="900">
                <a:solidFill>
                  <a:srgbClr val="222222"/>
                </a:solidFill>
                <a:latin typeface="Consolas"/>
              </a:rPr>
              <a:t>}</a:t>
            </a:r>
          </a:p>
        </p:txBody>
      </p:sp>
    </p:spTree>
    <p:extLst>
      <p:ext uri="{BB962C8B-B14F-4D97-AF65-F5344CB8AC3E}">
        <p14:creationId xmlns:p14="http://schemas.microsoft.com/office/powerpoint/2010/main" val="139677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                   </a:t>
            </a:r>
            <a:br>
              <a:rPr lang="en-IN" dirty="0"/>
            </a:br>
            <a:r>
              <a:rPr lang="en-IN" dirty="0"/>
              <a:t>                   </a:t>
            </a:r>
            <a:endParaRPr dirty="0"/>
          </a:p>
        </p:txBody>
      </p:sp>
      <p:sp>
        <p:nvSpPr>
          <p:cNvPr id="6" name="TextBox 5"/>
          <p:cNvSpPr txBox="1"/>
          <p:nvPr/>
        </p:nvSpPr>
        <p:spPr>
          <a:xfrm>
            <a:off x="1508760" y="1417320"/>
            <a:ext cx="10363200" cy="384048"/>
          </a:xfrm>
          <a:prstGeom prst="rect">
            <a:avLst/>
          </a:prstGeom>
          <a:noFill/>
        </p:spPr>
        <p:txBody>
          <a:bodyPr wrap="square" anchor="t">
            <a:spAutoFit/>
          </a:bodyPr>
          <a:lstStyle/>
          <a:p>
            <a:r>
              <a:t>Module 4 – Object-Oriented Modelling, Design &amp; Exception Handling</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Classes and objects</a:t>
                      </a:r>
                    </a:p>
                  </a:txBody>
                  <a:tcPr marL="109728" marR="109728" anchor="ctr">
                    <a:solidFill>
                      <a:srgbClr val="FFFFFF"/>
                    </a:solidFill>
                  </a:tcPr>
                </a:tc>
                <a:tc>
                  <a:txBody>
                    <a:bodyPr/>
                    <a:lstStyle/>
                    <a:p>
                      <a:r>
                        <a:rPr sz="1000">
                          <a:latin typeface="Aptos"/>
                        </a:rPr>
                        <a:t>A Song class represents each song; each object stores its own details.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Fields, methods and constructors</a:t>
                      </a:r>
                    </a:p>
                  </a:txBody>
                  <a:tcPr marL="109728" marR="109728" anchor="ctr">
                    <a:solidFill>
                      <a:srgbClr val="F4F4F4"/>
                    </a:solidFill>
                  </a:tcPr>
                </a:tc>
                <a:tc>
                  <a:txBody>
                    <a:bodyPr/>
                    <a:lstStyle/>
                    <a:p>
                      <a:r>
                        <a:rPr sz="1000">
                          <a:latin typeface="Aptos"/>
                        </a:rPr>
                        <a:t>Fields store title, artist and plays; constructors initialise each Song object.</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Encapsulation</a:t>
                      </a:r>
                    </a:p>
                  </a:txBody>
                  <a:tcPr marL="109728" marR="109728" anchor="ctr">
                    <a:solidFill>
                      <a:srgbClr val="FFFFFF"/>
                    </a:solidFill>
                  </a:tcPr>
                </a:tc>
                <a:tc>
                  <a:txBody>
                    <a:bodyPr/>
                    <a:lstStyle/>
                    <a:p>
                      <a:r>
                        <a:rPr sz="1000">
                          <a:latin typeface="Aptos"/>
                        </a:rPr>
                        <a:t>Private fields and getter methods protect song data and control access.</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Relationships and toString()</a:t>
                      </a:r>
                    </a:p>
                  </a:txBody>
                  <a:tcPr marL="109728" marR="109728" anchor="ctr">
                    <a:solidFill>
                      <a:srgbClr val="F4F4F4"/>
                    </a:solidFill>
                  </a:tcPr>
                </a:tc>
                <a:tc>
                  <a:txBody>
                    <a:bodyPr/>
                    <a:lstStyle/>
                    <a:p>
                      <a:r>
                        <a:rPr sz="1000">
                          <a:latin typeface="Aptos"/>
                        </a:rPr>
                        <a:t>A Playlist has many Song objects; toString() displays song details clearly.</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Exceptions and validation</a:t>
                      </a:r>
                    </a:p>
                  </a:txBody>
                  <a:tcPr marL="109728" marR="109728" anchor="ctr">
                    <a:solidFill>
                      <a:srgbClr val="FFFFFF"/>
                    </a:solidFill>
                  </a:tcPr>
                </a:tc>
                <a:tc>
                  <a:txBody>
                    <a:bodyPr/>
                    <a:lstStyle/>
                    <a:p>
                      <a:r>
                        <a:rPr sz="1000">
                          <a:latin typeface="Aptos"/>
                        </a:rPr>
                        <a:t>Reject blank titles or negative play counts; catch invalid input and report errors safely.</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Inheritance and interfaces</a:t>
                      </a:r>
                    </a:p>
                  </a:txBody>
                  <a:tcPr marL="109728" marR="109728" anchor="ctr">
                    <a:solidFill>
                      <a:srgbClr val="F4F4F4"/>
                    </a:solidFill>
                  </a:tcPr>
                </a:tc>
                <a:tc>
                  <a:txBody>
                    <a:bodyPr/>
                    <a:lstStyle/>
                    <a:p>
                      <a:r>
                        <a:rPr sz="1000">
                          <a:latin typeface="Aptos"/>
                        </a:rPr>
                        <a:t>A common playable interface could be used if the project later supports different media types.</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66685138-7674-3DD0-49D7-FD55607E805C}"/>
              </a:ext>
            </a:extLst>
          </p:cNvPr>
          <p:cNvSpPr txBox="1"/>
          <p:nvPr/>
        </p:nvSpPr>
        <p:spPr>
          <a:xfrm>
            <a:off x="1855818" y="508300"/>
            <a:ext cx="6941127" cy="707886"/>
          </a:xfrm>
          <a:prstGeom prst="rect">
            <a:avLst/>
          </a:prstGeom>
          <a:noFill/>
        </p:spPr>
        <p:txBody>
          <a:bodyPr wrap="square">
            <a:spAutoFit/>
          </a:bodyPr>
          <a:lstStyle/>
          <a:p>
            <a:r>
              <a:rPr lang="en-IN" sz="4000" dirty="0"/>
              <a:t>CO 4 Topics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08760" y="1417320"/>
            <a:ext cx="10363200" cy="384048"/>
          </a:xfrm>
          <a:prstGeom prst="rect">
            <a:avLst/>
          </a:prstGeom>
          <a:noFill/>
        </p:spPr>
        <p:txBody>
          <a:bodyPr wrap="square" anchor="t">
            <a:spAutoFit/>
          </a:bodyPr>
          <a:lstStyle/>
          <a:p>
            <a:r>
              <a:t>Module 5 – Strings, Library Algorithms &amp; File I/O</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String operations</a:t>
                      </a:r>
                    </a:p>
                  </a:txBody>
                  <a:tcPr marL="109728" marR="109728" anchor="ctr">
                    <a:solidFill>
                      <a:srgbClr val="FFFFFF"/>
                    </a:solidFill>
                  </a:tcPr>
                </a:tc>
                <a:tc>
                  <a:txBody>
                    <a:bodyPr/>
                    <a:lstStyle/>
                    <a:p>
                      <a:r>
                        <a:rPr sz="1000">
                          <a:latin typeface="Aptos"/>
                        </a:rPr>
                        <a:t>Use length(), substring(), contains() and case conversion to work with song titles.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equals() vs == / StringBuilder</a:t>
                      </a:r>
                    </a:p>
                  </a:txBody>
                  <a:tcPr marL="109728" marR="109728" anchor="ctr">
                    <a:solidFill>
                      <a:srgbClr val="F4F4F4"/>
                    </a:solidFill>
                  </a:tcPr>
                </a:tc>
                <a:tc>
                  <a:txBody>
                    <a:bodyPr/>
                    <a:lstStyle/>
                    <a:p>
                      <a:r>
                        <a:rPr sz="1000">
                          <a:latin typeface="Aptos"/>
                        </a:rPr>
                        <a:t>Use equalsIgnoreCase() to compare text values; StringBuilder can build reports.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Split, trim and validation</a:t>
                      </a:r>
                    </a:p>
                  </a:txBody>
                  <a:tcPr marL="109728" marR="109728" anchor="ctr">
                    <a:solidFill>
                      <a:srgbClr val="FFFFFF"/>
                    </a:solidFill>
                  </a:tcPr>
                </a:tc>
                <a:tc>
                  <a:txBody>
                    <a:bodyPr/>
                    <a:lstStyle/>
                    <a:p>
                      <a:r>
                        <a:rPr sz="1000">
                          <a:latin typeface="Aptos"/>
                        </a:rPr>
                        <a:t>Trim text and split delimited records into title, artist and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Library sorting and searching</a:t>
                      </a:r>
                    </a:p>
                  </a:txBody>
                  <a:tcPr marL="109728" marR="109728" anchor="ctr">
                    <a:solidFill>
                      <a:srgbClr val="F4F4F4"/>
                    </a:solidFill>
                  </a:tcPr>
                </a:tc>
                <a:tc>
                  <a:txBody>
                    <a:bodyPr/>
                    <a:lstStyle/>
                    <a:p>
                      <a:r>
                        <a:rPr sz="1000">
                          <a:latin typeface="Aptos"/>
                        </a:rPr>
                        <a:t>Sort songs with list.sort() / Collections.sort(); use binary search only on sorted data.</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File I/O and persistence</a:t>
                      </a:r>
                    </a:p>
                  </a:txBody>
                  <a:tcPr marL="109728" marR="109728" anchor="ctr">
                    <a:solidFill>
                      <a:srgbClr val="FFFFFF"/>
                    </a:solidFill>
                  </a:tcPr>
                </a:tc>
                <a:tc>
                  <a:txBody>
                    <a:bodyPr/>
                    <a:lstStyle/>
                    <a:p>
                      <a:r>
                        <a:rPr sz="1000">
                          <a:latin typeface="Aptos"/>
                        </a:rPr>
                        <a:t>Use Path and Files to save playlist.txt and load records on the next run.</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File exceptions</a:t>
                      </a:r>
                    </a:p>
                  </a:txBody>
                  <a:tcPr marL="109728" marR="109728" anchor="ctr">
                    <a:solidFill>
                      <a:srgbClr val="F4F4F4"/>
                    </a:solidFill>
                  </a:tcPr>
                </a:tc>
                <a:tc>
                  <a:txBody>
                    <a:bodyPr/>
                    <a:lstStyle/>
                    <a:p>
                      <a:r>
                        <a:rPr sz="1000">
                          <a:latin typeface="Aptos"/>
                        </a:rPr>
                        <a:t>Handle missing files and malformed records; try-with-resources closes readers automatically.</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0F68C69E-2471-5003-EB93-FFE84C747B1F}"/>
              </a:ext>
            </a:extLst>
          </p:cNvPr>
          <p:cNvSpPr txBox="1"/>
          <p:nvPr/>
        </p:nvSpPr>
        <p:spPr>
          <a:xfrm>
            <a:off x="1809751" y="666750"/>
            <a:ext cx="7105650" cy="707886"/>
          </a:xfrm>
          <a:prstGeom prst="rect">
            <a:avLst/>
          </a:prstGeom>
          <a:noFill/>
        </p:spPr>
        <p:txBody>
          <a:bodyPr wrap="square">
            <a:spAutoFit/>
          </a:bodyPr>
          <a:lstStyle/>
          <a:p>
            <a:r>
              <a:rPr lang="en-IN" sz="4000" dirty="0"/>
              <a:t>CO 5 Topics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                     </a:t>
            </a:r>
            <a:br>
              <a:rPr lang="en-IN" dirty="0"/>
            </a:br>
            <a:r>
              <a:rPr lang="en-IN" dirty="0"/>
              <a:t>                   </a:t>
            </a:r>
            <a:endParaRPr dirty="0"/>
          </a:p>
        </p:txBody>
      </p:sp>
      <p:sp>
        <p:nvSpPr>
          <p:cNvPr id="6" name="TextBox 5"/>
          <p:cNvSpPr txBox="1"/>
          <p:nvPr/>
        </p:nvSpPr>
        <p:spPr>
          <a:xfrm>
            <a:off x="1508760" y="1417320"/>
            <a:ext cx="10363200" cy="384048"/>
          </a:xfrm>
          <a:prstGeom prst="rect">
            <a:avLst/>
          </a:prstGeom>
          <a:noFill/>
        </p:spPr>
        <p:txBody>
          <a:bodyPr wrap="square" anchor="t">
            <a:spAutoFit/>
          </a:bodyPr>
          <a:lstStyle/>
          <a:p>
            <a:r>
              <a:t>Module 6 – Functional Programming with Collections &amp; Streams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Collections and generics</a:t>
                      </a:r>
                    </a:p>
                  </a:txBody>
                  <a:tcPr marL="109728" marR="109728" anchor="ctr">
                    <a:solidFill>
                      <a:srgbClr val="FFFFFF"/>
                    </a:solidFill>
                  </a:tcPr>
                </a:tc>
                <a:tc>
                  <a:txBody>
                    <a:bodyPr/>
                    <a:lstStyle/>
                    <a:p>
                      <a:r>
                        <a:rPr sz="1000">
                          <a:latin typeface="Aptos"/>
                        </a:rPr>
                        <a:t>Use ArrayList&lt;Song&gt; for a flexible playlist and HashMap&lt;String, Integer&gt; for play counts.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Set, Map and iteration</a:t>
                      </a:r>
                    </a:p>
                  </a:txBody>
                  <a:tcPr marL="109728" marR="109728" anchor="ctr">
                    <a:solidFill>
                      <a:srgbClr val="F4F4F4"/>
                    </a:solidFill>
                  </a:tcPr>
                </a:tc>
                <a:tc>
                  <a:txBody>
                    <a:bodyPr/>
                    <a:lstStyle/>
                    <a:p>
                      <a:r>
                        <a:rPr sz="1000">
                          <a:latin typeface="Aptos"/>
                        </a:rPr>
                        <a:t>Use a Set to track unique titles; use for-each loops to display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Lambdas and functional interfaces</a:t>
                      </a:r>
                    </a:p>
                  </a:txBody>
                  <a:tcPr marL="109728" marR="109728" anchor="ctr">
                    <a:solidFill>
                      <a:srgbClr val="FFFFFF"/>
                    </a:solidFill>
                  </a:tcPr>
                </a:tc>
                <a:tc>
                  <a:txBody>
                    <a:bodyPr/>
                    <a:lstStyle/>
                    <a:p>
                      <a:r>
                        <a:rPr sz="1000">
                          <a:latin typeface="Aptos"/>
                        </a:rPr>
                        <a:t>Use a Comparator or lambda to define how songs are ordered.</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Stream pipelines</a:t>
                      </a:r>
                    </a:p>
                  </a:txBody>
                  <a:tcPr marL="109728" marR="109728" anchor="ctr">
                    <a:solidFill>
                      <a:srgbClr val="F4F4F4"/>
                    </a:solidFill>
                  </a:tcPr>
                </a:tc>
                <a:tc>
                  <a:txBody>
                    <a:bodyPr/>
                    <a:lstStyle/>
                    <a:p>
                      <a:r>
                        <a:rPr sz="1000">
                          <a:latin typeface="Aptos"/>
                        </a:rPr>
                        <a:t>Filter popular songs, map titles, sort results and count songs using streams.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Collectors and Optional</a:t>
                      </a:r>
                    </a:p>
                  </a:txBody>
                  <a:tcPr marL="109728" marR="109728" anchor="ctr">
                    <a:solidFill>
                      <a:srgbClr val="FFFFFF"/>
                    </a:solidFill>
                  </a:tcPr>
                </a:tc>
                <a:tc>
                  <a:txBody>
                    <a:bodyPr/>
                    <a:lstStyle/>
                    <a:p>
                      <a:r>
                        <a:rPr sz="1000">
                          <a:latin typeface="Aptos"/>
                        </a:rPr>
                        <a:t>Use groupingBy() for artist summaries and Optional for searches that may find no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Imperative vs functional</a:t>
                      </a:r>
                    </a:p>
                  </a:txBody>
                  <a:tcPr marL="109728" marR="109728" anchor="ctr">
                    <a:solidFill>
                      <a:srgbClr val="F4F4F4"/>
                    </a:solidFill>
                  </a:tcPr>
                </a:tc>
                <a:tc>
                  <a:txBody>
                    <a:bodyPr/>
                    <a:lstStyle/>
                    <a:p>
                      <a:r>
                        <a:rPr sz="1000">
                          <a:latin typeface="Aptos"/>
                        </a:rPr>
                        <a:t>A stream pipeline can express filtering and statistics more directly than a manual loop.</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C331C984-A616-40F0-8EBE-DD18872EE394}"/>
              </a:ext>
            </a:extLst>
          </p:cNvPr>
          <p:cNvSpPr txBox="1"/>
          <p:nvPr/>
        </p:nvSpPr>
        <p:spPr>
          <a:xfrm>
            <a:off x="1981633" y="352424"/>
            <a:ext cx="6676159" cy="707886"/>
          </a:xfrm>
          <a:prstGeom prst="rect">
            <a:avLst/>
          </a:prstGeom>
          <a:noFill/>
        </p:spPr>
        <p:txBody>
          <a:bodyPr wrap="square">
            <a:spAutoFit/>
          </a:bodyPr>
          <a:lstStyle/>
          <a:p>
            <a:r>
              <a:rPr lang="en-IN" sz="4000" dirty="0"/>
              <a:t>CO 6 Topics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CO1-CO4: Imports, Song class and validation</a:t>
            </a:r>
          </a:p>
          <a:p>
            <a:pPr>
              <a:spcBef>
                <a:spcPts val="0"/>
              </a:spcBef>
              <a:spcAft>
                <a:spcPts val="0"/>
              </a:spcAft>
            </a:pPr>
            <a:r>
              <a:rPr sz="800">
                <a:solidFill>
                  <a:srgbClr val="191919"/>
                </a:solidFill>
                <a:latin typeface="Consolas"/>
              </a:rPr>
              <a:t>import java.util.*;</a:t>
            </a:r>
          </a:p>
          <a:p>
            <a:pPr>
              <a:spcBef>
                <a:spcPts val="0"/>
              </a:spcBef>
              <a:spcAft>
                <a:spcPts val="0"/>
              </a:spcAft>
            </a:pPr>
            <a:r>
              <a:rPr sz="800">
                <a:solidFill>
                  <a:srgbClr val="191919"/>
                </a:solidFill>
                <a:latin typeface="Consolas"/>
              </a:rPr>
              <a:t>import java.nio.file.*;</a:t>
            </a:r>
          </a:p>
          <a:p>
            <a:pPr>
              <a:spcBef>
                <a:spcPts val="0"/>
              </a:spcBef>
              <a:spcAft>
                <a:spcPts val="0"/>
              </a:spcAft>
            </a:pPr>
            <a:r>
              <a:rPr sz="800">
                <a:solidFill>
                  <a:srgbClr val="191919"/>
                </a:solidFill>
                <a:latin typeface="Consolas"/>
              </a:rPr>
              <a:t>import java.io.*;</a:t>
            </a:r>
          </a:p>
          <a:p>
            <a:pPr>
              <a:spcBef>
                <a:spcPts val="0"/>
              </a:spcBef>
              <a:spcAft>
                <a:spcPts val="0"/>
              </a:spcAft>
            </a:pPr>
            <a:r>
              <a:rPr sz="800">
                <a:solidFill>
                  <a:srgbClr val="191919"/>
                </a:solidFill>
                <a:latin typeface="Consolas"/>
              </a:rPr>
              <a:t>import java.util.stream.*;</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public class MusicPlaylist {</a:t>
            </a:r>
          </a:p>
          <a:p>
            <a:pPr>
              <a:spcBef>
                <a:spcPts val="0"/>
              </a:spcBef>
              <a:spcAft>
                <a:spcPts val="0"/>
              </a:spcAft>
            </a:pPr>
            <a:r>
              <a:rPr sz="800">
                <a:solidFill>
                  <a:srgbClr val="191919"/>
                </a:solidFill>
                <a:latin typeface="Consolas"/>
              </a:rPr>
              <a:t>    static class Song {</a:t>
            </a:r>
          </a:p>
          <a:p>
            <a:pPr>
              <a:spcBef>
                <a:spcPts val="0"/>
              </a:spcBef>
              <a:spcAft>
                <a:spcPts val="0"/>
              </a:spcAft>
            </a:pPr>
            <a:r>
              <a:rPr sz="800">
                <a:solidFill>
                  <a:srgbClr val="191919"/>
                </a:solidFill>
                <a:latin typeface="Consolas"/>
              </a:rPr>
              <a:t>        private String title, artist;</a:t>
            </a:r>
          </a:p>
          <a:p>
            <a:pPr>
              <a:spcBef>
                <a:spcPts val="0"/>
              </a:spcBef>
              <a:spcAft>
                <a:spcPts val="0"/>
              </a:spcAft>
            </a:pPr>
            <a:r>
              <a:rPr sz="800">
                <a:solidFill>
                  <a:srgbClr val="191919"/>
                </a:solidFill>
                <a:latin typeface="Consolas"/>
              </a:rPr>
              <a:t>        private int plays;</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Song(String title, String artist, int plays) {</a:t>
            </a:r>
          </a:p>
          <a:p>
            <a:pPr>
              <a:spcBef>
                <a:spcPts val="0"/>
              </a:spcBef>
              <a:spcAft>
                <a:spcPts val="0"/>
              </a:spcAft>
            </a:pPr>
            <a:r>
              <a:rPr sz="800">
                <a:solidFill>
                  <a:srgbClr val="191919"/>
                </a:solidFill>
                <a:latin typeface="Consolas"/>
              </a:rPr>
              <a:t>            if (title == null || title.trim().isEmpty()</a:t>
            </a:r>
          </a:p>
          <a:p>
            <a:pPr>
              <a:spcBef>
                <a:spcPts val="0"/>
              </a:spcBef>
              <a:spcAft>
                <a:spcPts val="0"/>
              </a:spcAft>
            </a:pPr>
            <a:r>
              <a:rPr sz="800">
                <a:solidFill>
                  <a:srgbClr val="191919"/>
                </a:solidFill>
                <a:latin typeface="Consolas"/>
              </a:rPr>
              <a:t>                    || artist == null || artist.trim().isEmpty()</a:t>
            </a:r>
          </a:p>
          <a:p>
            <a:pPr>
              <a:spcBef>
                <a:spcPts val="0"/>
              </a:spcBef>
              <a:spcAft>
                <a:spcPts val="0"/>
              </a:spcAft>
            </a:pPr>
            <a:r>
              <a:rPr sz="800">
                <a:solidFill>
                  <a:srgbClr val="191919"/>
                </a:solidFill>
                <a:latin typeface="Consolas"/>
              </a:rPr>
              <a:t>                    || plays &lt; 0)</a:t>
            </a:r>
          </a:p>
          <a:p>
            <a:pPr>
              <a:spcBef>
                <a:spcPts val="0"/>
              </a:spcBef>
              <a:spcAft>
                <a:spcPts val="0"/>
              </a:spcAft>
            </a:pPr>
            <a:r>
              <a:rPr sz="800">
                <a:solidFill>
                  <a:srgbClr val="191919"/>
                </a:solidFill>
                <a:latin typeface="Consolas"/>
              </a:rPr>
              <a:t>                throw new IllegalArgumentException("Invalid song details");</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this.title = title.trim();</a:t>
            </a:r>
          </a:p>
          <a:p>
            <a:pPr>
              <a:spcBef>
                <a:spcPts val="0"/>
              </a:spcBef>
              <a:spcAft>
                <a:spcPts val="0"/>
              </a:spcAft>
            </a:pPr>
            <a:r>
              <a:rPr sz="800">
                <a:solidFill>
                  <a:srgbClr val="191919"/>
                </a:solidFill>
                <a:latin typeface="Consolas"/>
              </a:rPr>
              <a:t>            this.artist = artist.trim();</a:t>
            </a:r>
          </a:p>
          <a:p>
            <a:pPr>
              <a:spcBef>
                <a:spcPts val="0"/>
              </a:spcBef>
              <a:spcAft>
                <a:spcPts val="0"/>
              </a:spcAft>
            </a:pPr>
            <a:r>
              <a:rPr sz="800">
                <a:solidFill>
                  <a:srgbClr val="191919"/>
                </a:solidFill>
                <a:latin typeface="Consolas"/>
              </a:rPr>
              <a:t>            this.plays = plays;</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String getTitle() { return title; }</a:t>
            </a:r>
          </a:p>
          <a:p>
            <a:pPr>
              <a:spcBef>
                <a:spcPts val="0"/>
              </a:spcBef>
              <a:spcAft>
                <a:spcPts val="0"/>
              </a:spcAft>
            </a:pPr>
            <a:r>
              <a:rPr sz="800">
                <a:solidFill>
                  <a:srgbClr val="191919"/>
                </a:solidFill>
                <a:latin typeface="Consolas"/>
              </a:rPr>
              <a:t>        String getArtist() { return artist; }</a:t>
            </a:r>
          </a:p>
          <a:p>
            <a:pPr>
              <a:spcBef>
                <a:spcPts val="0"/>
              </a:spcBef>
              <a:spcAft>
                <a:spcPts val="0"/>
              </a:spcAft>
            </a:pPr>
            <a:r>
              <a:rPr sz="800">
                <a:solidFill>
                  <a:srgbClr val="191919"/>
                </a:solidFill>
                <a:latin typeface="Consolas"/>
              </a:rPr>
              <a:t>        int getPlays() { return plays; }</a:t>
            </a:r>
          </a:p>
          <a:p>
            <a:pPr>
              <a:spcBef>
                <a:spcPts val="0"/>
              </a:spcBef>
              <a:spcAft>
                <a:spcPts val="0"/>
              </a:spcAft>
            </a:pPr>
            <a:r>
              <a:rPr sz="800">
                <a:solidFill>
                  <a:srgbClr val="191919"/>
                </a:solidFill>
                <a:latin typeface="Consolas"/>
              </a:rPr>
              <a:t>        @Override</a:t>
            </a:r>
          </a:p>
          <a:p>
            <a:pPr>
              <a:spcBef>
                <a:spcPts val="0"/>
              </a:spcBef>
              <a:spcAft>
                <a:spcPts val="0"/>
              </a:spcAft>
            </a:pPr>
            <a:r>
              <a:rPr sz="800">
                <a:solidFill>
                  <a:srgbClr val="191919"/>
                </a:solidFill>
                <a:latin typeface="Consolas"/>
              </a:rPr>
              <a:t>        public String toString() {</a:t>
            </a:r>
          </a:p>
          <a:p>
            <a:pPr>
              <a:spcBef>
                <a:spcPts val="0"/>
              </a:spcBef>
              <a:spcAft>
                <a:spcPts val="0"/>
              </a:spcAft>
            </a:pPr>
            <a:r>
              <a:rPr sz="800">
                <a:solidFill>
                  <a:srgbClr val="191919"/>
                </a:solidFill>
                <a:latin typeface="Consolas"/>
              </a:rPr>
              <a:t>            return title + "|" + artist + "|" + plays;</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public static void main(String[] args) {</a:t>
            </a:r>
          </a:p>
          <a:p>
            <a:pPr>
              <a:spcBef>
                <a:spcPts val="0"/>
              </a:spcBef>
              <a:spcAft>
                <a:spcPts val="0"/>
              </a:spcAft>
            </a:pPr>
            <a:r>
              <a:rPr sz="800">
                <a:solidFill>
                  <a:srgbClr val="191919"/>
                </a:solidFill>
                <a:latin typeface="Consolas"/>
              </a:rPr>
              <a:t>        Scanner sc = new Scanner(System.in);</a:t>
            </a:r>
          </a:p>
          <a:p>
            <a:pPr>
              <a:spcBef>
                <a:spcPts val="0"/>
              </a:spcBef>
              <a:spcAft>
                <a:spcPts val="0"/>
              </a:spcAft>
            </a:pPr>
            <a:r>
              <a:rPr sz="800">
                <a:solidFill>
                  <a:srgbClr val="191919"/>
                </a:solidFill>
                <a:latin typeface="Consolas"/>
              </a:rPr>
              <a:t>        List&lt;Song&gt; playlist = new ArrayList&lt;&gt;();</a:t>
            </a:r>
          </a:p>
        </p:txBody>
      </p:sp>
      <p:sp>
        <p:nvSpPr>
          <p:cNvPr id="4" name="TextBox 3">
            <a:extLst>
              <a:ext uri="{FF2B5EF4-FFF2-40B4-BE49-F238E27FC236}">
                <a16:creationId xmlns:a16="http://schemas.microsoft.com/office/drawing/2014/main" id="{C0349E93-6C0B-DFDC-49D2-607F25D3E237}"/>
              </a:ext>
            </a:extLst>
          </p:cNvPr>
          <p:cNvSpPr txBox="1"/>
          <p:nvPr/>
        </p:nvSpPr>
        <p:spPr>
          <a:xfrm>
            <a:off x="1724025" y="552450"/>
            <a:ext cx="7362825" cy="646331"/>
          </a:xfrm>
          <a:prstGeom prst="rect">
            <a:avLst/>
          </a:prstGeom>
          <a:noFill/>
        </p:spPr>
        <p:txBody>
          <a:bodyPr wrap="square">
            <a:spAutoFit/>
          </a:bodyPr>
          <a:lstStyle/>
          <a:p>
            <a:r>
              <a:rPr lang="en-IN" sz="3600" dirty="0"/>
              <a:t>Full Program – CO1 to CO6 (Part 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 CO1-CO3: Read five songs using a loop</a:t>
            </a:r>
          </a:p>
          <a:p>
            <a:pPr>
              <a:spcBef>
                <a:spcPts val="0"/>
              </a:spcBef>
              <a:spcAft>
                <a:spcPts val="0"/>
              </a:spcAft>
            </a:pPr>
            <a:r>
              <a:rPr sz="800">
                <a:solidFill>
                  <a:srgbClr val="191919"/>
                </a:solidFill>
                <a:latin typeface="Consolas"/>
              </a:rPr>
              <a:t>        for (int i = 0; i &lt; 5; i++)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System.out.print("Song title: ");</a:t>
            </a:r>
          </a:p>
          <a:p>
            <a:pPr>
              <a:spcBef>
                <a:spcPts val="0"/>
              </a:spcBef>
              <a:spcAft>
                <a:spcPts val="0"/>
              </a:spcAft>
            </a:pPr>
            <a:r>
              <a:rPr sz="800">
                <a:solidFill>
                  <a:srgbClr val="191919"/>
                </a:solidFill>
                <a:latin typeface="Consolas"/>
              </a:rPr>
              <a:t>                String title = sc.nextLine();</a:t>
            </a:r>
          </a:p>
          <a:p>
            <a:pPr>
              <a:spcBef>
                <a:spcPts val="0"/>
              </a:spcBef>
              <a:spcAft>
                <a:spcPts val="0"/>
              </a:spcAft>
            </a:pPr>
            <a:r>
              <a:rPr sz="800">
                <a:solidFill>
                  <a:srgbClr val="191919"/>
                </a:solidFill>
                <a:latin typeface="Consolas"/>
              </a:rPr>
              <a:t>                System.out.print("Artist: ");</a:t>
            </a:r>
          </a:p>
          <a:p>
            <a:pPr>
              <a:spcBef>
                <a:spcPts val="0"/>
              </a:spcBef>
              <a:spcAft>
                <a:spcPts val="0"/>
              </a:spcAft>
            </a:pPr>
            <a:r>
              <a:rPr sz="800">
                <a:solidFill>
                  <a:srgbClr val="191919"/>
                </a:solidFill>
                <a:latin typeface="Consolas"/>
              </a:rPr>
              <a:t>                String artist = sc.nextLine();</a:t>
            </a:r>
          </a:p>
          <a:p>
            <a:pPr>
              <a:spcBef>
                <a:spcPts val="0"/>
              </a:spcBef>
              <a:spcAft>
                <a:spcPts val="0"/>
              </a:spcAft>
            </a:pPr>
            <a:r>
              <a:rPr sz="800">
                <a:solidFill>
                  <a:srgbClr val="191919"/>
                </a:solidFill>
                <a:latin typeface="Consolas"/>
              </a:rPr>
              <a:t>                System.out.print("Number of plays: ");</a:t>
            </a:r>
          </a:p>
          <a:p>
            <a:pPr>
              <a:spcBef>
                <a:spcPts val="0"/>
              </a:spcBef>
              <a:spcAft>
                <a:spcPts val="0"/>
              </a:spcAft>
            </a:pPr>
            <a:r>
              <a:rPr sz="800">
                <a:solidFill>
                  <a:srgbClr val="191919"/>
                </a:solidFill>
                <a:latin typeface="Consolas"/>
              </a:rPr>
              <a:t>                int plays = Integer.parseInt(sc.nextLine().trim());</a:t>
            </a:r>
          </a:p>
          <a:p>
            <a:pPr>
              <a:spcBef>
                <a:spcPts val="0"/>
              </a:spcBef>
              <a:spcAft>
                <a:spcPts val="0"/>
              </a:spcAft>
            </a:pPr>
            <a:r>
              <a:rPr sz="800">
                <a:solidFill>
                  <a:srgbClr val="191919"/>
                </a:solidFill>
                <a:latin typeface="Consolas"/>
              </a:rPr>
              <a:t>                playlist.add(new Song(title, artist, plays));</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System.out.println("Invalid input. Song skipped.");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 CO5: Load saved records from playlist.txt</a:t>
            </a:r>
          </a:p>
          <a:p>
            <a:pPr>
              <a:spcBef>
                <a:spcPts val="0"/>
              </a:spcBef>
              <a:spcAft>
                <a:spcPts val="0"/>
              </a:spcAft>
            </a:pPr>
            <a:r>
              <a:rPr sz="800">
                <a:solidFill>
                  <a:srgbClr val="191919"/>
                </a:solidFill>
                <a:latin typeface="Consolas"/>
              </a:rPr>
              <a:t>        Path file = Paths.get("playlist.txt");</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if (Files.exists(file)) {</a:t>
            </a:r>
          </a:p>
          <a:p>
            <a:pPr>
              <a:spcBef>
                <a:spcPts val="0"/>
              </a:spcBef>
              <a:spcAft>
                <a:spcPts val="0"/>
              </a:spcAft>
            </a:pPr>
            <a:r>
              <a:rPr sz="800">
                <a:solidFill>
                  <a:srgbClr val="191919"/>
                </a:solidFill>
                <a:latin typeface="Consolas"/>
              </a:rPr>
              <a:t>                for (String line : Files.readAllLines(file))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String[] data = line.split("\\|");</a:t>
            </a:r>
          </a:p>
          <a:p>
            <a:pPr>
              <a:spcBef>
                <a:spcPts val="0"/>
              </a:spcBef>
              <a:spcAft>
                <a:spcPts val="0"/>
              </a:spcAft>
            </a:pPr>
            <a:r>
              <a:rPr sz="800">
                <a:solidFill>
                  <a:srgbClr val="191919"/>
                </a:solidFill>
                <a:latin typeface="Consolas"/>
              </a:rPr>
              <a:t>                    if (data.length == 3)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playlist.add(new Song(data[0], data[1],</a:t>
            </a:r>
          </a:p>
          <a:p>
            <a:pPr>
              <a:spcBef>
                <a:spcPts val="0"/>
              </a:spcBef>
              <a:spcAft>
                <a:spcPts val="0"/>
              </a:spcAft>
            </a:pPr>
            <a:r>
              <a:rPr sz="800">
                <a:solidFill>
                  <a:srgbClr val="191919"/>
                </a:solidFill>
                <a:latin typeface="Consolas"/>
              </a:rPr>
              <a:t>                                Integer.parseInt(data[2].trim())));</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System.out.println("Skipped malformed record.");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 catch (IOException e) {</a:t>
            </a:r>
          </a:p>
          <a:p>
            <a:pPr>
              <a:spcBef>
                <a:spcPts val="0"/>
              </a:spcBef>
              <a:spcAft>
                <a:spcPts val="0"/>
              </a:spcAft>
            </a:pPr>
            <a:r>
              <a:rPr sz="800">
                <a:solidFill>
                  <a:srgbClr val="191919"/>
                </a:solidFill>
                <a:latin typeface="Consolas"/>
              </a:rPr>
              <a:t>            System.out.println("Could not read saved playlist.");</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int total = 0;</a:t>
            </a:r>
          </a:p>
          <a:p>
            <a:pPr>
              <a:spcBef>
                <a:spcPts val="0"/>
              </a:spcBef>
              <a:spcAft>
                <a:spcPts val="0"/>
              </a:spcAft>
            </a:pPr>
            <a:r>
              <a:rPr sz="800">
                <a:solidFill>
                  <a:srgbClr val="191919"/>
                </a:solidFill>
                <a:latin typeface="Consolas"/>
              </a:rPr>
              <a:t>        for (Song song : playlist) {</a:t>
            </a:r>
          </a:p>
          <a:p>
            <a:pPr>
              <a:spcBef>
                <a:spcPts val="0"/>
              </a:spcBef>
              <a:spcAft>
                <a:spcPts val="0"/>
              </a:spcAft>
            </a:pPr>
            <a:r>
              <a:rPr sz="800">
                <a:solidFill>
                  <a:srgbClr val="191919"/>
                </a:solidFill>
                <a:latin typeface="Consolas"/>
              </a:rPr>
              <a:t>            System.out.println(song.getTitle() + " - "</a:t>
            </a:r>
          </a:p>
          <a:p>
            <a:pPr>
              <a:spcBef>
                <a:spcPts val="0"/>
              </a:spcBef>
              <a:spcAft>
                <a:spcPts val="0"/>
              </a:spcAft>
            </a:pPr>
            <a:r>
              <a:rPr sz="800">
                <a:solidFill>
                  <a:srgbClr val="191919"/>
                </a:solidFill>
                <a:latin typeface="Consolas"/>
              </a:rPr>
              <a:t>                + song.getPlays() + " plays");</a:t>
            </a:r>
          </a:p>
          <a:p>
            <a:pPr>
              <a:spcBef>
                <a:spcPts val="0"/>
              </a:spcBef>
              <a:spcAft>
                <a:spcPts val="0"/>
              </a:spcAft>
            </a:pPr>
            <a:r>
              <a:rPr sz="800">
                <a:solidFill>
                  <a:srgbClr val="191919"/>
                </a:solidFill>
                <a:latin typeface="Consolas"/>
              </a:rPr>
              <a:t>            total += song.getPlays();</a:t>
            </a:r>
          </a:p>
          <a:p>
            <a:pPr>
              <a:spcBef>
                <a:spcPts val="0"/>
              </a:spcBef>
              <a:spcAft>
                <a:spcPts val="0"/>
              </a:spcAft>
            </a:pPr>
            <a:r>
              <a:rPr sz="800">
                <a:solidFill>
                  <a:srgbClr val="191919"/>
                </a:solidFill>
                <a:latin typeface="Consolas"/>
              </a:rPr>
              <a:t>        }</a:t>
            </a:r>
          </a:p>
        </p:txBody>
      </p:sp>
      <p:sp>
        <p:nvSpPr>
          <p:cNvPr id="4" name="TextBox 3">
            <a:extLst>
              <a:ext uri="{FF2B5EF4-FFF2-40B4-BE49-F238E27FC236}">
                <a16:creationId xmlns:a16="http://schemas.microsoft.com/office/drawing/2014/main" id="{CFEB0C85-465D-8845-5716-B85E2945D78A}"/>
              </a:ext>
            </a:extLst>
          </p:cNvPr>
          <p:cNvSpPr txBox="1"/>
          <p:nvPr/>
        </p:nvSpPr>
        <p:spPr>
          <a:xfrm>
            <a:off x="1504950" y="371475"/>
            <a:ext cx="7639050" cy="646331"/>
          </a:xfrm>
          <a:prstGeom prst="rect">
            <a:avLst/>
          </a:prstGeom>
          <a:noFill/>
        </p:spPr>
        <p:txBody>
          <a:bodyPr wrap="square">
            <a:spAutoFit/>
          </a:bodyPr>
          <a:lstStyle/>
          <a:p>
            <a:r>
              <a:rPr lang="en-IN" sz="3600" dirty="0"/>
              <a:t>Full Program – CO1 to CO6 (Part 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lang="en-IN" sz="800" dirty="0">
                <a:solidFill>
                  <a:srgbClr val="191919"/>
                </a:solidFill>
                <a:latin typeface="Consolas"/>
              </a:rPr>
              <a:t>// C06: Sort songs by play count, highest first</a:t>
            </a:r>
          </a:p>
          <a:p>
            <a:pPr>
              <a:spcBef>
                <a:spcPts val="0"/>
              </a:spcBef>
              <a:spcAft>
                <a:spcPts val="0"/>
              </a:spcAft>
            </a:pPr>
            <a:r>
              <a:rPr lang="en-IN" sz="800" dirty="0">
                <a:solidFill>
                  <a:srgbClr val="191919"/>
                </a:solidFill>
                <a:latin typeface="Consolas"/>
              </a:rPr>
              <a:t>playlist.sort(Comparator.comparingInt(Song::getPlays).reversed());</a:t>
            </a:r>
          </a:p>
          <a:p>
            <a:pPr>
              <a:spcBef>
                <a:spcPts val="0"/>
              </a:spcBef>
              <a:spcAft>
                <a:spcPts val="0"/>
              </a:spcAft>
            </a:pPr>
            <a:r>
              <a:rPr lang="en-IN" sz="800" dirty="0">
                <a:solidFill>
                  <a:srgbClr val="191919"/>
                </a:solidFill>
                <a:latin typeface="Consolas"/>
              </a:rPr>
              <a:t>System.out.println("\nMost played songs first:");</a:t>
            </a:r>
          </a:p>
          <a:p>
            <a:pPr>
              <a:spcBef>
                <a:spcPts val="0"/>
              </a:spcBef>
              <a:spcAft>
                <a:spcPts val="0"/>
              </a:spcAft>
            </a:pPr>
            <a:r>
              <a:rPr lang="en-IN" sz="800" dirty="0">
                <a:solidFill>
                  <a:srgbClr val="191919"/>
                </a:solidFill>
                <a:latin typeface="Consolas"/>
              </a:rPr>
              <a:t>playlist.forEach(System.out::println);</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long popular Count = playlist. Stream()</a:t>
            </a:r>
          </a:p>
          <a:p>
            <a:pPr>
              <a:spcBef>
                <a:spcPts val="0"/>
              </a:spcBef>
              <a:spcAft>
                <a:spcPts val="0"/>
              </a:spcAft>
            </a:pPr>
            <a:r>
              <a:rPr lang="en-IN" sz="800" dirty="0">
                <a:solidFill>
                  <a:srgbClr val="191919"/>
                </a:solidFill>
                <a:latin typeface="Consolas"/>
              </a:rPr>
              <a:t>    .filter(song -&gt; song.getPlays() &gt;= 10)</a:t>
            </a:r>
          </a:p>
          <a:p>
            <a:pPr>
              <a:spcBef>
                <a:spcPts val="0"/>
              </a:spcBef>
              <a:spcAft>
                <a:spcPts val="0"/>
              </a:spcAft>
            </a:pPr>
            <a:r>
              <a:rPr lang="en-IN" sz="800" dirty="0">
                <a:solidFill>
                  <a:srgbClr val="191919"/>
                </a:solidFill>
                <a:latin typeface="Consolas"/>
              </a:rPr>
              <a:t>    .count();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Ensure 'total' is computed if not already defined:</a:t>
            </a:r>
          </a:p>
          <a:p>
            <a:pPr>
              <a:spcBef>
                <a:spcPts val="0"/>
              </a:spcBef>
              <a:spcAft>
                <a:spcPts val="0"/>
              </a:spcAft>
            </a:pPr>
            <a:r>
              <a:rPr lang="en-IN" sz="800" dirty="0">
                <a:solidFill>
                  <a:srgbClr val="191919"/>
                </a:solidFill>
                <a:latin typeface="Consolas"/>
              </a:rPr>
              <a:t>int total = playlist. Stream().mapToInt(Song::getPlays).sum();</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double average = playlist.isEmpty()</a:t>
            </a:r>
          </a:p>
          <a:p>
            <a:pPr>
              <a:spcBef>
                <a:spcPts val="0"/>
              </a:spcBef>
              <a:spcAft>
                <a:spcPts val="0"/>
              </a:spcAft>
            </a:pPr>
            <a:r>
              <a:rPr lang="en-IN" sz="800" dirty="0">
                <a:solidFill>
                  <a:srgbClr val="191919"/>
                </a:solidFill>
                <a:latin typeface="Consolas"/>
              </a:rPr>
              <a:t>    ? 0.0 : (double) total / playlist.size();</a:t>
            </a:r>
          </a:p>
          <a:p>
            <a:pPr>
              <a:spcBef>
                <a:spcPts val="0"/>
              </a:spcBef>
              <a:spcAft>
                <a:spcPts val="0"/>
              </a:spcAft>
            </a:pPr>
            <a:r>
              <a:rPr lang="en-IN" sz="800" dirty="0">
                <a:solidFill>
                  <a:srgbClr val="191919"/>
                </a:solidFill>
                <a:latin typeface="Consolas"/>
              </a:rPr>
              <a:t>System.out.println("Total plays: " + total);</a:t>
            </a:r>
          </a:p>
          <a:p>
            <a:pPr>
              <a:spcBef>
                <a:spcPts val="0"/>
              </a:spcBef>
              <a:spcAft>
                <a:spcPts val="0"/>
              </a:spcAft>
            </a:pPr>
            <a:r>
              <a:rPr lang="en-IN" sz="800" dirty="0">
                <a:solidFill>
                  <a:srgbClr val="191919"/>
                </a:solidFill>
                <a:latin typeface="Consolas"/>
              </a:rPr>
              <a:t>System.out.println("Average plays: " + average);</a:t>
            </a:r>
          </a:p>
          <a:p>
            <a:pPr>
              <a:spcBef>
                <a:spcPts val="0"/>
              </a:spcBef>
              <a:spcAft>
                <a:spcPts val="0"/>
              </a:spcAft>
            </a:pPr>
            <a:r>
              <a:rPr lang="en-IN" sz="800" dirty="0">
                <a:solidFill>
                  <a:srgbClr val="191919"/>
                </a:solidFill>
                <a:latin typeface="Consolas"/>
              </a:rPr>
              <a:t>System.out.println("Songs with 10+ plays: " + popularCount);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C05: Save playlist for the next run</a:t>
            </a:r>
          </a:p>
          <a:p>
            <a:pPr>
              <a:spcBef>
                <a:spcPts val="0"/>
              </a:spcBef>
              <a:spcAft>
                <a:spcPts val="0"/>
              </a:spcAft>
            </a:pPr>
            <a:r>
              <a:rPr lang="en-IN" sz="800" dirty="0">
                <a:solidFill>
                  <a:srgbClr val="191919"/>
                </a:solidFill>
                <a:latin typeface="Consolas"/>
              </a:rPr>
              <a:t>List&lt;String&gt; lines = playlist.stream()</a:t>
            </a:r>
          </a:p>
          <a:p>
            <a:pPr>
              <a:spcBef>
                <a:spcPts val="0"/>
              </a:spcBef>
              <a:spcAft>
                <a:spcPts val="0"/>
              </a:spcAft>
            </a:pPr>
            <a:r>
              <a:rPr lang="en-IN" sz="800" dirty="0">
                <a:solidFill>
                  <a:srgbClr val="191919"/>
                </a:solidFill>
                <a:latin typeface="Consolas"/>
              </a:rPr>
              <a:t>    .map(Song::toString)</a:t>
            </a:r>
          </a:p>
          <a:p>
            <a:pPr>
              <a:spcBef>
                <a:spcPts val="0"/>
              </a:spcBef>
              <a:spcAft>
                <a:spcPts val="0"/>
              </a:spcAft>
            </a:pPr>
            <a:r>
              <a:rPr lang="en-IN" sz="800" dirty="0">
                <a:solidFill>
                  <a:srgbClr val="191919"/>
                </a:solidFill>
                <a:latin typeface="Consolas"/>
              </a:rPr>
              <a:t>    .collect(Collectors.toList());</a:t>
            </a:r>
          </a:p>
          <a:p>
            <a:pPr>
              <a:spcBef>
                <a:spcPts val="0"/>
              </a:spcBef>
              <a:spcAft>
                <a:spcPts val="0"/>
              </a:spcAft>
            </a:pPr>
            <a:r>
              <a:rPr lang="en-IN" sz="800" dirty="0">
                <a:solidFill>
                  <a:srgbClr val="191919"/>
                </a:solidFill>
                <a:latin typeface="Consolas"/>
              </a:rPr>
              <a:t>try {</a:t>
            </a:r>
          </a:p>
          <a:p>
            <a:pPr>
              <a:spcBef>
                <a:spcPts val="0"/>
              </a:spcBef>
              <a:spcAft>
                <a:spcPts val="0"/>
              </a:spcAft>
            </a:pPr>
            <a:r>
              <a:rPr lang="en-IN" sz="800" dirty="0">
                <a:solidFill>
                  <a:srgbClr val="191919"/>
                </a:solidFill>
                <a:latin typeface="Consolas"/>
              </a:rPr>
              <a:t>    Files.write(file, lines);</a:t>
            </a:r>
          </a:p>
          <a:p>
            <a:pPr>
              <a:spcBef>
                <a:spcPts val="0"/>
              </a:spcBef>
              <a:spcAft>
                <a:spcPts val="0"/>
              </a:spcAft>
            </a:pPr>
            <a:r>
              <a:rPr lang="en-IN" sz="800" dirty="0">
                <a:solidFill>
                  <a:srgbClr val="191919"/>
                </a:solidFill>
                <a:latin typeface="Consolas"/>
              </a:rPr>
              <a:t>} catch (IOException e) {</a:t>
            </a:r>
          </a:p>
          <a:p>
            <a:pPr>
              <a:spcBef>
                <a:spcPts val="0"/>
              </a:spcBef>
              <a:spcAft>
                <a:spcPts val="0"/>
              </a:spcAft>
            </a:pPr>
            <a:r>
              <a:rPr lang="en-IN" sz="800" dirty="0">
                <a:solidFill>
                  <a:srgbClr val="191919"/>
                </a:solidFill>
                <a:latin typeface="Consolas"/>
              </a:rPr>
              <a:t>    e.printStackTrace();</a:t>
            </a:r>
          </a:p>
          <a:p>
            <a:pPr>
              <a:spcBef>
                <a:spcPts val="0"/>
              </a:spcBef>
              <a:spcAft>
                <a:spcPts val="0"/>
              </a:spcAft>
            </a:pPr>
            <a:r>
              <a:rPr lang="en-IN" sz="800" dirty="0">
                <a:solidFill>
                  <a:srgbClr val="191919"/>
                </a:solidFill>
                <a:latin typeface="Consolas"/>
              </a:rPr>
              <a:t>}</a:t>
            </a:r>
            <a:endParaRPr sz="800" dirty="0">
              <a:solidFill>
                <a:srgbClr val="191919"/>
              </a:solidFill>
              <a:latin typeface="Consolas"/>
            </a:endParaRP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System.out.println("Playlist saved to playlist.txt");</a:t>
            </a:r>
          </a:p>
          <a:p>
            <a:pPr>
              <a:spcBef>
                <a:spcPts val="0"/>
              </a:spcBef>
              <a:spcAft>
                <a:spcPts val="0"/>
              </a:spcAft>
            </a:pPr>
            <a:r>
              <a:rPr sz="800">
                <a:solidFill>
                  <a:srgbClr val="191919"/>
                </a:solidFill>
                <a:latin typeface="Consolas"/>
              </a:rPr>
              <a:t>        } catch (IOException e) {</a:t>
            </a:r>
          </a:p>
          <a:p>
            <a:pPr>
              <a:spcBef>
                <a:spcPts val="0"/>
              </a:spcBef>
              <a:spcAft>
                <a:spcPts val="0"/>
              </a:spcAft>
            </a:pPr>
            <a:r>
              <a:rPr sz="800">
                <a:solidFill>
                  <a:srgbClr val="191919"/>
                </a:solidFill>
                <a:latin typeface="Consolas"/>
              </a:rPr>
              <a:t>            System.out.println("Could not save playlist.");</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 CO5/CO6: Search titles using a stream</a:t>
            </a:r>
          </a:p>
          <a:p>
            <a:pPr>
              <a:spcBef>
                <a:spcPts val="0"/>
              </a:spcBef>
              <a:spcAft>
                <a:spcPts val="0"/>
              </a:spcAft>
            </a:pPr>
            <a:r>
              <a:rPr sz="800">
                <a:solidFill>
                  <a:srgbClr val="191919"/>
                </a:solidFill>
                <a:latin typeface="Consolas"/>
              </a:rPr>
              <a:t>        System.out.print("Search title: ");</a:t>
            </a:r>
          </a:p>
          <a:p>
            <a:pPr>
              <a:spcBef>
                <a:spcPts val="0"/>
              </a:spcBef>
              <a:spcAft>
                <a:spcPts val="0"/>
              </a:spcAft>
            </a:pPr>
            <a:r>
              <a:rPr sz="800">
                <a:solidFill>
                  <a:srgbClr val="191919"/>
                </a:solidFill>
                <a:latin typeface="Consolas"/>
              </a:rPr>
              <a:t>        String query = sc.nextLine().trim();</a:t>
            </a:r>
          </a:p>
          <a:p>
            <a:pPr>
              <a:spcBef>
                <a:spcPts val="0"/>
              </a:spcBef>
              <a:spcAft>
                <a:spcPts val="0"/>
              </a:spcAft>
            </a:pPr>
            <a:r>
              <a:rPr sz="800">
                <a:solidFill>
                  <a:srgbClr val="191919"/>
                </a:solidFill>
                <a:latin typeface="Consolas"/>
              </a:rPr>
              <a:t>        List&lt;Song&gt; matches = playlist.stream()</a:t>
            </a:r>
          </a:p>
          <a:p>
            <a:pPr>
              <a:spcBef>
                <a:spcPts val="0"/>
              </a:spcBef>
              <a:spcAft>
                <a:spcPts val="0"/>
              </a:spcAft>
            </a:pPr>
            <a:r>
              <a:rPr sz="800">
                <a:solidFill>
                  <a:srgbClr val="191919"/>
                </a:solidFill>
                <a:latin typeface="Consolas"/>
              </a:rPr>
              <a:t>            .filter(song -&gt; song.getTitle().toLowerCase()</a:t>
            </a:r>
          </a:p>
          <a:p>
            <a:pPr>
              <a:spcBef>
                <a:spcPts val="0"/>
              </a:spcBef>
              <a:spcAft>
                <a:spcPts val="0"/>
              </a:spcAft>
            </a:pPr>
            <a:r>
              <a:rPr sz="800">
                <a:solidFill>
                  <a:srgbClr val="191919"/>
                </a:solidFill>
                <a:latin typeface="Consolas"/>
              </a:rPr>
              <a:t>                .contains(query.toLowerCase()))</a:t>
            </a:r>
          </a:p>
          <a:p>
            <a:pPr>
              <a:spcBef>
                <a:spcPts val="0"/>
              </a:spcBef>
              <a:spcAft>
                <a:spcPts val="0"/>
              </a:spcAft>
            </a:pPr>
            <a:r>
              <a:rPr sz="800">
                <a:solidFill>
                  <a:srgbClr val="191919"/>
                </a:solidFill>
                <a:latin typeface="Consolas"/>
              </a:rPr>
              <a:t>            .collect(Collectors.toList());</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if (matches.isEmpty()) {</a:t>
            </a:r>
          </a:p>
          <a:p>
            <a:pPr>
              <a:spcBef>
                <a:spcPts val="0"/>
              </a:spcBef>
              <a:spcAft>
                <a:spcPts val="0"/>
              </a:spcAft>
            </a:pPr>
            <a:r>
              <a:rPr sz="800">
                <a:solidFill>
                  <a:srgbClr val="191919"/>
                </a:solidFill>
                <a:latin typeface="Consolas"/>
              </a:rPr>
              <a:t>            System.out.println("No matching songs found.");</a:t>
            </a:r>
          </a:p>
          <a:p>
            <a:pPr>
              <a:spcBef>
                <a:spcPts val="0"/>
              </a:spcBef>
              <a:spcAft>
                <a:spcPts val="0"/>
              </a:spcAft>
            </a:pPr>
            <a:r>
              <a:rPr sz="800">
                <a:solidFill>
                  <a:srgbClr val="191919"/>
                </a:solidFill>
                <a:latin typeface="Consolas"/>
              </a:rPr>
              <a:t>        } else {</a:t>
            </a:r>
          </a:p>
          <a:p>
            <a:pPr>
              <a:spcBef>
                <a:spcPts val="0"/>
              </a:spcBef>
              <a:spcAft>
                <a:spcPts val="0"/>
              </a:spcAft>
            </a:pPr>
            <a:r>
              <a:rPr sz="800">
                <a:solidFill>
                  <a:srgbClr val="191919"/>
                </a:solidFill>
                <a:latin typeface="Consolas"/>
              </a:rPr>
              <a:t>            matches.forEach(System.out::println);</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sc.close();</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a:t>
            </a:r>
          </a:p>
        </p:txBody>
      </p:sp>
      <p:sp>
        <p:nvSpPr>
          <p:cNvPr id="4" name="TextBox 3">
            <a:extLst>
              <a:ext uri="{FF2B5EF4-FFF2-40B4-BE49-F238E27FC236}">
                <a16:creationId xmlns:a16="http://schemas.microsoft.com/office/drawing/2014/main" id="{1E4B55B6-A8F9-2FA4-4622-47576932E310}"/>
              </a:ext>
            </a:extLst>
          </p:cNvPr>
          <p:cNvSpPr txBox="1"/>
          <p:nvPr/>
        </p:nvSpPr>
        <p:spPr>
          <a:xfrm>
            <a:off x="1495425" y="657225"/>
            <a:ext cx="7467600" cy="646331"/>
          </a:xfrm>
          <a:prstGeom prst="rect">
            <a:avLst/>
          </a:prstGeom>
          <a:noFill/>
        </p:spPr>
        <p:txBody>
          <a:bodyPr wrap="square">
            <a:spAutoFit/>
          </a:bodyPr>
          <a:lstStyle/>
          <a:p>
            <a:r>
              <a:rPr lang="en-IN" sz="3600" dirty="0"/>
              <a:t>Full Program – CO1 to CO6 (Part 3/3)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38200" y="1691640"/>
            <a:ext cx="10515600" cy="365760"/>
          </a:xfrm>
          <a:prstGeom prst="rect">
            <a:avLst/>
          </a:prstGeom>
          <a:noFill/>
        </p:spPr>
        <p:txBody>
          <a:bodyPr wrap="square" anchor="t">
            <a:spAutoFit/>
          </a:bodyPr>
          <a:lstStyle/>
          <a:p>
            <a:pPr>
              <a:spcAft>
                <a:spcPts val="400"/>
              </a:spcAft>
            </a:pPr>
            <a:r>
              <a:rPr sz="1300" b="1">
                <a:solidFill>
                  <a:srgbClr val="A31F24"/>
                </a:solidFill>
              </a:rPr>
              <a:t>GITHUB REPOSITORY</a:t>
            </a:r>
          </a:p>
        </p:txBody>
      </p:sp>
      <p:sp>
        <p:nvSpPr>
          <p:cNvPr id="7" name="TextBox 6"/>
          <p:cNvSpPr txBox="1"/>
          <p:nvPr/>
        </p:nvSpPr>
        <p:spPr>
          <a:xfrm>
            <a:off x="838200" y="2103120"/>
            <a:ext cx="10515600" cy="457200"/>
          </a:xfrm>
          <a:prstGeom prst="rect">
            <a:avLst/>
          </a:prstGeom>
          <a:noFill/>
        </p:spPr>
        <p:txBody>
          <a:bodyPr wrap="square" anchor="t">
            <a:spAutoFit/>
          </a:bodyPr>
          <a:lstStyle/>
          <a:p>
            <a:pPr>
              <a:spcAft>
                <a:spcPts val="400"/>
              </a:spcAft>
            </a:pPr>
            <a:r>
              <a:rPr sz="1500" b="0" u="sng">
                <a:solidFill>
                  <a:srgbClr val="0563C1"/>
                </a:solidFill>
                <a:hlinkClick r:id=""/>
              </a:rPr>
              <a:t>https://github.com/harshinipemmaraju/KLH-2026-Section-3-Batch-no-28</a:t>
            </a:r>
          </a:p>
        </p:txBody>
      </p:sp>
      <p:sp>
        <p:nvSpPr>
          <p:cNvPr id="8" name="TextBox 7"/>
          <p:cNvSpPr txBox="1"/>
          <p:nvPr/>
        </p:nvSpPr>
        <p:spPr>
          <a:xfrm>
            <a:off x="838200" y="2606040"/>
            <a:ext cx="10515600" cy="457200"/>
          </a:xfrm>
          <a:prstGeom prst="rect">
            <a:avLst/>
          </a:prstGeom>
          <a:noFill/>
        </p:spPr>
        <p:txBody>
          <a:bodyPr wrap="square" anchor="t">
            <a:spAutoFit/>
          </a:bodyPr>
          <a:lstStyle/>
          <a:p>
            <a:pPr>
              <a:spcAft>
                <a:spcPts val="400"/>
              </a:spcAft>
            </a:pPr>
            <a:r>
              <a:rPr sz="1500" b="0" u="sng">
                <a:solidFill>
                  <a:srgbClr val="0563C1"/>
                </a:solidFill>
                <a:hlinkClick r:id=""/>
              </a:rPr>
              <a:t>https://github.com/Vidhijna2009/KLH-2026-Section-3-Batch-no-28</a:t>
            </a:r>
          </a:p>
        </p:txBody>
      </p:sp>
      <p:sp>
        <p:nvSpPr>
          <p:cNvPr id="4" name="TextBox 3">
            <a:extLst>
              <a:ext uri="{FF2B5EF4-FFF2-40B4-BE49-F238E27FC236}">
                <a16:creationId xmlns:a16="http://schemas.microsoft.com/office/drawing/2014/main" id="{712D0BB8-D03E-66B7-AAFD-FDC6C868F7D4}"/>
              </a:ext>
            </a:extLst>
          </p:cNvPr>
          <p:cNvSpPr txBox="1"/>
          <p:nvPr/>
        </p:nvSpPr>
        <p:spPr>
          <a:xfrm>
            <a:off x="1400175" y="609599"/>
            <a:ext cx="7572375" cy="707886"/>
          </a:xfrm>
          <a:prstGeom prst="rect">
            <a:avLst/>
          </a:prstGeom>
          <a:noFill/>
        </p:spPr>
        <p:txBody>
          <a:bodyPr wrap="square">
            <a:spAutoFit/>
          </a:bodyPr>
          <a:lstStyle/>
          <a:p>
            <a:r>
              <a:rPr lang="en-US" sz="4000" dirty="0"/>
              <a:t>Geo Tag Photo and GitHub Link</a:t>
            </a:r>
            <a:endParaRPr lang="en-IN"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6FD1B-0E65-6338-1070-9E6CC4D00178}"/>
              </a:ext>
            </a:extLst>
          </p:cNvPr>
          <p:cNvSpPr>
            <a:spLocks noGrp="1"/>
          </p:cNvSpPr>
          <p:nvPr>
            <p:ph type="dt" sz="half" idx="10"/>
          </p:nvPr>
        </p:nvSpPr>
        <p:spPr/>
        <p:txBody>
          <a:bodyPr/>
          <a:lstStyle/>
          <a:p>
            <a:fld id="{2FD85D5E-B9E5-4C7E-88B1-43A66A7C3488}" type="datetime1">
              <a:rPr lang="en-IN" smtClean="0"/>
              <a:t>12-10-2026</a:t>
            </a:fld>
            <a:endParaRPr lang="en-IN"/>
          </a:p>
        </p:txBody>
      </p:sp>
      <p:pic>
        <p:nvPicPr>
          <p:cNvPr id="1040" name="Picture 16" descr="Best Cool Thank You Design For PowerPoint Presentation">
            <a:extLst>
              <a:ext uri="{FF2B5EF4-FFF2-40B4-BE49-F238E27FC236}">
                <a16:creationId xmlns:a16="http://schemas.microsoft.com/office/drawing/2014/main" id="{DDD0CA71-4EE8-26EA-FCD4-F11DD80F1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644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2513</Words>
  <Application>Microsoft Office PowerPoint</Application>
  <PresentationFormat>Widescreen</PresentationFormat>
  <Paragraphs>308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Consolas</vt:lpstr>
      <vt:lpstr>Office Theme</vt:lpstr>
      <vt:lpstr>Music Playlist and Listening Stats Manager Team No: 28</vt:lpstr>
      <vt:lpstr>Abstract</vt:lpstr>
      <vt:lpstr>Understanding Problem Statement</vt:lpstr>
      <vt:lpstr>CO 1 Topics</vt:lpstr>
      <vt:lpstr>CO 2 Topics</vt:lpstr>
      <vt:lpstr>CO 3 Topics</vt:lpstr>
      <vt:lpstr>Full Program – MusicPlaylist.java</vt:lpstr>
      <vt:lpstr>                                       </vt:lpstr>
      <vt:lpstr>PowerPoint Presentation</vt:lpstr>
      <vt:lpstr>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VIDHIJNA BHAVARAJU</cp:lastModifiedBy>
  <cp:revision>2</cp:revision>
  <dcterms:created xsi:type="dcterms:W3CDTF">2026-09-15T09:57:10Z</dcterms:created>
  <dcterms:modified xsi:type="dcterms:W3CDTF">2026-10-12T18:01:51Z</dcterms:modified>
</cp:coreProperties>
</file>