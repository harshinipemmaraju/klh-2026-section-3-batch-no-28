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61" r:id="rId4"/>
    <p:sldId id="258" r:id="rId5"/>
    <p:sldId id="259" r:id="rId6"/>
    <p:sldId id="260" r:id="rId7"/>
    <p:sldId id="264" r:id="rId8"/>
    <p:sldId id="265" r:id="rId9"/>
    <p:sldId id="266" r:id="rId10"/>
    <p:sldId id="273" r:id="rId11"/>
    <p:sldId id="274"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80BE3C-B0B0-4CFB-816B-712D973A64E0}" v="3" dt="2026-09-15T10:05:24.2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5" d="100"/>
          <a:sy n="75" d="100"/>
        </p:scale>
        <p:origin x="97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7AFC0-00B8-4117-895C-3E834B171036}" type="datetimeFigureOut">
              <a:rPr lang="en-IN" smtClean="0"/>
              <a:t>15-10-2026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3476CA-421D-4B57-8942-5762D93F1AB2}" type="slidenum">
              <a:rPr lang="en-IN" smtClean="0"/>
              <a:t>‹#›</a:t>
            </a:fld>
            <a:endParaRPr lang="en-IN"/>
          </a:p>
        </p:txBody>
      </p:sp>
    </p:spTree>
    <p:extLst>
      <p:ext uri="{BB962C8B-B14F-4D97-AF65-F5344CB8AC3E}">
        <p14:creationId xmlns:p14="http://schemas.microsoft.com/office/powerpoint/2010/main" val="3994164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5F3B8-DDEB-3931-BD30-FCDF92768B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D0E52B7-3612-C42C-E3C4-1568700EDD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2E2A539-9977-5E0E-CDC1-067BB186F683}"/>
              </a:ext>
            </a:extLst>
          </p:cNvPr>
          <p:cNvSpPr>
            <a:spLocks noGrp="1"/>
          </p:cNvSpPr>
          <p:nvPr>
            <p:ph type="dt" sz="half" idx="10"/>
          </p:nvPr>
        </p:nvSpPr>
        <p:spPr/>
        <p:txBody>
          <a:bodyPr/>
          <a:lstStyle/>
          <a:p>
            <a:fld id="{16F549C3-E12B-4CC2-9FA1-D4C0643B7241}" type="datetime1">
              <a:rPr lang="en-IN" smtClean="0"/>
              <a:t>15-10-2026</a:t>
            </a:fld>
            <a:endParaRPr lang="en-IN"/>
          </a:p>
        </p:txBody>
      </p:sp>
      <p:sp>
        <p:nvSpPr>
          <p:cNvPr id="5" name="Footer Placeholder 4">
            <a:extLst>
              <a:ext uri="{FF2B5EF4-FFF2-40B4-BE49-F238E27FC236}">
                <a16:creationId xmlns:a16="http://schemas.microsoft.com/office/drawing/2014/main" id="{8DC91C38-BEF3-AA2E-ACFE-DCF1543BE0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1CB7FA-8196-F586-E960-B5BAE429FE2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EEB3F1FD-0147-797C-0ED6-E694A2BD62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05559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259C4-DC4A-CF70-25D2-F39535A1F7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A6C27E-0A06-D409-8884-852E74A294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7AC31F-7BFD-CA38-00A7-A2FD01A09849}"/>
              </a:ext>
            </a:extLst>
          </p:cNvPr>
          <p:cNvSpPr>
            <a:spLocks noGrp="1"/>
          </p:cNvSpPr>
          <p:nvPr>
            <p:ph type="dt" sz="half" idx="10"/>
          </p:nvPr>
        </p:nvSpPr>
        <p:spPr/>
        <p:txBody>
          <a:bodyPr/>
          <a:lstStyle/>
          <a:p>
            <a:fld id="{07DE2E10-B9C9-4696-8C2C-567691D9BBFD}" type="datetime1">
              <a:rPr lang="en-IN" smtClean="0"/>
              <a:t>15-10-2026</a:t>
            </a:fld>
            <a:endParaRPr lang="en-IN"/>
          </a:p>
        </p:txBody>
      </p:sp>
      <p:sp>
        <p:nvSpPr>
          <p:cNvPr id="5" name="Footer Placeholder 4">
            <a:extLst>
              <a:ext uri="{FF2B5EF4-FFF2-40B4-BE49-F238E27FC236}">
                <a16:creationId xmlns:a16="http://schemas.microsoft.com/office/drawing/2014/main" id="{8E415AD4-5B3F-78FD-DE66-C3F50AC63A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80549F-8592-A2F0-A7A6-A1C45E9E6C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5381CCB4-DDFA-058A-AE03-5A3CFCA9F8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76215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EAB08-E23E-771E-1FDE-DC7851594F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C036FC1-1DB6-A8A4-C315-834C3FFCFE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565D3F-93C4-BE6A-B0D8-5AFF3E69AF83}"/>
              </a:ext>
            </a:extLst>
          </p:cNvPr>
          <p:cNvSpPr>
            <a:spLocks noGrp="1"/>
          </p:cNvSpPr>
          <p:nvPr>
            <p:ph type="dt" sz="half" idx="10"/>
          </p:nvPr>
        </p:nvSpPr>
        <p:spPr/>
        <p:txBody>
          <a:bodyPr/>
          <a:lstStyle/>
          <a:p>
            <a:fld id="{6E4BF378-8F16-492D-87B3-963C20ACF441}" type="datetime1">
              <a:rPr lang="en-IN" smtClean="0"/>
              <a:t>15-10-2026</a:t>
            </a:fld>
            <a:endParaRPr lang="en-IN"/>
          </a:p>
        </p:txBody>
      </p:sp>
      <p:sp>
        <p:nvSpPr>
          <p:cNvPr id="5" name="Footer Placeholder 4">
            <a:extLst>
              <a:ext uri="{FF2B5EF4-FFF2-40B4-BE49-F238E27FC236}">
                <a16:creationId xmlns:a16="http://schemas.microsoft.com/office/drawing/2014/main" id="{7112169B-9903-41C3-CC1A-A773A925D6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ACC6B5-6988-9DF9-8223-C5EB677C938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2E3DABBD-F85F-360C-A546-D5E0B92597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854256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988FF-7E75-1B89-7C11-7B6C180BDE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8E0077-B676-7850-AAD4-77689FB5B4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DE4118E-9650-EED0-1592-D4AD00CF46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BDD1BDD-D86C-6A53-CEF7-1AEC9AB1AA53}"/>
              </a:ext>
            </a:extLst>
          </p:cNvPr>
          <p:cNvSpPr>
            <a:spLocks noGrp="1"/>
          </p:cNvSpPr>
          <p:nvPr>
            <p:ph type="dt" sz="half" idx="10"/>
          </p:nvPr>
        </p:nvSpPr>
        <p:spPr/>
        <p:txBody>
          <a:bodyPr/>
          <a:lstStyle/>
          <a:p>
            <a:fld id="{2C79781E-9150-4561-9F7C-01394C55C5AE}" type="datetime1">
              <a:rPr lang="en-IN" smtClean="0"/>
              <a:t>15-10-2026</a:t>
            </a:fld>
            <a:endParaRPr lang="en-IN"/>
          </a:p>
        </p:txBody>
      </p:sp>
      <p:sp>
        <p:nvSpPr>
          <p:cNvPr id="6" name="Footer Placeholder 5">
            <a:extLst>
              <a:ext uri="{FF2B5EF4-FFF2-40B4-BE49-F238E27FC236}">
                <a16:creationId xmlns:a16="http://schemas.microsoft.com/office/drawing/2014/main" id="{30B15FF2-A4C5-135F-9FA1-A00A6BF9A0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2FB8AA-FC6D-B278-7FFF-C52EF4307992}"/>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D3064E1C-D746-419C-5FE6-033B95CAC3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993261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CC900-8F42-8A20-E378-434465ED27C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DDB5D6-6D80-913C-77A3-83E1C27571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D7E712-FB4A-DBE7-7EE8-B34465C755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4FC7C92-E667-0F30-6C26-267F10CBCB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31715A-AF86-785C-73F2-00FF9D5D32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01D6D5-269C-31AC-CC40-917E0E24679C}"/>
              </a:ext>
            </a:extLst>
          </p:cNvPr>
          <p:cNvSpPr>
            <a:spLocks noGrp="1"/>
          </p:cNvSpPr>
          <p:nvPr>
            <p:ph type="dt" sz="half" idx="10"/>
          </p:nvPr>
        </p:nvSpPr>
        <p:spPr/>
        <p:txBody>
          <a:bodyPr/>
          <a:lstStyle/>
          <a:p>
            <a:fld id="{CEF12896-961F-4F7A-B2DD-D0EFF57BA027}" type="datetime1">
              <a:rPr lang="en-IN" smtClean="0"/>
              <a:t>15-10-2026</a:t>
            </a:fld>
            <a:endParaRPr lang="en-IN"/>
          </a:p>
        </p:txBody>
      </p:sp>
      <p:sp>
        <p:nvSpPr>
          <p:cNvPr id="8" name="Footer Placeholder 7">
            <a:extLst>
              <a:ext uri="{FF2B5EF4-FFF2-40B4-BE49-F238E27FC236}">
                <a16:creationId xmlns:a16="http://schemas.microsoft.com/office/drawing/2014/main" id="{1D0DFF97-DB90-A3DC-1A5F-E041ABA4F51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1DFEC1F-4C0D-B461-B76D-FAFE7A86BA16}"/>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11" name="Picture 10">
            <a:extLst>
              <a:ext uri="{FF2B5EF4-FFF2-40B4-BE49-F238E27FC236}">
                <a16:creationId xmlns:a16="http://schemas.microsoft.com/office/drawing/2014/main" id="{B0D765FD-6DB7-1155-27BC-BD0DB45299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460133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9FB57-0CBB-0AA3-9BF0-2ED23379724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0B2CE64-C359-3445-7AB9-29DE8577C0B3}"/>
              </a:ext>
            </a:extLst>
          </p:cNvPr>
          <p:cNvSpPr>
            <a:spLocks noGrp="1"/>
          </p:cNvSpPr>
          <p:nvPr>
            <p:ph type="dt" sz="half" idx="10"/>
          </p:nvPr>
        </p:nvSpPr>
        <p:spPr/>
        <p:txBody>
          <a:bodyPr/>
          <a:lstStyle/>
          <a:p>
            <a:fld id="{48F51132-6BA4-40BC-AB03-D6B9C4F193FC}" type="datetime1">
              <a:rPr lang="en-IN" smtClean="0"/>
              <a:t>15-10-2026</a:t>
            </a:fld>
            <a:endParaRPr lang="en-IN"/>
          </a:p>
        </p:txBody>
      </p:sp>
      <p:sp>
        <p:nvSpPr>
          <p:cNvPr id="4" name="Footer Placeholder 3">
            <a:extLst>
              <a:ext uri="{FF2B5EF4-FFF2-40B4-BE49-F238E27FC236}">
                <a16:creationId xmlns:a16="http://schemas.microsoft.com/office/drawing/2014/main" id="{5C63F73F-0420-C605-3EFF-74CBBE1B751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46EE44D-529C-1AC9-123B-7EBF53FA6E5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7" name="Picture 6">
            <a:extLst>
              <a:ext uri="{FF2B5EF4-FFF2-40B4-BE49-F238E27FC236}">
                <a16:creationId xmlns:a16="http://schemas.microsoft.com/office/drawing/2014/main" id="{F4A6640D-01A3-9B0C-80EF-F10DE422076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463580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479728-5FED-202E-6651-A7474C32A850}"/>
              </a:ext>
            </a:extLst>
          </p:cNvPr>
          <p:cNvSpPr>
            <a:spLocks noGrp="1"/>
          </p:cNvSpPr>
          <p:nvPr>
            <p:ph type="dt" sz="half" idx="10"/>
          </p:nvPr>
        </p:nvSpPr>
        <p:spPr/>
        <p:txBody>
          <a:bodyPr/>
          <a:lstStyle/>
          <a:p>
            <a:fld id="{2FD85D5E-B9E5-4C7E-88B1-43A66A7C3488}" type="datetime1">
              <a:rPr lang="en-IN" smtClean="0"/>
              <a:t>15-10-2026</a:t>
            </a:fld>
            <a:endParaRPr lang="en-IN"/>
          </a:p>
        </p:txBody>
      </p:sp>
      <p:sp>
        <p:nvSpPr>
          <p:cNvPr id="3" name="Footer Placeholder 2">
            <a:extLst>
              <a:ext uri="{FF2B5EF4-FFF2-40B4-BE49-F238E27FC236}">
                <a16:creationId xmlns:a16="http://schemas.microsoft.com/office/drawing/2014/main" id="{C7F6D777-ECC4-1DAB-81FF-7D7AF3FF399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5B56A1D-0096-D4B4-2B11-1CDFE3317B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6" name="Picture 5">
            <a:extLst>
              <a:ext uri="{FF2B5EF4-FFF2-40B4-BE49-F238E27FC236}">
                <a16:creationId xmlns:a16="http://schemas.microsoft.com/office/drawing/2014/main" id="{0260B416-1EF4-3CD6-8E26-DC636E7B37F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471129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E5010-2418-091A-429D-37E400ABA5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A991DC8-3F06-BF0E-8109-8C1FEDEAD6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3544A7E-4423-60E2-E6E9-AAF09976D0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B3B07B-D8E2-C0AA-F7E4-545DF97910A6}"/>
              </a:ext>
            </a:extLst>
          </p:cNvPr>
          <p:cNvSpPr>
            <a:spLocks noGrp="1"/>
          </p:cNvSpPr>
          <p:nvPr>
            <p:ph type="dt" sz="half" idx="10"/>
          </p:nvPr>
        </p:nvSpPr>
        <p:spPr/>
        <p:txBody>
          <a:bodyPr/>
          <a:lstStyle/>
          <a:p>
            <a:fld id="{97DBE2A2-8283-469E-B4A1-D6877668ECFE}" type="datetime1">
              <a:rPr lang="en-IN" smtClean="0"/>
              <a:t>15-10-2026</a:t>
            </a:fld>
            <a:endParaRPr lang="en-IN"/>
          </a:p>
        </p:txBody>
      </p:sp>
      <p:sp>
        <p:nvSpPr>
          <p:cNvPr id="6" name="Footer Placeholder 5">
            <a:extLst>
              <a:ext uri="{FF2B5EF4-FFF2-40B4-BE49-F238E27FC236}">
                <a16:creationId xmlns:a16="http://schemas.microsoft.com/office/drawing/2014/main" id="{D8FB3DF0-CC05-0B05-24D9-6663B5E119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AB53E2-0205-A987-5D45-0DFC51D895E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AE6F4A6A-FE20-C82E-95DD-FA2A5FCB0B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937276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7E51-2E25-5BFC-2696-794A224B6A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3F9DC63-25C2-8B4F-3683-6B0A9BC756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54EBA80-D1E6-9786-229E-B9B70D9BDF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0DED29-F47E-2534-AFB4-003A8091ABF4}"/>
              </a:ext>
            </a:extLst>
          </p:cNvPr>
          <p:cNvSpPr>
            <a:spLocks noGrp="1"/>
          </p:cNvSpPr>
          <p:nvPr>
            <p:ph type="dt" sz="half" idx="10"/>
          </p:nvPr>
        </p:nvSpPr>
        <p:spPr/>
        <p:txBody>
          <a:bodyPr/>
          <a:lstStyle/>
          <a:p>
            <a:fld id="{FD50A723-EDD4-4822-84BE-4B7F697B4E56}" type="datetime1">
              <a:rPr lang="en-IN" smtClean="0"/>
              <a:t>15-10-2026</a:t>
            </a:fld>
            <a:endParaRPr lang="en-IN"/>
          </a:p>
        </p:txBody>
      </p:sp>
      <p:sp>
        <p:nvSpPr>
          <p:cNvPr id="6" name="Footer Placeholder 5">
            <a:extLst>
              <a:ext uri="{FF2B5EF4-FFF2-40B4-BE49-F238E27FC236}">
                <a16:creationId xmlns:a16="http://schemas.microsoft.com/office/drawing/2014/main" id="{06E6DE89-3F60-1B9B-0597-F389CAA72F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40B78F6-7EC0-BF15-5CA1-F0159D796384}"/>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28256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38785-1FEB-0757-FEC8-6AA1CB86C53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D94473-1718-0D76-22B7-33E82D611F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19B1E2-29EC-2F2E-B362-55E80C4D0828}"/>
              </a:ext>
            </a:extLst>
          </p:cNvPr>
          <p:cNvSpPr>
            <a:spLocks noGrp="1"/>
          </p:cNvSpPr>
          <p:nvPr>
            <p:ph type="dt" sz="half" idx="10"/>
          </p:nvPr>
        </p:nvSpPr>
        <p:spPr/>
        <p:txBody>
          <a:bodyPr/>
          <a:lstStyle/>
          <a:p>
            <a:fld id="{6B848764-2CC6-431B-B501-1DF197EE73CC}" type="datetime1">
              <a:rPr lang="en-IN" smtClean="0"/>
              <a:t>15-10-2026</a:t>
            </a:fld>
            <a:endParaRPr lang="en-IN"/>
          </a:p>
        </p:txBody>
      </p:sp>
      <p:sp>
        <p:nvSpPr>
          <p:cNvPr id="5" name="Footer Placeholder 4">
            <a:extLst>
              <a:ext uri="{FF2B5EF4-FFF2-40B4-BE49-F238E27FC236}">
                <a16:creationId xmlns:a16="http://schemas.microsoft.com/office/drawing/2014/main" id="{2B36D9E9-31F7-01F5-C19A-438C407736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EE1B4F-5C80-EFB0-BA9F-8F17B8444B0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A32412BD-D800-391F-9FB6-159E83E7478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107846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C43F02-0084-480F-2BA3-75A1C0102C1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B22D9D-B106-6765-76CF-C9843EC19F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A262E0-081B-BE3A-F92B-73DE583EDA72}"/>
              </a:ext>
            </a:extLst>
          </p:cNvPr>
          <p:cNvSpPr>
            <a:spLocks noGrp="1"/>
          </p:cNvSpPr>
          <p:nvPr>
            <p:ph type="dt" sz="half" idx="10"/>
          </p:nvPr>
        </p:nvSpPr>
        <p:spPr/>
        <p:txBody>
          <a:bodyPr/>
          <a:lstStyle/>
          <a:p>
            <a:fld id="{9C5EEFFA-3959-41FE-A774-B9B27FD8983C}" type="datetime1">
              <a:rPr lang="en-IN" smtClean="0"/>
              <a:t>15-10-2026</a:t>
            </a:fld>
            <a:endParaRPr lang="en-IN"/>
          </a:p>
        </p:txBody>
      </p:sp>
      <p:sp>
        <p:nvSpPr>
          <p:cNvPr id="5" name="Footer Placeholder 4">
            <a:extLst>
              <a:ext uri="{FF2B5EF4-FFF2-40B4-BE49-F238E27FC236}">
                <a16:creationId xmlns:a16="http://schemas.microsoft.com/office/drawing/2014/main" id="{2B69D4DC-613B-8105-F661-A37BB2AD0F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246AAE-21DC-2AE1-CF07-91F73A4DFA13}"/>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83544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948038-F901-EAD1-D5DB-03603E896C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7E2A14-F9FA-9B0B-5AA7-D785E09BAF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E56813-B660-C26F-CFEF-AF22C547FC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0F4BF4-0D93-4F1E-82BB-778F1EDDD45F}" type="datetime1">
              <a:rPr lang="en-IN" smtClean="0"/>
              <a:t>15-10-2026</a:t>
            </a:fld>
            <a:endParaRPr lang="en-IN"/>
          </a:p>
        </p:txBody>
      </p:sp>
      <p:sp>
        <p:nvSpPr>
          <p:cNvPr id="5" name="Footer Placeholder 4">
            <a:extLst>
              <a:ext uri="{FF2B5EF4-FFF2-40B4-BE49-F238E27FC236}">
                <a16:creationId xmlns:a16="http://schemas.microsoft.com/office/drawing/2014/main" id="{E4B697EB-16D9-74E1-1448-0CDC280711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0C42DC9-4178-3222-F3F2-C5EC792CA7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012AB6-14AF-4351-87AD-D420B05274E1}" type="slidenum">
              <a:rPr lang="en-IN" smtClean="0"/>
              <a:t>‹#›</a:t>
            </a:fld>
            <a:endParaRPr lang="en-IN"/>
          </a:p>
        </p:txBody>
      </p:sp>
    </p:spTree>
    <p:extLst>
      <p:ext uri="{BB962C8B-B14F-4D97-AF65-F5344CB8AC3E}">
        <p14:creationId xmlns:p14="http://schemas.microsoft.com/office/powerpoint/2010/main" val="34934814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Vidhijna2009/KLH-2026-Section-3-Batch-no-28" TargetMode="External"/><Relationship Id="rId2" Type="http://schemas.openxmlformats.org/officeDocument/2006/relationships/hyperlink" Target="https://github.com/harshinipemmaraju/KLH-2026-Section-3-Batch-no-28"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0CCFF-527E-4AC9-A45F-A8196F49E0C3}"/>
              </a:ext>
            </a:extLst>
          </p:cNvPr>
          <p:cNvSpPr>
            <a:spLocks noGrp="1"/>
          </p:cNvSpPr>
          <p:nvPr>
            <p:ph type="ctrTitle"/>
          </p:nvPr>
        </p:nvSpPr>
        <p:spPr>
          <a:xfrm>
            <a:off x="1524000" y="476250"/>
            <a:ext cx="8791575" cy="2695575"/>
          </a:xfrm>
        </p:spPr>
        <p:txBody>
          <a:bodyPr/>
          <a:lstStyle/>
          <a:p>
            <a:r>
              <a:rPr sz="4000" b="1" dirty="0"/>
              <a:t>Music Playlist and Listening Stats Manager</a:t>
            </a:r>
            <a:br>
              <a:rPr dirty="0"/>
            </a:br>
            <a:r>
              <a:rPr sz="3200" dirty="0">
                <a:solidFill>
                  <a:srgbClr val="A31F24"/>
                </a:solidFill>
              </a:rPr>
              <a:t>Team No: 28</a:t>
            </a:r>
          </a:p>
        </p:txBody>
      </p:sp>
      <p:sp>
        <p:nvSpPr>
          <p:cNvPr id="3" name="Subtitle 2">
            <a:extLst>
              <a:ext uri="{FF2B5EF4-FFF2-40B4-BE49-F238E27FC236}">
                <a16:creationId xmlns:a16="http://schemas.microsoft.com/office/drawing/2014/main" id="{A452AC95-AA7D-A76A-037F-6B2DB5A27E48}"/>
              </a:ext>
            </a:extLst>
          </p:cNvPr>
          <p:cNvSpPr>
            <a:spLocks noGrp="1"/>
          </p:cNvSpPr>
          <p:nvPr>
            <p:ph type="subTitle" idx="1"/>
          </p:nvPr>
        </p:nvSpPr>
        <p:spPr/>
        <p:txBody>
          <a:bodyPr/>
          <a:lstStyle/>
          <a:p>
            <a:r>
              <a:rPr lang="en-IN" dirty="0"/>
              <a:t>P. Sai Lakshmi Harshini  –  2620030063</a:t>
            </a:r>
          </a:p>
          <a:p>
            <a:r>
              <a:rPr lang="en-IN" dirty="0"/>
              <a:t>B. Vidhijna  –  2620090018</a:t>
            </a:r>
          </a:p>
        </p:txBody>
      </p:sp>
      <p:sp>
        <p:nvSpPr>
          <p:cNvPr id="91" name="Slide Number Placeholder"/>
          <p:cNvSpPr>
            <a:spLocks noGrp="1"/>
          </p:cNvSpPr>
          <p:nvPr>
            <p:ph type="sldNum" sz="quarter" idx="12"/>
          </p:nvPr>
        </p:nvSpPr>
        <p:spPr/>
        <p:txBody>
          <a:bodyPr/>
          <a:lstStyle/>
          <a:p>
            <a:fld id="{CB012AB6-14AF-4351-87AD-D420B05274E1}" type="slidenum">
              <a:rPr lang="en-IN"/>
              <a:t>1</a:t>
            </a:fld>
            <a:endParaRPr lang="en-IN"/>
          </a:p>
        </p:txBody>
      </p:sp>
    </p:spTree>
    <p:extLst>
      <p:ext uri="{BB962C8B-B14F-4D97-AF65-F5344CB8AC3E}">
        <p14:creationId xmlns:p14="http://schemas.microsoft.com/office/powerpoint/2010/main" val="1570750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71AF3-F02C-0F4C-0929-57F8B753540D}"/>
              </a:ext>
            </a:extLst>
          </p:cNvPr>
          <p:cNvSpPr>
            <a:spLocks noGrp="1"/>
          </p:cNvSpPr>
          <p:nvPr>
            <p:ph type="title"/>
          </p:nvPr>
        </p:nvSpPr>
        <p:spPr>
          <a:xfrm>
            <a:off x="1508760" y="320040"/>
            <a:ext cx="10363200" cy="822960"/>
          </a:xfrm>
        </p:spPr>
        <p:txBody>
          <a:bodyPr/>
          <a:lstStyle/>
          <a:p>
            <a:r>
              <a:t>Abstract</a:t>
            </a:r>
          </a:p>
        </p:txBody>
      </p:sp>
      <p:sp>
        <p:nvSpPr>
          <p:cNvPr id="3" name="Content Placeholder 2">
            <a:extLst>
              <a:ext uri="{FF2B5EF4-FFF2-40B4-BE49-F238E27FC236}">
                <a16:creationId xmlns:a16="http://schemas.microsoft.com/office/drawing/2014/main" id="{D4712F73-2B13-AB30-C0D8-CBA5CE269654}"/>
              </a:ext>
            </a:extLst>
          </p:cNvPr>
          <p:cNvSpPr>
            <a:spLocks noGrp="1"/>
          </p:cNvSpPr>
          <p:nvPr>
            <p:ph idx="1"/>
          </p:nvPr>
        </p:nvSpPr>
        <p:spPr>
          <a:xfrm>
            <a:off x="838200" y="1463040"/>
            <a:ext cx="10515600" cy="4297680"/>
          </a:xfrm>
        </p:spPr>
        <p:txBody>
          <a:bodyPr wrap="square"/>
          <a:lstStyle/>
          <a:p>
            <a:pPr marL="0" indent="0" algn="just">
              <a:lnSpc>
                <a:spcPct val="110000"/>
              </a:lnSpc>
              <a:spcAft>
                <a:spcPts val="1000"/>
              </a:spcAft>
              <a:buNone/>
            </a:pPr>
            <a:r>
              <a:rPr sz="1500"/>
              <a:t>The Music Playlist and Listening Stats Manager is a Java software application aimed at simplifying and automating music-related recording jobs. Usually dealing with a large volume of songs under the same heading, along with listening records and details. The system is there to provide an application to save the recorded songs as well as playlists so both elements can effectively be managed. The system allows the user to add, edit, search, and display records. Each song is saved with the ID, name, artist, album, genre, and length. New playlists may be created and populated with the available music. A song currently playing may be saved for listening statistics. The system shows the number of times each song is played, as well as how long it's been played, etc.</a:t>
            </a:r>
          </a:p>
          <a:p>
            <a:pPr marL="0" indent="0" algn="just">
              <a:lnSpc>
                <a:spcPct val="110000"/>
              </a:lnSpc>
              <a:spcAft>
                <a:spcPts val="1000"/>
              </a:spcAft>
              <a:buNone/>
            </a:pPr>
            <a:r>
              <a:rPr sz="1500"/>
              <a:t>The task is made significantly easier and requires minimal work through the reduction in manual work required; not just to store music, but also to manage playlists effectively, and to analyze data on how the application and song information is consumed, and how to make an advanced listening analysis using it more efficiently. The program could be developed into a client and could be a client program working directly and/or as a web service. The system is extensible, and new functions like arranging songs in sorted order, find mostly played songs in a playlist, and other important listening data related, can further develop to be designed so user can analyse their consumption data better and more clearly.</a:t>
            </a:r>
          </a:p>
        </p:txBody>
      </p:sp>
      <p:sp>
        <p:nvSpPr>
          <p:cNvPr id="91" name="Slide Number Placeholder"/>
          <p:cNvSpPr>
            <a:spLocks noGrp="1"/>
          </p:cNvSpPr>
          <p:nvPr>
            <p:ph type="sldNum" sz="quarter" idx="12"/>
          </p:nvPr>
        </p:nvSpPr>
        <p:spPr/>
        <p:txBody>
          <a:bodyPr/>
          <a:lstStyle/>
          <a:p>
            <a:fld id="{CB012AB6-14AF-4351-87AD-D420B05274E1}" type="slidenum">
              <a:rPr lang="en-IN"/>
              <a:t>2</a:t>
            </a:fld>
            <a:endParaRPr lang="en-IN"/>
          </a:p>
        </p:txBody>
      </p:sp>
    </p:spTree>
    <p:extLst>
      <p:ext uri="{BB962C8B-B14F-4D97-AF65-F5344CB8AC3E}">
        <p14:creationId xmlns:p14="http://schemas.microsoft.com/office/powerpoint/2010/main" val="676338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4AC2B-1702-695F-E0B5-9F6550F04B7D}"/>
              </a:ext>
            </a:extLst>
          </p:cNvPr>
          <p:cNvSpPr>
            <a:spLocks noGrp="1"/>
          </p:cNvSpPr>
          <p:nvPr>
            <p:ph type="title"/>
          </p:nvPr>
        </p:nvSpPr>
        <p:spPr>
          <a:xfrm>
            <a:off x="1508760" y="320040"/>
            <a:ext cx="10363200" cy="822960"/>
          </a:xfrm>
        </p:spPr>
        <p:txBody>
          <a:bodyPr/>
          <a:lstStyle/>
          <a:p>
            <a:r>
              <a:t>Understanding Problem Statement</a:t>
            </a:r>
          </a:p>
        </p:txBody>
      </p:sp>
      <p:sp>
        <p:nvSpPr>
          <p:cNvPr id="6" name="TextBox 5"/>
          <p:cNvSpPr txBox="1"/>
          <p:nvPr/>
        </p:nvSpPr>
        <p:spPr>
          <a:xfrm>
            <a:off x="838200" y="1463040"/>
            <a:ext cx="10515600" cy="822960"/>
          </a:xfrm>
          <a:prstGeom prst="rect">
            <a:avLst/>
          </a:prstGeom>
          <a:noFill/>
        </p:spPr>
        <p:txBody>
          <a:bodyPr wrap="square" anchor="t">
            <a:spAutoFit/>
          </a:bodyPr>
          <a:lstStyle/>
          <a:p>
            <a:pPr>
              <a:spcAft>
                <a:spcPts val="400"/>
              </a:spcAft>
            </a:pPr>
            <a:r>
              <a:rPr sz="1600" b="1">
                <a:solidFill>
                  <a:srgbClr val="A31F24"/>
                </a:solidFill>
              </a:rPr>
              <a:t>Problem: </a:t>
            </a:r>
            <a:r>
              <a:rPr sz="1600" b="0">
                <a:solidFill>
                  <a:srgbClr val="222222"/>
                </a:solidFill>
              </a:rPr>
              <a:t>Keeping track of songs and how often each one is played is usually done by hand, which is slow and error-prone. We need a simple Java console program that stores a small playlist, records play counts, and reports useful listening statistics.</a:t>
            </a:r>
          </a:p>
        </p:txBody>
      </p:sp>
      <p:sp>
        <p:nvSpPr>
          <p:cNvPr id="7" name="Rectangle 6"/>
          <p:cNvSpPr/>
          <p:nvPr/>
        </p:nvSpPr>
        <p:spPr>
          <a:xfrm>
            <a:off x="838200" y="2514600"/>
            <a:ext cx="2880360" cy="502920"/>
          </a:xfrm>
          <a:prstGeom prst="rect">
            <a:avLst/>
          </a:prstGeom>
          <a:solidFill>
            <a:srgbClr val="A31F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400"/>
              </a:spcAft>
            </a:pPr>
            <a:r>
              <a:rPr sz="1500" b="1">
                <a:solidFill>
                  <a:srgbClr val="FFFFFF"/>
                </a:solidFill>
              </a:rPr>
              <a:t>INPUT</a:t>
            </a:r>
          </a:p>
        </p:txBody>
      </p:sp>
      <p:sp>
        <p:nvSpPr>
          <p:cNvPr id="8" name="Rectangle 7"/>
          <p:cNvSpPr/>
          <p:nvPr/>
        </p:nvSpPr>
        <p:spPr>
          <a:xfrm>
            <a:off x="838200" y="3017520"/>
            <a:ext cx="2880360" cy="22402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tlCol="0" anchor="t"/>
          <a:lstStyle/>
          <a:p>
            <a:pPr algn="l">
              <a:spcAft>
                <a:spcPts val="600"/>
              </a:spcAft>
            </a:pPr>
            <a:r>
              <a:rPr sz="1300" b="0">
                <a:solidFill>
                  <a:srgbClr val="222222"/>
                </a:solidFill>
              </a:rPr>
              <a:t>•  Song names (5 songs)</a:t>
            </a:r>
          </a:p>
          <a:p>
            <a:pPr algn="l">
              <a:spcAft>
                <a:spcPts val="600"/>
              </a:spcAft>
            </a:pPr>
            <a:r>
              <a:rPr sz="1300" b="0">
                <a:solidFill>
                  <a:srgbClr val="222222"/>
                </a:solidFill>
              </a:rPr>
              <a:t>•  Number of plays for each song</a:t>
            </a:r>
          </a:p>
          <a:p>
            <a:pPr algn="l">
              <a:spcAft>
                <a:spcPts val="600"/>
              </a:spcAft>
            </a:pPr>
            <a:r>
              <a:rPr sz="1300" b="0">
                <a:solidFill>
                  <a:srgbClr val="222222"/>
                </a:solidFill>
              </a:rPr>
              <a:t>•  Entered through the keyboard using Scanner</a:t>
            </a:r>
          </a:p>
        </p:txBody>
      </p:sp>
      <p:sp>
        <p:nvSpPr>
          <p:cNvPr id="9" name="Right Arrow 8"/>
          <p:cNvSpPr/>
          <p:nvPr/>
        </p:nvSpPr>
        <p:spPr>
          <a:xfrm>
            <a:off x="4031742" y="3749040"/>
            <a:ext cx="310896" cy="274320"/>
          </a:xfrm>
          <a:prstGeom prst="rightArrow">
            <a:avLst/>
          </a:prstGeom>
          <a:solidFill>
            <a:srgbClr val="A31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655820" y="2514600"/>
            <a:ext cx="2880360" cy="502920"/>
          </a:xfrm>
          <a:prstGeom prst="rect">
            <a:avLst/>
          </a:prstGeom>
          <a:solidFill>
            <a:srgbClr val="A31F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400"/>
              </a:spcAft>
            </a:pPr>
            <a:r>
              <a:rPr sz="1500" b="1">
                <a:solidFill>
                  <a:srgbClr val="FFFFFF"/>
                </a:solidFill>
              </a:rPr>
              <a:t>PROCESSING</a:t>
            </a:r>
          </a:p>
        </p:txBody>
      </p:sp>
      <p:sp>
        <p:nvSpPr>
          <p:cNvPr id="11" name="Rectangle 10"/>
          <p:cNvSpPr/>
          <p:nvPr/>
        </p:nvSpPr>
        <p:spPr>
          <a:xfrm>
            <a:off x="4655820" y="3017520"/>
            <a:ext cx="2880360" cy="22402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tlCol="0" anchor="t"/>
          <a:lstStyle/>
          <a:p>
            <a:pPr algn="l">
              <a:spcAft>
                <a:spcPts val="600"/>
              </a:spcAft>
            </a:pPr>
            <a:r>
              <a:rPr sz="1300" b="0">
                <a:solidFill>
                  <a:srgbClr val="222222"/>
                </a:solidFill>
              </a:rPr>
              <a:t>•  Store data in parallel arrays</a:t>
            </a:r>
          </a:p>
          <a:p>
            <a:pPr algn="l">
              <a:spcAft>
                <a:spcPts val="600"/>
              </a:spcAft>
            </a:pPr>
            <a:r>
              <a:rPr sz="1300" b="0">
                <a:solidFill>
                  <a:srgbClr val="222222"/>
                </a:solidFill>
              </a:rPr>
              <a:t>•  Traverse arrays with for loops</a:t>
            </a:r>
          </a:p>
          <a:p>
            <a:pPr algn="l">
              <a:spcAft>
                <a:spcPts val="600"/>
              </a:spcAft>
            </a:pPr>
            <a:r>
              <a:rPr sz="1300" b="0">
                <a:solidFill>
                  <a:srgbClr val="222222"/>
                </a:solidFill>
              </a:rPr>
              <a:t>•  Compare values to find the maximum</a:t>
            </a:r>
          </a:p>
          <a:p>
            <a:pPr algn="l">
              <a:spcAft>
                <a:spcPts val="600"/>
              </a:spcAft>
            </a:pPr>
            <a:r>
              <a:rPr sz="1300" b="0">
                <a:solidFill>
                  <a:srgbClr val="222222"/>
                </a:solidFill>
              </a:rPr>
              <a:t>•  Add plays for total, divide for average</a:t>
            </a:r>
          </a:p>
        </p:txBody>
      </p:sp>
      <p:sp>
        <p:nvSpPr>
          <p:cNvPr id="12" name="Right Arrow 11"/>
          <p:cNvSpPr/>
          <p:nvPr/>
        </p:nvSpPr>
        <p:spPr>
          <a:xfrm>
            <a:off x="7849362" y="3749040"/>
            <a:ext cx="310896" cy="274320"/>
          </a:xfrm>
          <a:prstGeom prst="rightArrow">
            <a:avLst/>
          </a:prstGeom>
          <a:solidFill>
            <a:srgbClr val="A31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473440" y="2514600"/>
            <a:ext cx="2880360" cy="502920"/>
          </a:xfrm>
          <a:prstGeom prst="rect">
            <a:avLst/>
          </a:prstGeom>
          <a:solidFill>
            <a:srgbClr val="A31F2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400"/>
              </a:spcAft>
            </a:pPr>
            <a:r>
              <a:rPr sz="1500" b="1">
                <a:solidFill>
                  <a:srgbClr val="FFFFFF"/>
                </a:solidFill>
              </a:rPr>
              <a:t>OUTPUT</a:t>
            </a:r>
          </a:p>
        </p:txBody>
      </p:sp>
      <p:sp>
        <p:nvSpPr>
          <p:cNvPr id="14" name="Rectangle 13"/>
          <p:cNvSpPr/>
          <p:nvPr/>
        </p:nvSpPr>
        <p:spPr>
          <a:xfrm>
            <a:off x="8473440" y="3017520"/>
            <a:ext cx="2880360" cy="22402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tlCol="0" anchor="t"/>
          <a:lstStyle/>
          <a:p>
            <a:pPr algn="l">
              <a:spcAft>
                <a:spcPts val="600"/>
              </a:spcAft>
            </a:pPr>
            <a:r>
              <a:rPr sz="1300" b="0">
                <a:solidFill>
                  <a:srgbClr val="222222"/>
                </a:solidFill>
              </a:rPr>
              <a:t>•  Full playlist with play counts</a:t>
            </a:r>
          </a:p>
          <a:p>
            <a:pPr algn="l">
              <a:spcAft>
                <a:spcPts val="600"/>
              </a:spcAft>
            </a:pPr>
            <a:r>
              <a:rPr sz="1300" b="0">
                <a:solidFill>
                  <a:srgbClr val="222222"/>
                </a:solidFill>
              </a:rPr>
              <a:t>•  Most played song and its count</a:t>
            </a:r>
          </a:p>
          <a:p>
            <a:pPr algn="l">
              <a:spcAft>
                <a:spcPts val="600"/>
              </a:spcAft>
            </a:pPr>
            <a:r>
              <a:rPr sz="1300" b="0">
                <a:solidFill>
                  <a:srgbClr val="222222"/>
                </a:solidFill>
              </a:rPr>
              <a:t>•  Total plays</a:t>
            </a:r>
          </a:p>
          <a:p>
            <a:pPr algn="l">
              <a:spcAft>
                <a:spcPts val="600"/>
              </a:spcAft>
            </a:pPr>
            <a:r>
              <a:rPr sz="1300" b="0">
                <a:solidFill>
                  <a:srgbClr val="222222"/>
                </a:solidFill>
              </a:rPr>
              <a:t>•  Average plays per song</a:t>
            </a:r>
          </a:p>
        </p:txBody>
      </p:sp>
      <p:sp>
        <p:nvSpPr>
          <p:cNvPr id="91" name="Slide Number Placeholder"/>
          <p:cNvSpPr>
            <a:spLocks noGrp="1"/>
          </p:cNvSpPr>
          <p:nvPr>
            <p:ph type="sldNum" sz="quarter" idx="12"/>
          </p:nvPr>
        </p:nvSpPr>
        <p:spPr/>
        <p:txBody>
          <a:bodyPr/>
          <a:lstStyle/>
          <a:p>
            <a:fld id="{CB012AB6-14AF-4351-87AD-D420B05274E1}" type="slidenum">
              <a:rPr lang="en-IN"/>
              <a:t>3</a:t>
            </a:fld>
            <a:endParaRPr lang="en-IN"/>
          </a:p>
        </p:txBody>
      </p:sp>
    </p:spTree>
    <p:extLst>
      <p:ext uri="{BB962C8B-B14F-4D97-AF65-F5344CB8AC3E}">
        <p14:creationId xmlns:p14="http://schemas.microsoft.com/office/powerpoint/2010/main" val="3980090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54CC5-4FD5-611A-4481-E878E281E2CD}"/>
              </a:ext>
            </a:extLst>
          </p:cNvPr>
          <p:cNvSpPr>
            <a:spLocks noGrp="1"/>
          </p:cNvSpPr>
          <p:nvPr>
            <p:ph type="title"/>
          </p:nvPr>
        </p:nvSpPr>
        <p:spPr>
          <a:xfrm>
            <a:off x="1508760" y="320040"/>
            <a:ext cx="10363200" cy="822960"/>
          </a:xfrm>
        </p:spPr>
        <p:txBody>
          <a:bodyPr/>
          <a:lstStyle/>
          <a:p>
            <a:r>
              <a:t>CO 1 Topics</a:t>
            </a:r>
          </a:p>
        </p:txBody>
      </p:sp>
      <p:sp>
        <p:nvSpPr>
          <p:cNvPr id="6" name="TextBox 5"/>
          <p:cNvSpPr txBox="1"/>
          <p:nvPr/>
        </p:nvSpPr>
        <p:spPr>
          <a:xfrm>
            <a:off x="1508760" y="1417320"/>
            <a:ext cx="10363200" cy="384048"/>
          </a:xfrm>
          <a:prstGeom prst="rect">
            <a:avLst/>
          </a:prstGeom>
          <a:noFill/>
        </p:spPr>
        <p:txBody>
          <a:bodyPr wrap="square" anchor="t">
            <a:spAutoFit/>
          </a:bodyPr>
          <a:lstStyle/>
          <a:p>
            <a:pPr>
              <a:spcAft>
                <a:spcPts val="400"/>
              </a:spcAft>
            </a:pPr>
            <a:r>
              <a:rPr sz="1400" b="1">
                <a:solidFill>
                  <a:srgbClr val="A31F24"/>
                </a:solidFill>
              </a:rPr>
              <a:t>Module 1 – From Problem to Program: Computational Thinking &amp; Java Foundations</a:t>
            </a:r>
          </a:p>
        </p:txBody>
      </p:sp>
      <p:graphicFrame>
        <p:nvGraphicFramePr>
          <p:cNvPr id="7" name="Table 6"/>
          <p:cNvGraphicFramePr>
            <a:graphicFrameLocks noGrp="1"/>
          </p:cNvGraphicFramePr>
          <p:nvPr/>
        </p:nvGraphicFramePr>
        <p:xfrm>
          <a:off x="838200" y="1828800"/>
          <a:ext cx="6309360" cy="3840480"/>
        </p:xfrm>
        <a:graphic>
          <a:graphicData uri="http://schemas.openxmlformats.org/drawingml/2006/table">
            <a:tbl>
              <a:tblPr firstRow="1" bandRow="1">
                <a:tableStyleId>{5C22544A-7EE6-4342-B048-85BDC9FD1C3A}</a:tableStyleId>
              </a:tblPr>
              <a:tblGrid>
                <a:gridCol w="214884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tblGrid>
              <a:tr h="548640">
                <a:tc>
                  <a:txBody>
                    <a:bodyPr/>
                    <a:lstStyle/>
                    <a:p>
                      <a:r>
                        <a:rPr sz="1200" b="1">
                          <a:solidFill>
                            <a:srgbClr val="FFFFFF"/>
                          </a:solidFill>
                        </a:rPr>
                        <a:t>Topic</a:t>
                      </a:r>
                    </a:p>
                  </a:txBody>
                  <a:tcPr marL="109728" marR="109728" anchor="ctr">
                    <a:solidFill>
                      <a:srgbClr val="A31F24"/>
                    </a:solidFill>
                  </a:tcPr>
                </a:tc>
                <a:tc>
                  <a:txBody>
                    <a:bodyPr/>
                    <a:lstStyle/>
                    <a:p>
                      <a:r>
                        <a:rPr sz="1200" b="1">
                          <a:solidFill>
                            <a:srgbClr val="FFFFFF"/>
                          </a:solidFill>
                        </a:rPr>
                        <a:t>How it is used in our project</a:t>
                      </a:r>
                    </a:p>
                  </a:txBody>
                  <a:tcPr marL="109728" marR="109728" anchor="ctr">
                    <a:solidFill>
                      <a:srgbClr val="A31F24"/>
                    </a:solidFill>
                  </a:tcPr>
                </a:tc>
                <a:extLst>
                  <a:ext uri="{0D108BD9-81ED-4DB2-BD59-A6C34878D82A}">
                    <a16:rowId xmlns:a16="http://schemas.microsoft.com/office/drawing/2014/main" val="10000"/>
                  </a:ext>
                </a:extLst>
              </a:tr>
              <a:tr h="548640">
                <a:tc>
                  <a:txBody>
                    <a:bodyPr/>
                    <a:lstStyle/>
                    <a:p>
                      <a:r>
                        <a:rPr sz="1200" b="1">
                          <a:solidFill>
                            <a:srgbClr val="222222"/>
                          </a:solidFill>
                        </a:rPr>
                        <a:t>Problem solving / algorithm</a:t>
                      </a:r>
                    </a:p>
                  </a:txBody>
                  <a:tcPr marL="109728" marR="109728" anchor="ctr">
                    <a:solidFill>
                      <a:srgbClr val="FFFFFF"/>
                    </a:solidFill>
                  </a:tcPr>
                </a:tc>
                <a:tc>
                  <a:txBody>
                    <a:bodyPr/>
                    <a:lstStyle/>
                    <a:p>
                      <a:r>
                        <a:rPr sz="1200" b="0">
                          <a:solidFill>
                            <a:srgbClr val="222222"/>
                          </a:solidFill>
                        </a:rPr>
                        <a:t>Steps: read songs → display → find max → total → average</a:t>
                      </a:r>
                    </a:p>
                  </a:txBody>
                  <a:tcPr marL="109728" marR="109728" anchor="ctr">
                    <a:solidFill>
                      <a:srgbClr val="FFFFFF"/>
                    </a:solidFill>
                  </a:tcPr>
                </a:tc>
                <a:extLst>
                  <a:ext uri="{0D108BD9-81ED-4DB2-BD59-A6C34878D82A}">
                    <a16:rowId xmlns:a16="http://schemas.microsoft.com/office/drawing/2014/main" val="10001"/>
                  </a:ext>
                </a:extLst>
              </a:tr>
              <a:tr h="548640">
                <a:tc>
                  <a:txBody>
                    <a:bodyPr/>
                    <a:lstStyle/>
                    <a:p>
                      <a:r>
                        <a:rPr sz="1200" b="1">
                          <a:solidFill>
                            <a:srgbClr val="222222"/>
                          </a:solidFill>
                        </a:rPr>
                        <a:t>Structure of a Java program</a:t>
                      </a:r>
                    </a:p>
                  </a:txBody>
                  <a:tcPr marL="109728" marR="109728" anchor="ctr">
                    <a:solidFill>
                      <a:srgbClr val="F4F4F4"/>
                    </a:solidFill>
                  </a:tcPr>
                </a:tc>
                <a:tc>
                  <a:txBody>
                    <a:bodyPr/>
                    <a:lstStyle/>
                    <a:p>
                      <a:r>
                        <a:rPr sz="1200" b="0">
                          <a:solidFill>
                            <a:srgbClr val="222222"/>
                          </a:solidFill>
                        </a:rPr>
                        <a:t>class MusicPlaylist with public static void main(String[] args)</a:t>
                      </a:r>
                    </a:p>
                  </a:txBody>
                  <a:tcPr marL="109728" marR="109728" anchor="ctr">
                    <a:solidFill>
                      <a:srgbClr val="F4F4F4"/>
                    </a:solidFill>
                  </a:tcPr>
                </a:tc>
                <a:extLst>
                  <a:ext uri="{0D108BD9-81ED-4DB2-BD59-A6C34878D82A}">
                    <a16:rowId xmlns:a16="http://schemas.microsoft.com/office/drawing/2014/main" val="10002"/>
                  </a:ext>
                </a:extLst>
              </a:tr>
              <a:tr h="548640">
                <a:tc>
                  <a:txBody>
                    <a:bodyPr/>
                    <a:lstStyle/>
                    <a:p>
                      <a:r>
                        <a:rPr sz="1200" b="1">
                          <a:solidFill>
                            <a:srgbClr val="222222"/>
                          </a:solidFill>
                        </a:rPr>
                        <a:t>Primitive types &amp; variables</a:t>
                      </a:r>
                    </a:p>
                  </a:txBody>
                  <a:tcPr marL="109728" marR="109728" anchor="ctr">
                    <a:solidFill>
                      <a:srgbClr val="FFFFFF"/>
                    </a:solidFill>
                  </a:tcPr>
                </a:tc>
                <a:tc>
                  <a:txBody>
                    <a:bodyPr/>
                    <a:lstStyle/>
                    <a:p>
                      <a:r>
                        <a:rPr sz="1200" b="0">
                          <a:solidFill>
                            <a:srgbClr val="222222"/>
                          </a:solidFill>
                        </a:rPr>
                        <a:t>int max, position, total;  double average</a:t>
                      </a:r>
                    </a:p>
                  </a:txBody>
                  <a:tcPr marL="109728" marR="109728" anchor="ctr">
                    <a:solidFill>
                      <a:srgbClr val="FFFFFF"/>
                    </a:solidFill>
                  </a:tcPr>
                </a:tc>
                <a:extLst>
                  <a:ext uri="{0D108BD9-81ED-4DB2-BD59-A6C34878D82A}">
                    <a16:rowId xmlns:a16="http://schemas.microsoft.com/office/drawing/2014/main" val="10003"/>
                  </a:ext>
                </a:extLst>
              </a:tr>
              <a:tr h="548640">
                <a:tc>
                  <a:txBody>
                    <a:bodyPr/>
                    <a:lstStyle/>
                    <a:p>
                      <a:r>
                        <a:rPr sz="1200" b="1">
                          <a:solidFill>
                            <a:srgbClr val="222222"/>
                          </a:solidFill>
                        </a:rPr>
                        <a:t>Operators</a:t>
                      </a:r>
                    </a:p>
                  </a:txBody>
                  <a:tcPr marL="109728" marR="109728" anchor="ctr">
                    <a:solidFill>
                      <a:srgbClr val="F4F4F4"/>
                    </a:solidFill>
                  </a:tcPr>
                </a:tc>
                <a:tc>
                  <a:txBody>
                    <a:bodyPr/>
                    <a:lstStyle/>
                    <a:p>
                      <a:r>
                        <a:rPr sz="1200" b="0">
                          <a:solidFill>
                            <a:srgbClr val="222222"/>
                          </a:solidFill>
                        </a:rPr>
                        <a:t>Arithmetic (+, /), relational (&gt;), assignment (=, +=), string concatenation (+)</a:t>
                      </a:r>
                    </a:p>
                  </a:txBody>
                  <a:tcPr marL="109728" marR="109728" anchor="ctr">
                    <a:solidFill>
                      <a:srgbClr val="F4F4F4"/>
                    </a:solidFill>
                  </a:tcPr>
                </a:tc>
                <a:extLst>
                  <a:ext uri="{0D108BD9-81ED-4DB2-BD59-A6C34878D82A}">
                    <a16:rowId xmlns:a16="http://schemas.microsoft.com/office/drawing/2014/main" val="10004"/>
                  </a:ext>
                </a:extLst>
              </a:tr>
              <a:tr h="548640">
                <a:tc>
                  <a:txBody>
                    <a:bodyPr/>
                    <a:lstStyle/>
                    <a:p>
                      <a:r>
                        <a:rPr sz="1200" b="1">
                          <a:solidFill>
                            <a:srgbClr val="222222"/>
                          </a:solidFill>
                        </a:rPr>
                        <a:t>Typecasting / expressions</a:t>
                      </a:r>
                    </a:p>
                  </a:txBody>
                  <a:tcPr marL="109728" marR="109728" anchor="ctr">
                    <a:solidFill>
                      <a:srgbClr val="FFFFFF"/>
                    </a:solidFill>
                  </a:tcPr>
                </a:tc>
                <a:tc>
                  <a:txBody>
                    <a:bodyPr/>
                    <a:lstStyle/>
                    <a:p>
                      <a:r>
                        <a:rPr sz="1200" b="0">
                          <a:solidFill>
                            <a:srgbClr val="222222"/>
                          </a:solidFill>
                        </a:rPr>
                        <a:t>total / 5.0 promotes int to double, so the average keeps decimals</a:t>
                      </a:r>
                    </a:p>
                  </a:txBody>
                  <a:tcPr marL="109728" marR="109728" anchor="ctr">
                    <a:solidFill>
                      <a:srgbClr val="FFFFFF"/>
                    </a:solidFill>
                  </a:tcPr>
                </a:tc>
                <a:extLst>
                  <a:ext uri="{0D108BD9-81ED-4DB2-BD59-A6C34878D82A}">
                    <a16:rowId xmlns:a16="http://schemas.microsoft.com/office/drawing/2014/main" val="10005"/>
                  </a:ext>
                </a:extLst>
              </a:tr>
              <a:tr h="548640">
                <a:tc>
                  <a:txBody>
                    <a:bodyPr/>
                    <a:lstStyle/>
                    <a:p>
                      <a:r>
                        <a:rPr sz="1200" b="1">
                          <a:solidFill>
                            <a:srgbClr val="222222"/>
                          </a:solidFill>
                        </a:rPr>
                        <a:t>Console I/O with Scanner</a:t>
                      </a:r>
                    </a:p>
                  </a:txBody>
                  <a:tcPr marL="109728" marR="109728" anchor="ctr">
                    <a:solidFill>
                      <a:srgbClr val="F4F4F4"/>
                    </a:solidFill>
                  </a:tcPr>
                </a:tc>
                <a:tc>
                  <a:txBody>
                    <a:bodyPr/>
                    <a:lstStyle/>
                    <a:p>
                      <a:r>
                        <a:rPr sz="1200" b="0">
                          <a:solidFill>
                            <a:srgbClr val="222222"/>
                          </a:solidFill>
                        </a:rPr>
                        <a:t>nextLine() for song names, nextInt() for plays, println() for output</a:t>
                      </a:r>
                    </a:p>
                  </a:txBody>
                  <a:tcPr marL="109728" marR="109728" anchor="ctr">
                    <a:solidFill>
                      <a:srgbClr val="F4F4F4"/>
                    </a:solidFill>
                  </a:tcPr>
                </a:tc>
                <a:extLst>
                  <a:ext uri="{0D108BD9-81ED-4DB2-BD59-A6C34878D82A}">
                    <a16:rowId xmlns:a16="http://schemas.microsoft.com/office/drawing/2014/main" val="10006"/>
                  </a:ext>
                </a:extLst>
              </a:tr>
            </a:tbl>
          </a:graphicData>
        </a:graphic>
      </p:graphicFrame>
      <p:sp>
        <p:nvSpPr>
          <p:cNvPr id="91" name="Slide Number Placeholder"/>
          <p:cNvSpPr>
            <a:spLocks noGrp="1"/>
          </p:cNvSpPr>
          <p:nvPr>
            <p:ph type="sldNum" sz="quarter" idx="12"/>
          </p:nvPr>
        </p:nvSpPr>
        <p:spPr/>
        <p:txBody>
          <a:bodyPr/>
          <a:lstStyle/>
          <a:p>
            <a:fld id="{CB012AB6-14AF-4351-87AD-D420B05274E1}" type="slidenum">
              <a:rPr lang="en-IN"/>
              <a:t>4</a:t>
            </a:fld>
            <a:endParaRPr lang="en-IN"/>
          </a:p>
        </p:txBody>
      </p:sp>
    </p:spTree>
    <p:extLst>
      <p:ext uri="{BB962C8B-B14F-4D97-AF65-F5344CB8AC3E}">
        <p14:creationId xmlns:p14="http://schemas.microsoft.com/office/powerpoint/2010/main" val="4104242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4FDF4-A21D-11D6-CA7A-382058E2F499}"/>
              </a:ext>
            </a:extLst>
          </p:cNvPr>
          <p:cNvSpPr>
            <a:spLocks noGrp="1"/>
          </p:cNvSpPr>
          <p:nvPr>
            <p:ph type="title"/>
          </p:nvPr>
        </p:nvSpPr>
        <p:spPr>
          <a:xfrm>
            <a:off x="1508760" y="320040"/>
            <a:ext cx="10363200" cy="822960"/>
          </a:xfrm>
        </p:spPr>
        <p:txBody>
          <a:bodyPr/>
          <a:lstStyle/>
          <a:p>
            <a:r>
              <a:t>CO 2 Topics</a:t>
            </a:r>
          </a:p>
        </p:txBody>
      </p:sp>
      <p:sp>
        <p:nvSpPr>
          <p:cNvPr id="6" name="TextBox 5"/>
          <p:cNvSpPr txBox="1"/>
          <p:nvPr/>
        </p:nvSpPr>
        <p:spPr>
          <a:xfrm>
            <a:off x="1508760" y="1417320"/>
            <a:ext cx="10363200" cy="384048"/>
          </a:xfrm>
          <a:prstGeom prst="rect">
            <a:avLst/>
          </a:prstGeom>
          <a:noFill/>
        </p:spPr>
        <p:txBody>
          <a:bodyPr wrap="square" anchor="t">
            <a:spAutoFit/>
          </a:bodyPr>
          <a:lstStyle/>
          <a:p>
            <a:pPr>
              <a:spcAft>
                <a:spcPts val="400"/>
              </a:spcAft>
            </a:pPr>
            <a:r>
              <a:rPr sz="1400" b="1">
                <a:solidFill>
                  <a:srgbClr val="A31F24"/>
                </a:solidFill>
              </a:rPr>
              <a:t>Module 2 – Control Flow: Selection &amp; Iteration</a:t>
            </a:r>
          </a:p>
        </p:txBody>
      </p:sp>
      <p:graphicFrame>
        <p:nvGraphicFramePr>
          <p:cNvPr id="7" name="Table 6"/>
          <p:cNvGraphicFramePr>
            <a:graphicFrameLocks noGrp="1"/>
          </p:cNvGraphicFramePr>
          <p:nvPr/>
        </p:nvGraphicFramePr>
        <p:xfrm>
          <a:off x="838200" y="1828800"/>
          <a:ext cx="6309360" cy="3840480"/>
        </p:xfrm>
        <a:graphic>
          <a:graphicData uri="http://schemas.openxmlformats.org/drawingml/2006/table">
            <a:tbl>
              <a:tblPr firstRow="1" bandRow="1">
                <a:tableStyleId>{5C22544A-7EE6-4342-B048-85BDC9FD1C3A}</a:tableStyleId>
              </a:tblPr>
              <a:tblGrid>
                <a:gridCol w="214884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tblGrid>
              <a:tr h="548640">
                <a:tc>
                  <a:txBody>
                    <a:bodyPr/>
                    <a:lstStyle/>
                    <a:p>
                      <a:r>
                        <a:rPr lang="en-IN" sz="1200"/>
                        <a:t>Topic</a:t>
                      </a:r>
                    </a:p>
                  </a:txBody>
                  <a:tcPr marL="109728" marR="109728" anchor="ctr">
                    <a:solidFill>
                      <a:srgbClr val="A31F24"/>
                    </a:solidFill>
                  </a:tcPr>
                </a:tc>
                <a:tc>
                  <a:txBody>
                    <a:bodyPr/>
                    <a:lstStyle/>
                    <a:p>
                      <a:r>
                        <a:rPr lang="en-IN" sz="1200"/>
                        <a:t>How it is used in our project</a:t>
                      </a:r>
                    </a:p>
                  </a:txBody>
                  <a:tcPr marL="109728" marR="109728" anchor="ctr">
                    <a:solidFill>
                      <a:srgbClr val="A31F24"/>
                    </a:solidFill>
                  </a:tcPr>
                </a:tc>
                <a:extLst>
                  <a:ext uri="{0D108BD9-81ED-4DB2-BD59-A6C34878D82A}">
                    <a16:rowId xmlns:a16="http://schemas.microsoft.com/office/drawing/2014/main" val="10000"/>
                  </a:ext>
                </a:extLst>
              </a:tr>
              <a:tr h="548640">
                <a:tc>
                  <a:txBody>
                    <a:bodyPr/>
                    <a:lstStyle/>
                    <a:p>
                      <a:r>
                        <a:rPr lang="en-IN" sz="1200"/>
                        <a:t>for loop</a:t>
                      </a:r>
                    </a:p>
                  </a:txBody>
                  <a:tcPr marL="109728" marR="109728" anchor="ctr">
                    <a:solidFill>
                      <a:srgbClr val="FFFFFF"/>
                    </a:solidFill>
                  </a:tcPr>
                </a:tc>
                <a:tc>
                  <a:txBody>
                    <a:bodyPr/>
                    <a:lstStyle/>
                    <a:p>
                      <a:r>
                        <a:rPr lang="en-IN" sz="1200"/>
                        <a:t>Used 4 times: reading input, displaying the playlist, finding the max, and adding the total.</a:t>
                      </a:r>
                    </a:p>
                  </a:txBody>
                  <a:tcPr marL="109728" marR="109728" anchor="ctr">
                    <a:solidFill>
                      <a:srgbClr val="FFFFFF"/>
                    </a:solidFill>
                  </a:tcPr>
                </a:tc>
                <a:extLst>
                  <a:ext uri="{0D108BD9-81ED-4DB2-BD59-A6C34878D82A}">
                    <a16:rowId xmlns:a16="http://schemas.microsoft.com/office/drawing/2014/main" val="10001"/>
                  </a:ext>
                </a:extLst>
              </a:tr>
              <a:tr h="548640">
                <a:tc>
                  <a:txBody>
                    <a:bodyPr/>
                    <a:lstStyle/>
                    <a:p>
                      <a:r>
                        <a:rPr lang="en-IN" sz="1200"/>
                        <a:t>if statement</a:t>
                      </a:r>
                    </a:p>
                  </a:txBody>
                  <a:tcPr marL="109728" marR="109728" anchor="ctr">
                    <a:solidFill>
                      <a:srgbClr val="F4F4F4"/>
                    </a:solidFill>
                  </a:tcPr>
                </a:tc>
                <a:tc>
                  <a:txBody>
                    <a:bodyPr/>
                    <a:lstStyle/>
                    <a:p>
                      <a:r>
                        <a:rPr lang="en-IN" sz="1200"/>
                        <a:t>Compares plays[i] &gt; max to update the most played song.</a:t>
                      </a:r>
                    </a:p>
                  </a:txBody>
                  <a:tcPr marL="109728" marR="109728" anchor="ctr">
                    <a:solidFill>
                      <a:srgbClr val="F4F4F4"/>
                    </a:solidFill>
                  </a:tcPr>
                </a:tc>
                <a:extLst>
                  <a:ext uri="{0D108BD9-81ED-4DB2-BD59-A6C34878D82A}">
                    <a16:rowId xmlns:a16="http://schemas.microsoft.com/office/drawing/2014/main" val="10002"/>
                  </a:ext>
                </a:extLst>
              </a:tr>
              <a:tr h="548640">
                <a:tc>
                  <a:txBody>
                    <a:bodyPr/>
                    <a:lstStyle/>
                    <a:p>
                      <a:r>
                        <a:rPr lang="en-IN" sz="1200"/>
                        <a:t>Nested control flow</a:t>
                      </a:r>
                    </a:p>
                  </a:txBody>
                  <a:tcPr marL="109728" marR="109728" anchor="ctr">
                    <a:solidFill>
                      <a:srgbClr val="FFFFFF"/>
                    </a:solidFill>
                  </a:tcPr>
                </a:tc>
                <a:tc>
                  <a:txBody>
                    <a:bodyPr/>
                    <a:lstStyle/>
                    <a:p>
                      <a:r>
                        <a:rPr lang="en-IN" sz="1200"/>
                        <a:t>An if statement placed inside a for loop to search the array.</a:t>
                      </a:r>
                    </a:p>
                  </a:txBody>
                  <a:tcPr marL="109728" marR="109728" anchor="ctr">
                    <a:solidFill>
                      <a:srgbClr val="FFFFFF"/>
                    </a:solidFill>
                  </a:tcPr>
                </a:tc>
                <a:extLst>
                  <a:ext uri="{0D108BD9-81ED-4DB2-BD59-A6C34878D82A}">
                    <a16:rowId xmlns:a16="http://schemas.microsoft.com/office/drawing/2014/main" val="10003"/>
                  </a:ext>
                </a:extLst>
              </a:tr>
              <a:tr h="548640">
                <a:tc>
                  <a:txBody>
                    <a:bodyPr/>
                    <a:lstStyle/>
                    <a:p>
                      <a:r>
                        <a:rPr lang="en-IN" sz="1200"/>
                        <a:t>Compound statements</a:t>
                      </a:r>
                    </a:p>
                  </a:txBody>
                  <a:tcPr marL="109728" marR="109728" anchor="ctr">
                    <a:solidFill>
                      <a:srgbClr val="F4F4F4"/>
                    </a:solidFill>
                  </a:tcPr>
                </a:tc>
                <a:tc>
                  <a:txBody>
                    <a:bodyPr/>
                    <a:lstStyle/>
                    <a:p>
                      <a:r>
                        <a:rPr lang="en-IN" sz="1200"/>
                        <a:t>Blocks { } group several statements inside loops and conditions.</a:t>
                      </a:r>
                    </a:p>
                  </a:txBody>
                  <a:tcPr marL="109728" marR="109728" anchor="ctr">
                    <a:solidFill>
                      <a:srgbClr val="F4F4F4"/>
                    </a:solidFill>
                  </a:tcPr>
                </a:tc>
                <a:extLst>
                  <a:ext uri="{0D108BD9-81ED-4DB2-BD59-A6C34878D82A}">
                    <a16:rowId xmlns:a16="http://schemas.microsoft.com/office/drawing/2014/main" val="10004"/>
                  </a:ext>
                </a:extLst>
              </a:tr>
              <a:tr h="548640">
                <a:tc>
                  <a:txBody>
                    <a:bodyPr/>
                    <a:lstStyle/>
                    <a:p>
                      <a:r>
                        <a:rPr lang="en-IN" sz="1200"/>
                        <a:t>switch statement</a:t>
                      </a:r>
                    </a:p>
                  </a:txBody>
                  <a:tcPr marL="109728" marR="109728" anchor="ctr">
                    <a:solidFill>
                      <a:srgbClr val="FFFFFF"/>
                    </a:solidFill>
                  </a:tcPr>
                </a:tc>
                <a:tc>
                  <a:txBody>
                    <a:bodyPr/>
                    <a:lstStyle/>
                    <a:p>
                      <a:r>
                        <a:rPr lang="en-IN" sz="1200"/>
                        <a:t>Can be used for a menu to choose options like Add, Show, Stats, and Exit.</a:t>
                      </a:r>
                    </a:p>
                  </a:txBody>
                  <a:tcPr marL="109728" marR="109728" anchor="ctr">
                    <a:solidFill>
                      <a:srgbClr val="FFFFFF"/>
                    </a:solidFill>
                  </a:tcPr>
                </a:tc>
                <a:extLst>
                  <a:ext uri="{0D108BD9-81ED-4DB2-BD59-A6C34878D82A}">
                    <a16:rowId xmlns:a16="http://schemas.microsoft.com/office/drawing/2014/main" val="10005"/>
                  </a:ext>
                </a:extLst>
              </a:tr>
              <a:tr h="548640">
                <a:tc>
                  <a:txBody>
                    <a:bodyPr/>
                    <a:lstStyle/>
                    <a:p>
                      <a:r>
                        <a:rPr lang="en-IN" sz="1200"/>
                        <a:t>do-while loop</a:t>
                      </a:r>
                    </a:p>
                  </a:txBody>
                  <a:tcPr marL="109728" marR="109728" anchor="ctr">
                    <a:solidFill>
                      <a:srgbClr val="F4F4F4"/>
                    </a:solidFill>
                  </a:tcPr>
                </a:tc>
                <a:tc>
                  <a:txBody>
                    <a:bodyPr/>
                    <a:lstStyle/>
                    <a:p>
                      <a:r>
                        <a:rPr lang="en-IN" sz="1200"/>
                        <a:t>Can repeat the menu until the user chooses Exit.</a:t>
                      </a:r>
                    </a:p>
                  </a:txBody>
                  <a:tcPr marL="109728" marR="109728" anchor="ctr">
                    <a:solidFill>
                      <a:srgbClr val="F4F4F4"/>
                    </a:solidFill>
                  </a:tcPr>
                </a:tc>
                <a:extLst>
                  <a:ext uri="{0D108BD9-81ED-4DB2-BD59-A6C34878D82A}">
                    <a16:rowId xmlns:a16="http://schemas.microsoft.com/office/drawing/2014/main" val="10006"/>
                  </a:ext>
                </a:extLst>
              </a:tr>
            </a:tbl>
          </a:graphicData>
        </a:graphic>
      </p:graphicFrame>
      <p:sp>
        <p:nvSpPr>
          <p:cNvPr id="91" name="Slide Number Placeholder"/>
          <p:cNvSpPr>
            <a:spLocks noGrp="1"/>
          </p:cNvSpPr>
          <p:nvPr>
            <p:ph type="sldNum" sz="quarter" idx="12"/>
          </p:nvPr>
        </p:nvSpPr>
        <p:spPr/>
        <p:txBody>
          <a:bodyPr/>
          <a:lstStyle/>
          <a:p>
            <a:fld id="{CB012AB6-14AF-4351-87AD-D420B05274E1}" type="slidenum">
              <a:rPr lang="en-IN"/>
              <a:t>5</a:t>
            </a:fld>
            <a:endParaRPr lang="en-IN"/>
          </a:p>
        </p:txBody>
      </p:sp>
    </p:spTree>
    <p:extLst>
      <p:ext uri="{BB962C8B-B14F-4D97-AF65-F5344CB8AC3E}">
        <p14:creationId xmlns:p14="http://schemas.microsoft.com/office/powerpoint/2010/main" val="4178111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BDDFB-DFEC-7A21-D889-17965A225820}"/>
              </a:ext>
            </a:extLst>
          </p:cNvPr>
          <p:cNvSpPr>
            <a:spLocks noGrp="1"/>
          </p:cNvSpPr>
          <p:nvPr>
            <p:ph type="title"/>
          </p:nvPr>
        </p:nvSpPr>
        <p:spPr>
          <a:xfrm>
            <a:off x="1508760" y="320040"/>
            <a:ext cx="10363200" cy="822960"/>
          </a:xfrm>
        </p:spPr>
        <p:txBody>
          <a:bodyPr/>
          <a:lstStyle/>
          <a:p>
            <a:r>
              <a:t>CO 3 Topics</a:t>
            </a:r>
          </a:p>
        </p:txBody>
      </p:sp>
      <p:sp>
        <p:nvSpPr>
          <p:cNvPr id="6" name="TextBox 5"/>
          <p:cNvSpPr txBox="1"/>
          <p:nvPr/>
        </p:nvSpPr>
        <p:spPr>
          <a:xfrm>
            <a:off x="1508760" y="1417320"/>
            <a:ext cx="10363200" cy="384048"/>
          </a:xfrm>
          <a:prstGeom prst="rect">
            <a:avLst/>
          </a:prstGeom>
          <a:noFill/>
        </p:spPr>
        <p:txBody>
          <a:bodyPr wrap="square" anchor="t">
            <a:spAutoFit/>
          </a:bodyPr>
          <a:lstStyle/>
          <a:p>
            <a:pPr>
              <a:spcAft>
                <a:spcPts val="400"/>
              </a:spcAft>
            </a:pPr>
            <a:r>
              <a:rPr sz="1400" b="1">
                <a:solidFill>
                  <a:srgbClr val="A31F24"/>
                </a:solidFill>
              </a:rPr>
              <a:t>Module 3 – Decomposition with Methods, Recursion &amp; Arrays</a:t>
            </a:r>
          </a:p>
        </p:txBody>
      </p:sp>
      <p:graphicFrame>
        <p:nvGraphicFramePr>
          <p:cNvPr id="7" name="Table 6"/>
          <p:cNvGraphicFramePr>
            <a:graphicFrameLocks noGrp="1"/>
          </p:cNvGraphicFramePr>
          <p:nvPr/>
        </p:nvGraphicFramePr>
        <p:xfrm>
          <a:off x="838200" y="1828800"/>
          <a:ext cx="5669280" cy="384048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tblGrid>
              <a:tr h="548640">
                <a:tc>
                  <a:txBody>
                    <a:bodyPr/>
                    <a:lstStyle/>
                    <a:p>
                      <a:r>
                        <a:rPr sz="1200" b="1">
                          <a:solidFill>
                            <a:srgbClr val="FFFFFF"/>
                          </a:solidFill>
                        </a:rPr>
                        <a:t>Array concept</a:t>
                      </a:r>
                    </a:p>
                  </a:txBody>
                  <a:tcPr marL="109728" marR="109728" anchor="ctr">
                    <a:solidFill>
                      <a:srgbClr val="A31F24"/>
                    </a:solidFill>
                  </a:tcPr>
                </a:tc>
                <a:tc>
                  <a:txBody>
                    <a:bodyPr/>
                    <a:lstStyle/>
                    <a:p>
                      <a:r>
                        <a:rPr sz="1200" b="1">
                          <a:solidFill>
                            <a:srgbClr val="FFFFFF"/>
                          </a:solidFill>
                        </a:rPr>
                        <a:t>In our project</a:t>
                      </a:r>
                    </a:p>
                  </a:txBody>
                  <a:tcPr marL="109728" marR="109728" anchor="ctr">
                    <a:solidFill>
                      <a:srgbClr val="A31F24"/>
                    </a:solidFill>
                  </a:tcPr>
                </a:tc>
                <a:extLst>
                  <a:ext uri="{0D108BD9-81ED-4DB2-BD59-A6C34878D82A}">
                    <a16:rowId xmlns:a16="http://schemas.microsoft.com/office/drawing/2014/main" val="10000"/>
                  </a:ext>
                </a:extLst>
              </a:tr>
              <a:tr h="548640">
                <a:tc>
                  <a:txBody>
                    <a:bodyPr/>
                    <a:lstStyle/>
                    <a:p>
                      <a:r>
                        <a:rPr sz="1200" b="1">
                          <a:solidFill>
                            <a:srgbClr val="222222"/>
                          </a:solidFill>
                        </a:rPr>
                        <a:t>1D array declaration</a:t>
                      </a:r>
                    </a:p>
                  </a:txBody>
                  <a:tcPr marL="109728" marR="109728" anchor="ctr">
                    <a:solidFill>
                      <a:srgbClr val="FFFFFF"/>
                    </a:solidFill>
                  </a:tcPr>
                </a:tc>
                <a:tc>
                  <a:txBody>
                    <a:bodyPr/>
                    <a:lstStyle/>
                    <a:p>
                      <a:r>
                        <a:rPr sz="1200" b="0">
                          <a:solidFill>
                            <a:srgbClr val="222222"/>
                          </a:solidFill>
                        </a:rPr>
                        <a:t>String[] songs = new String[5];  int[] plays = new int[5];</a:t>
                      </a:r>
                    </a:p>
                  </a:txBody>
                  <a:tcPr marL="109728" marR="109728" anchor="ctr">
                    <a:solidFill>
                      <a:srgbClr val="FFFFFF"/>
                    </a:solidFill>
                  </a:tcPr>
                </a:tc>
                <a:extLst>
                  <a:ext uri="{0D108BD9-81ED-4DB2-BD59-A6C34878D82A}">
                    <a16:rowId xmlns:a16="http://schemas.microsoft.com/office/drawing/2014/main" val="10001"/>
                  </a:ext>
                </a:extLst>
              </a:tr>
              <a:tr h="548640">
                <a:tc>
                  <a:txBody>
                    <a:bodyPr/>
                    <a:lstStyle/>
                    <a:p>
                      <a:r>
                        <a:rPr sz="1200" b="1">
                          <a:solidFill>
                            <a:srgbClr val="222222"/>
                          </a:solidFill>
                        </a:rPr>
                        <a:t>Traversal</a:t>
                      </a:r>
                    </a:p>
                  </a:txBody>
                  <a:tcPr marL="109728" marR="109728" anchor="ctr">
                    <a:solidFill>
                      <a:srgbClr val="F4F4F4"/>
                    </a:solidFill>
                  </a:tcPr>
                </a:tc>
                <a:tc>
                  <a:txBody>
                    <a:bodyPr/>
                    <a:lstStyle/>
                    <a:p>
                      <a:r>
                        <a:rPr sz="1200" b="0">
                          <a:solidFill>
                            <a:srgbClr val="222222"/>
                          </a:solidFill>
                        </a:rPr>
                        <a:t>Loop through every index to read and print songs</a:t>
                      </a:r>
                    </a:p>
                  </a:txBody>
                  <a:tcPr marL="109728" marR="109728" anchor="ctr">
                    <a:solidFill>
                      <a:srgbClr val="F4F4F4"/>
                    </a:solidFill>
                  </a:tcPr>
                </a:tc>
                <a:extLst>
                  <a:ext uri="{0D108BD9-81ED-4DB2-BD59-A6C34878D82A}">
                    <a16:rowId xmlns:a16="http://schemas.microsoft.com/office/drawing/2014/main" val="10002"/>
                  </a:ext>
                </a:extLst>
              </a:tr>
              <a:tr h="548640">
                <a:tc>
                  <a:txBody>
                    <a:bodyPr/>
                    <a:lstStyle/>
                    <a:p>
                      <a:r>
                        <a:rPr sz="1200" b="1">
                          <a:solidFill>
                            <a:srgbClr val="222222"/>
                          </a:solidFill>
                        </a:rPr>
                        <a:t>Searching</a:t>
                      </a:r>
                    </a:p>
                  </a:txBody>
                  <a:tcPr marL="109728" marR="109728" anchor="ctr">
                    <a:solidFill>
                      <a:srgbClr val="FFFFFF"/>
                    </a:solidFill>
                  </a:tcPr>
                </a:tc>
                <a:tc>
                  <a:txBody>
                    <a:bodyPr/>
                    <a:lstStyle/>
                    <a:p>
                      <a:r>
                        <a:rPr sz="1200" b="0">
                          <a:solidFill>
                            <a:srgbClr val="222222"/>
                          </a:solidFill>
                        </a:rPr>
                        <a:t>Linear search for the highest play count</a:t>
                      </a:r>
                    </a:p>
                  </a:txBody>
                  <a:tcPr marL="109728" marR="109728" anchor="ctr">
                    <a:solidFill>
                      <a:srgbClr val="FFFFFF"/>
                    </a:solidFill>
                  </a:tcPr>
                </a:tc>
                <a:extLst>
                  <a:ext uri="{0D108BD9-81ED-4DB2-BD59-A6C34878D82A}">
                    <a16:rowId xmlns:a16="http://schemas.microsoft.com/office/drawing/2014/main" val="10003"/>
                  </a:ext>
                </a:extLst>
              </a:tr>
              <a:tr h="548640">
                <a:tc>
                  <a:txBody>
                    <a:bodyPr/>
                    <a:lstStyle/>
                    <a:p>
                      <a:r>
                        <a:rPr sz="1200" b="1">
                          <a:solidFill>
                            <a:srgbClr val="222222"/>
                          </a:solidFill>
                        </a:rPr>
                        <a:t>Summation</a:t>
                      </a:r>
                    </a:p>
                  </a:txBody>
                  <a:tcPr marL="109728" marR="109728" anchor="ctr">
                    <a:solidFill>
                      <a:srgbClr val="F4F4F4"/>
                    </a:solidFill>
                  </a:tcPr>
                </a:tc>
                <a:tc>
                  <a:txBody>
                    <a:bodyPr/>
                    <a:lstStyle/>
                    <a:p>
                      <a:r>
                        <a:rPr sz="1200" b="0">
                          <a:solidFill>
                            <a:srgbClr val="222222"/>
                          </a:solidFill>
                        </a:rPr>
                        <a:t>total += plays[i] adds all play counts</a:t>
                      </a:r>
                    </a:p>
                  </a:txBody>
                  <a:tcPr marL="109728" marR="109728" anchor="ctr">
                    <a:solidFill>
                      <a:srgbClr val="F4F4F4"/>
                    </a:solidFill>
                  </a:tcPr>
                </a:tc>
                <a:extLst>
                  <a:ext uri="{0D108BD9-81ED-4DB2-BD59-A6C34878D82A}">
                    <a16:rowId xmlns:a16="http://schemas.microsoft.com/office/drawing/2014/main" val="10004"/>
                  </a:ext>
                </a:extLst>
              </a:tr>
              <a:tr h="548640">
                <a:tc>
                  <a:txBody>
                    <a:bodyPr/>
                    <a:lstStyle/>
                    <a:p>
                      <a:r>
                        <a:rPr sz="1200" b="1">
                          <a:solidFill>
                            <a:srgbClr val="222222"/>
                          </a:solidFill>
                        </a:rPr>
                        <a:t>Average</a:t>
                      </a:r>
                    </a:p>
                  </a:txBody>
                  <a:tcPr marL="109728" marR="109728" anchor="ctr">
                    <a:solidFill>
                      <a:srgbClr val="FFFFFF"/>
                    </a:solidFill>
                  </a:tcPr>
                </a:tc>
                <a:tc>
                  <a:txBody>
                    <a:bodyPr/>
                    <a:lstStyle/>
                    <a:p>
                      <a:r>
                        <a:rPr sz="1200" b="0">
                          <a:solidFill>
                            <a:srgbClr val="222222"/>
                          </a:solidFill>
                        </a:rPr>
                        <a:t>total / 5.0 gives average plays per song</a:t>
                      </a:r>
                    </a:p>
                  </a:txBody>
                  <a:tcPr marL="109728" marR="109728" anchor="ctr">
                    <a:solidFill>
                      <a:srgbClr val="FFFFFF"/>
                    </a:solidFill>
                  </a:tcPr>
                </a:tc>
                <a:extLst>
                  <a:ext uri="{0D108BD9-81ED-4DB2-BD59-A6C34878D82A}">
                    <a16:rowId xmlns:a16="http://schemas.microsoft.com/office/drawing/2014/main" val="10005"/>
                  </a:ext>
                </a:extLst>
              </a:tr>
              <a:tr h="548640">
                <a:tc>
                  <a:txBody>
                    <a:bodyPr/>
                    <a:lstStyle/>
                    <a:p>
                      <a:r>
                        <a:rPr sz="1200" b="1">
                          <a:solidFill>
                            <a:srgbClr val="222222"/>
                          </a:solidFill>
                        </a:rPr>
                        <a:t>Counting</a:t>
                      </a:r>
                    </a:p>
                  </a:txBody>
                  <a:tcPr marL="109728" marR="109728" anchor="ctr">
                    <a:solidFill>
                      <a:srgbClr val="F4F4F4"/>
                    </a:solidFill>
                  </a:tcPr>
                </a:tc>
                <a:tc>
                  <a:txBody>
                    <a:bodyPr/>
                    <a:lstStyle/>
                    <a:p>
                      <a:r>
                        <a:rPr sz="1200" b="0">
                          <a:solidFill>
                            <a:srgbClr val="222222"/>
                          </a:solidFill>
                        </a:rPr>
                        <a:t>Loop counter numbers the songs: "Enter song " + (i + 1)</a:t>
                      </a:r>
                    </a:p>
                  </a:txBody>
                  <a:tcPr marL="109728" marR="109728" anchor="ctr">
                    <a:solidFill>
                      <a:srgbClr val="F4F4F4"/>
                    </a:solidFill>
                  </a:tcPr>
                </a:tc>
                <a:extLst>
                  <a:ext uri="{0D108BD9-81ED-4DB2-BD59-A6C34878D82A}">
                    <a16:rowId xmlns:a16="http://schemas.microsoft.com/office/drawing/2014/main" val="10006"/>
                  </a:ext>
                </a:extLst>
              </a:tr>
            </a:tbl>
          </a:graphicData>
        </a:graphic>
      </p:graphicFrame>
      <p:sp>
        <p:nvSpPr>
          <p:cNvPr id="91" name="Slide Number Placeholder"/>
          <p:cNvSpPr>
            <a:spLocks noGrp="1"/>
          </p:cNvSpPr>
          <p:nvPr>
            <p:ph type="sldNum" sz="quarter" idx="12"/>
          </p:nvPr>
        </p:nvSpPr>
        <p:spPr/>
        <p:txBody>
          <a:bodyPr/>
          <a:lstStyle/>
          <a:p>
            <a:fld id="{CB012AB6-14AF-4351-87AD-D420B05274E1}" type="slidenum">
              <a:rPr lang="en-IN"/>
              <a:t>6</a:t>
            </a:fld>
            <a:endParaRPr lang="en-IN"/>
          </a:p>
        </p:txBody>
      </p:sp>
    </p:spTree>
    <p:extLst>
      <p:ext uri="{BB962C8B-B14F-4D97-AF65-F5344CB8AC3E}">
        <p14:creationId xmlns:p14="http://schemas.microsoft.com/office/powerpoint/2010/main" val="1869875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8760" y="320040"/>
            <a:ext cx="10363200" cy="822960"/>
          </a:xfrm>
        </p:spPr>
        <p:txBody>
          <a:bodyPr/>
          <a:lstStyle/>
          <a:p>
            <a:r>
              <a:t>CO 4 Topics</a:t>
            </a:r>
          </a:p>
        </p:txBody>
      </p:sp>
      <p:sp>
        <p:nvSpPr>
          <p:cNvPr id="6" name="TextBox 5"/>
          <p:cNvSpPr txBox="1"/>
          <p:nvPr/>
        </p:nvSpPr>
        <p:spPr>
          <a:xfrm>
            <a:off x="1508760" y="1417320"/>
            <a:ext cx="10363200" cy="384048"/>
          </a:xfrm>
          <a:prstGeom prst="rect">
            <a:avLst/>
          </a:prstGeom>
          <a:noFill/>
        </p:spPr>
        <p:txBody>
          <a:bodyPr wrap="square" anchor="t">
            <a:spAutoFit/>
          </a:bodyPr>
          <a:lstStyle/>
          <a:p>
            <a:r>
              <a:rPr lang="en-IN" sz="1400" b="1">
                <a:solidFill>
                  <a:srgbClr val="A31F24"/>
                </a:solidFill>
              </a:rPr>
              <a:t>Module 4 – Object-Oriented Modelling, Design &amp; Exception Handling</a:t>
            </a:r>
          </a:p>
        </p:txBody>
      </p:sp>
      <p:graphicFrame>
        <p:nvGraphicFramePr>
          <p:cNvPr id="7" name="Table 6"/>
          <p:cNvGraphicFramePr>
            <a:graphicFrameLocks noGrp="1"/>
          </p:cNvGraphicFramePr>
          <p:nvPr/>
        </p:nvGraphicFramePr>
        <p:xfrm>
          <a:off x="838200" y="1828800"/>
          <a:ext cx="6309360" cy="3840480"/>
        </p:xfrm>
        <a:graphic>
          <a:graphicData uri="http://schemas.openxmlformats.org/drawingml/2006/table">
            <a:tbl>
              <a:tblPr firstRow="1" bandRow="1">
                <a:tableStyleId>{5C22544A-7EE6-4342-B048-85BDC9FD1C3A}</a:tableStyleId>
              </a:tblPr>
              <a:tblGrid>
                <a:gridCol w="214884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tblGrid>
              <a:tr h="548640">
                <a:tc>
                  <a:txBody>
                    <a:bodyPr/>
                    <a:lstStyle/>
                    <a:p>
                      <a:r>
                        <a:rPr sz="1100" b="1">
                          <a:latin typeface="Aptos"/>
                        </a:rPr>
                        <a:t>Topic</a:t>
                      </a:r>
                    </a:p>
                  </a:txBody>
                  <a:tcPr marL="109728" marR="109728" anchor="ctr">
                    <a:solidFill>
                      <a:srgbClr val="A31F24"/>
                    </a:solidFill>
                  </a:tcPr>
                </a:tc>
                <a:tc>
                  <a:txBody>
                    <a:bodyPr/>
                    <a:lstStyle/>
                    <a:p>
                      <a:r>
                        <a:rPr sz="1100" b="1">
                          <a:latin typeface="Aptos"/>
                        </a:rPr>
                        <a:t>How it is used in our project</a:t>
                      </a:r>
                    </a:p>
                  </a:txBody>
                  <a:tcPr marL="109728" marR="109728" anchor="ctr">
                    <a:solidFill>
                      <a:srgbClr val="A31F24"/>
                    </a:solidFill>
                  </a:tcPr>
                </a:tc>
                <a:extLst>
                  <a:ext uri="{0D108BD9-81ED-4DB2-BD59-A6C34878D82A}">
                    <a16:rowId xmlns:a16="http://schemas.microsoft.com/office/drawing/2014/main" val="10000"/>
                  </a:ext>
                </a:extLst>
              </a:tr>
              <a:tr h="548640">
                <a:tc>
                  <a:txBody>
                    <a:bodyPr/>
                    <a:lstStyle/>
                    <a:p>
                      <a:r>
                        <a:rPr sz="1000">
                          <a:latin typeface="Aptos"/>
                        </a:rPr>
                        <a:t>Classes and objects</a:t>
                      </a:r>
                    </a:p>
                  </a:txBody>
                  <a:tcPr marL="109728" marR="109728" anchor="ctr">
                    <a:solidFill>
                      <a:srgbClr val="FFFFFF"/>
                    </a:solidFill>
                  </a:tcPr>
                </a:tc>
                <a:tc>
                  <a:txBody>
                    <a:bodyPr/>
                    <a:lstStyle/>
                    <a:p>
                      <a:r>
                        <a:rPr sz="1000">
                          <a:latin typeface="Aptos"/>
                        </a:rPr>
                        <a:t>A Song class represents each song; each object stores its own details.</a:t>
                      </a:r>
                    </a:p>
                  </a:txBody>
                  <a:tcPr marL="109728" marR="109728" anchor="ctr">
                    <a:solidFill>
                      <a:srgbClr val="FFFFFF"/>
                    </a:solidFill>
                  </a:tcPr>
                </a:tc>
                <a:extLst>
                  <a:ext uri="{0D108BD9-81ED-4DB2-BD59-A6C34878D82A}">
                    <a16:rowId xmlns:a16="http://schemas.microsoft.com/office/drawing/2014/main" val="10001"/>
                  </a:ext>
                </a:extLst>
              </a:tr>
              <a:tr h="548640">
                <a:tc>
                  <a:txBody>
                    <a:bodyPr/>
                    <a:lstStyle/>
                    <a:p>
                      <a:r>
                        <a:rPr sz="1000">
                          <a:latin typeface="Aptos"/>
                        </a:rPr>
                        <a:t>Fields, methods and constructors</a:t>
                      </a:r>
                    </a:p>
                  </a:txBody>
                  <a:tcPr marL="109728" marR="109728" anchor="ctr">
                    <a:solidFill>
                      <a:srgbClr val="F4F4F4"/>
                    </a:solidFill>
                  </a:tcPr>
                </a:tc>
                <a:tc>
                  <a:txBody>
                    <a:bodyPr/>
                    <a:lstStyle/>
                    <a:p>
                      <a:r>
                        <a:rPr sz="1000">
                          <a:latin typeface="Aptos"/>
                        </a:rPr>
                        <a:t>Fields store title, artist and plays; constructors initialise each Song object.</a:t>
                      </a:r>
                    </a:p>
                  </a:txBody>
                  <a:tcPr marL="109728" marR="109728" anchor="ctr">
                    <a:solidFill>
                      <a:srgbClr val="F4F4F4"/>
                    </a:solidFill>
                  </a:tcPr>
                </a:tc>
                <a:extLst>
                  <a:ext uri="{0D108BD9-81ED-4DB2-BD59-A6C34878D82A}">
                    <a16:rowId xmlns:a16="http://schemas.microsoft.com/office/drawing/2014/main" val="10002"/>
                  </a:ext>
                </a:extLst>
              </a:tr>
              <a:tr h="548640">
                <a:tc>
                  <a:txBody>
                    <a:bodyPr/>
                    <a:lstStyle/>
                    <a:p>
                      <a:r>
                        <a:rPr sz="1000">
                          <a:latin typeface="Aptos"/>
                        </a:rPr>
                        <a:t>Encapsulation</a:t>
                      </a:r>
                    </a:p>
                  </a:txBody>
                  <a:tcPr marL="109728" marR="109728" anchor="ctr">
                    <a:solidFill>
                      <a:srgbClr val="FFFFFF"/>
                    </a:solidFill>
                  </a:tcPr>
                </a:tc>
                <a:tc>
                  <a:txBody>
                    <a:bodyPr/>
                    <a:lstStyle/>
                    <a:p>
                      <a:r>
                        <a:rPr sz="1000">
                          <a:latin typeface="Aptos"/>
                        </a:rPr>
                        <a:t>Private fields and getter methods protect song data and control access.</a:t>
                      </a:r>
                    </a:p>
                  </a:txBody>
                  <a:tcPr marL="109728" marR="109728" anchor="ctr">
                    <a:solidFill>
                      <a:srgbClr val="FFFFFF"/>
                    </a:solidFill>
                  </a:tcPr>
                </a:tc>
                <a:extLst>
                  <a:ext uri="{0D108BD9-81ED-4DB2-BD59-A6C34878D82A}">
                    <a16:rowId xmlns:a16="http://schemas.microsoft.com/office/drawing/2014/main" val="10003"/>
                  </a:ext>
                </a:extLst>
              </a:tr>
              <a:tr h="548640">
                <a:tc>
                  <a:txBody>
                    <a:bodyPr/>
                    <a:lstStyle/>
                    <a:p>
                      <a:r>
                        <a:rPr sz="1000">
                          <a:latin typeface="Aptos"/>
                        </a:rPr>
                        <a:t>Relationships and toString()</a:t>
                      </a:r>
                    </a:p>
                  </a:txBody>
                  <a:tcPr marL="109728" marR="109728" anchor="ctr">
                    <a:solidFill>
                      <a:srgbClr val="F4F4F4"/>
                    </a:solidFill>
                  </a:tcPr>
                </a:tc>
                <a:tc>
                  <a:txBody>
                    <a:bodyPr/>
                    <a:lstStyle/>
                    <a:p>
                      <a:r>
                        <a:rPr sz="1000">
                          <a:latin typeface="Aptos"/>
                        </a:rPr>
                        <a:t>A Playlist has many Song objects; toString() displays song details clearly.</a:t>
                      </a:r>
                    </a:p>
                  </a:txBody>
                  <a:tcPr marL="109728" marR="109728" anchor="ctr">
                    <a:solidFill>
                      <a:srgbClr val="F4F4F4"/>
                    </a:solidFill>
                  </a:tcPr>
                </a:tc>
                <a:extLst>
                  <a:ext uri="{0D108BD9-81ED-4DB2-BD59-A6C34878D82A}">
                    <a16:rowId xmlns:a16="http://schemas.microsoft.com/office/drawing/2014/main" val="10004"/>
                  </a:ext>
                </a:extLst>
              </a:tr>
              <a:tr h="548640">
                <a:tc>
                  <a:txBody>
                    <a:bodyPr/>
                    <a:lstStyle/>
                    <a:p>
                      <a:r>
                        <a:rPr sz="1000">
                          <a:latin typeface="Aptos"/>
                        </a:rPr>
                        <a:t>Exceptions and validation</a:t>
                      </a:r>
                    </a:p>
                  </a:txBody>
                  <a:tcPr marL="109728" marR="109728" anchor="ctr">
                    <a:solidFill>
                      <a:srgbClr val="FFFFFF"/>
                    </a:solidFill>
                  </a:tcPr>
                </a:tc>
                <a:tc>
                  <a:txBody>
                    <a:bodyPr/>
                    <a:lstStyle/>
                    <a:p>
                      <a:r>
                        <a:rPr sz="1000">
                          <a:latin typeface="Aptos"/>
                        </a:rPr>
                        <a:t>Reject blank titles or negative play counts; catch invalid input and report errors safely.</a:t>
                      </a:r>
                    </a:p>
                  </a:txBody>
                  <a:tcPr marL="109728" marR="109728" anchor="ctr">
                    <a:solidFill>
                      <a:srgbClr val="FFFFFF"/>
                    </a:solidFill>
                  </a:tcPr>
                </a:tc>
                <a:extLst>
                  <a:ext uri="{0D108BD9-81ED-4DB2-BD59-A6C34878D82A}">
                    <a16:rowId xmlns:a16="http://schemas.microsoft.com/office/drawing/2014/main" val="10005"/>
                  </a:ext>
                </a:extLst>
              </a:tr>
              <a:tr h="548640">
                <a:tc>
                  <a:txBody>
                    <a:bodyPr/>
                    <a:lstStyle/>
                    <a:p>
                      <a:r>
                        <a:rPr sz="1000">
                          <a:latin typeface="Aptos"/>
                        </a:rPr>
                        <a:t>Inheritance and interfaces</a:t>
                      </a:r>
                    </a:p>
                  </a:txBody>
                  <a:tcPr marL="109728" marR="109728" anchor="ctr">
                    <a:solidFill>
                      <a:srgbClr val="F4F4F4"/>
                    </a:solidFill>
                  </a:tcPr>
                </a:tc>
                <a:tc>
                  <a:txBody>
                    <a:bodyPr/>
                    <a:lstStyle/>
                    <a:p>
                      <a:r>
                        <a:rPr sz="1000">
                          <a:latin typeface="Aptos"/>
                        </a:rPr>
                        <a:t>A common playable interface could be used if the project later supports different media types.</a:t>
                      </a:r>
                    </a:p>
                  </a:txBody>
                  <a:tcPr marL="109728" marR="109728" anchor="ctr">
                    <a:solidFill>
                      <a:srgbClr val="F4F4F4"/>
                    </a:solidFill>
                  </a:tcPr>
                </a:tc>
                <a:extLst>
                  <a:ext uri="{0D108BD9-81ED-4DB2-BD59-A6C34878D82A}">
                    <a16:rowId xmlns:a16="http://schemas.microsoft.com/office/drawing/2014/main" val="10006"/>
                  </a:ext>
                </a:extLst>
              </a:tr>
            </a:tbl>
          </a:graphicData>
        </a:graphic>
      </p:graphicFrame>
      <p:sp>
        <p:nvSpPr>
          <p:cNvPr id="91" name="Slide Number Placeholder"/>
          <p:cNvSpPr>
            <a:spLocks noGrp="1"/>
          </p:cNvSpPr>
          <p:nvPr>
            <p:ph type="sldNum" sz="quarter" idx="12"/>
          </p:nvPr>
        </p:nvSpPr>
        <p:spPr/>
        <p:txBody>
          <a:bodyPr/>
          <a:lstStyle/>
          <a:p>
            <a:fld id="{CB012AB6-14AF-4351-87AD-D420B05274E1}" type="slidenum">
              <a:rPr lang="en-IN"/>
              <a:t>7</a:t>
            </a:fld>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8760" y="320040"/>
            <a:ext cx="10363200" cy="822960"/>
          </a:xfrm>
        </p:spPr>
        <p:txBody>
          <a:bodyPr/>
          <a:lstStyle/>
          <a:p>
            <a:r>
              <a:t>CO 5 Topics</a:t>
            </a:r>
          </a:p>
        </p:txBody>
      </p:sp>
      <p:sp>
        <p:nvSpPr>
          <p:cNvPr id="6" name="TextBox 5"/>
          <p:cNvSpPr txBox="1"/>
          <p:nvPr/>
        </p:nvSpPr>
        <p:spPr>
          <a:xfrm>
            <a:off x="1508760" y="1417320"/>
            <a:ext cx="10363200" cy="384048"/>
          </a:xfrm>
          <a:prstGeom prst="rect">
            <a:avLst/>
          </a:prstGeom>
          <a:noFill/>
        </p:spPr>
        <p:txBody>
          <a:bodyPr wrap="square" anchor="t">
            <a:spAutoFit/>
          </a:bodyPr>
          <a:lstStyle/>
          <a:p>
            <a:r>
              <a:rPr lang="en-IN" sz="1400" b="1">
                <a:solidFill>
                  <a:srgbClr val="A31F24"/>
                </a:solidFill>
              </a:rPr>
              <a:t>Module 5 – Strings, Library Algorithms &amp; File I/O</a:t>
            </a:r>
          </a:p>
        </p:txBody>
      </p:sp>
      <p:graphicFrame>
        <p:nvGraphicFramePr>
          <p:cNvPr id="7" name="Table 6"/>
          <p:cNvGraphicFramePr>
            <a:graphicFrameLocks noGrp="1"/>
          </p:cNvGraphicFramePr>
          <p:nvPr/>
        </p:nvGraphicFramePr>
        <p:xfrm>
          <a:off x="838200" y="1828800"/>
          <a:ext cx="6309360" cy="3840480"/>
        </p:xfrm>
        <a:graphic>
          <a:graphicData uri="http://schemas.openxmlformats.org/drawingml/2006/table">
            <a:tbl>
              <a:tblPr firstRow="1" bandRow="1">
                <a:tableStyleId>{5C22544A-7EE6-4342-B048-85BDC9FD1C3A}</a:tableStyleId>
              </a:tblPr>
              <a:tblGrid>
                <a:gridCol w="214884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tblGrid>
              <a:tr h="548640">
                <a:tc>
                  <a:txBody>
                    <a:bodyPr/>
                    <a:lstStyle/>
                    <a:p>
                      <a:r>
                        <a:rPr sz="1100" b="1">
                          <a:latin typeface="Aptos"/>
                        </a:rPr>
                        <a:t>Topic</a:t>
                      </a:r>
                    </a:p>
                  </a:txBody>
                  <a:tcPr marL="109728" marR="109728" anchor="ctr">
                    <a:solidFill>
                      <a:srgbClr val="A31F24"/>
                    </a:solidFill>
                  </a:tcPr>
                </a:tc>
                <a:tc>
                  <a:txBody>
                    <a:bodyPr/>
                    <a:lstStyle/>
                    <a:p>
                      <a:r>
                        <a:rPr sz="1100" b="1">
                          <a:latin typeface="Aptos"/>
                        </a:rPr>
                        <a:t>How it is used in our project</a:t>
                      </a:r>
                    </a:p>
                  </a:txBody>
                  <a:tcPr marL="109728" marR="109728" anchor="ctr">
                    <a:solidFill>
                      <a:srgbClr val="A31F24"/>
                    </a:solidFill>
                  </a:tcPr>
                </a:tc>
                <a:extLst>
                  <a:ext uri="{0D108BD9-81ED-4DB2-BD59-A6C34878D82A}">
                    <a16:rowId xmlns:a16="http://schemas.microsoft.com/office/drawing/2014/main" val="10000"/>
                  </a:ext>
                </a:extLst>
              </a:tr>
              <a:tr h="548640">
                <a:tc>
                  <a:txBody>
                    <a:bodyPr/>
                    <a:lstStyle/>
                    <a:p>
                      <a:r>
                        <a:rPr sz="1000">
                          <a:latin typeface="Aptos"/>
                        </a:rPr>
                        <a:t>String operations</a:t>
                      </a:r>
                    </a:p>
                  </a:txBody>
                  <a:tcPr marL="109728" marR="109728" anchor="ctr">
                    <a:solidFill>
                      <a:srgbClr val="FFFFFF"/>
                    </a:solidFill>
                  </a:tcPr>
                </a:tc>
                <a:tc>
                  <a:txBody>
                    <a:bodyPr/>
                    <a:lstStyle/>
                    <a:p>
                      <a:r>
                        <a:rPr sz="1000">
                          <a:latin typeface="Aptos"/>
                        </a:rPr>
                        <a:t>Use length(), substring(), contains() and case conversion to work with song titles.</a:t>
                      </a:r>
                    </a:p>
                  </a:txBody>
                  <a:tcPr marL="109728" marR="109728" anchor="ctr">
                    <a:solidFill>
                      <a:srgbClr val="FFFFFF"/>
                    </a:solidFill>
                  </a:tcPr>
                </a:tc>
                <a:extLst>
                  <a:ext uri="{0D108BD9-81ED-4DB2-BD59-A6C34878D82A}">
                    <a16:rowId xmlns:a16="http://schemas.microsoft.com/office/drawing/2014/main" val="10001"/>
                  </a:ext>
                </a:extLst>
              </a:tr>
              <a:tr h="548640">
                <a:tc>
                  <a:txBody>
                    <a:bodyPr/>
                    <a:lstStyle/>
                    <a:p>
                      <a:r>
                        <a:rPr sz="1000">
                          <a:latin typeface="Aptos"/>
                        </a:rPr>
                        <a:t>equals() vs == / StringBuilder</a:t>
                      </a:r>
                    </a:p>
                  </a:txBody>
                  <a:tcPr marL="109728" marR="109728" anchor="ctr">
                    <a:solidFill>
                      <a:srgbClr val="F4F4F4"/>
                    </a:solidFill>
                  </a:tcPr>
                </a:tc>
                <a:tc>
                  <a:txBody>
                    <a:bodyPr/>
                    <a:lstStyle/>
                    <a:p>
                      <a:r>
                        <a:rPr sz="1000">
                          <a:latin typeface="Aptos"/>
                        </a:rPr>
                        <a:t>Use equalsIgnoreCase() to compare text values; StringBuilder can build reports.</a:t>
                      </a:r>
                    </a:p>
                  </a:txBody>
                  <a:tcPr marL="109728" marR="109728" anchor="ctr">
                    <a:solidFill>
                      <a:srgbClr val="F4F4F4"/>
                    </a:solidFill>
                  </a:tcPr>
                </a:tc>
                <a:extLst>
                  <a:ext uri="{0D108BD9-81ED-4DB2-BD59-A6C34878D82A}">
                    <a16:rowId xmlns:a16="http://schemas.microsoft.com/office/drawing/2014/main" val="10002"/>
                  </a:ext>
                </a:extLst>
              </a:tr>
              <a:tr h="548640">
                <a:tc>
                  <a:txBody>
                    <a:bodyPr/>
                    <a:lstStyle/>
                    <a:p>
                      <a:r>
                        <a:rPr sz="1000">
                          <a:latin typeface="Aptos"/>
                        </a:rPr>
                        <a:t>Split, trim and validation</a:t>
                      </a:r>
                    </a:p>
                  </a:txBody>
                  <a:tcPr marL="109728" marR="109728" anchor="ctr">
                    <a:solidFill>
                      <a:srgbClr val="FFFFFF"/>
                    </a:solidFill>
                  </a:tcPr>
                </a:tc>
                <a:tc>
                  <a:txBody>
                    <a:bodyPr/>
                    <a:lstStyle/>
                    <a:p>
                      <a:r>
                        <a:rPr sz="1000">
                          <a:latin typeface="Aptos"/>
                        </a:rPr>
                        <a:t>Trim text and split delimited records into title, artist and play count.</a:t>
                      </a:r>
                    </a:p>
                  </a:txBody>
                  <a:tcPr marL="109728" marR="109728" anchor="ctr">
                    <a:solidFill>
                      <a:srgbClr val="FFFFFF"/>
                    </a:solidFill>
                  </a:tcPr>
                </a:tc>
                <a:extLst>
                  <a:ext uri="{0D108BD9-81ED-4DB2-BD59-A6C34878D82A}">
                    <a16:rowId xmlns:a16="http://schemas.microsoft.com/office/drawing/2014/main" val="10003"/>
                  </a:ext>
                </a:extLst>
              </a:tr>
              <a:tr h="548640">
                <a:tc>
                  <a:txBody>
                    <a:bodyPr/>
                    <a:lstStyle/>
                    <a:p>
                      <a:r>
                        <a:rPr sz="1000">
                          <a:latin typeface="Aptos"/>
                        </a:rPr>
                        <a:t>Library sorting and searching</a:t>
                      </a:r>
                    </a:p>
                  </a:txBody>
                  <a:tcPr marL="109728" marR="109728" anchor="ctr">
                    <a:solidFill>
                      <a:srgbClr val="F4F4F4"/>
                    </a:solidFill>
                  </a:tcPr>
                </a:tc>
                <a:tc>
                  <a:txBody>
                    <a:bodyPr/>
                    <a:lstStyle/>
                    <a:p>
                      <a:r>
                        <a:rPr sz="1000">
                          <a:latin typeface="Aptos"/>
                        </a:rPr>
                        <a:t>Sort songs with list.sort() / Collections.sort(); use binary search only on sorted data.</a:t>
                      </a:r>
                    </a:p>
                  </a:txBody>
                  <a:tcPr marL="109728" marR="109728" anchor="ctr">
                    <a:solidFill>
                      <a:srgbClr val="F4F4F4"/>
                    </a:solidFill>
                  </a:tcPr>
                </a:tc>
                <a:extLst>
                  <a:ext uri="{0D108BD9-81ED-4DB2-BD59-A6C34878D82A}">
                    <a16:rowId xmlns:a16="http://schemas.microsoft.com/office/drawing/2014/main" val="10004"/>
                  </a:ext>
                </a:extLst>
              </a:tr>
              <a:tr h="548640">
                <a:tc>
                  <a:txBody>
                    <a:bodyPr/>
                    <a:lstStyle/>
                    <a:p>
                      <a:r>
                        <a:rPr sz="1000">
                          <a:latin typeface="Aptos"/>
                        </a:rPr>
                        <a:t>File I/O and persistence</a:t>
                      </a:r>
                    </a:p>
                  </a:txBody>
                  <a:tcPr marL="109728" marR="109728" anchor="ctr">
                    <a:solidFill>
                      <a:srgbClr val="FFFFFF"/>
                    </a:solidFill>
                  </a:tcPr>
                </a:tc>
                <a:tc>
                  <a:txBody>
                    <a:bodyPr/>
                    <a:lstStyle/>
                    <a:p>
                      <a:r>
                        <a:rPr sz="1000">
                          <a:latin typeface="Aptos"/>
                        </a:rPr>
                        <a:t>Use Path and Files to save playlist.txt and load records on the next run.</a:t>
                      </a:r>
                    </a:p>
                  </a:txBody>
                  <a:tcPr marL="109728" marR="109728" anchor="ctr">
                    <a:solidFill>
                      <a:srgbClr val="FFFFFF"/>
                    </a:solidFill>
                  </a:tcPr>
                </a:tc>
                <a:extLst>
                  <a:ext uri="{0D108BD9-81ED-4DB2-BD59-A6C34878D82A}">
                    <a16:rowId xmlns:a16="http://schemas.microsoft.com/office/drawing/2014/main" val="10005"/>
                  </a:ext>
                </a:extLst>
              </a:tr>
              <a:tr h="548640">
                <a:tc>
                  <a:txBody>
                    <a:bodyPr/>
                    <a:lstStyle/>
                    <a:p>
                      <a:r>
                        <a:rPr sz="1000">
                          <a:latin typeface="Aptos"/>
                        </a:rPr>
                        <a:t>File exceptions</a:t>
                      </a:r>
                    </a:p>
                  </a:txBody>
                  <a:tcPr marL="109728" marR="109728" anchor="ctr">
                    <a:solidFill>
                      <a:srgbClr val="F4F4F4"/>
                    </a:solidFill>
                  </a:tcPr>
                </a:tc>
                <a:tc>
                  <a:txBody>
                    <a:bodyPr/>
                    <a:lstStyle/>
                    <a:p>
                      <a:r>
                        <a:rPr sz="1000">
                          <a:latin typeface="Aptos"/>
                        </a:rPr>
                        <a:t>Handle missing files and malformed records; try-with-resources closes readers automatically.</a:t>
                      </a:r>
                    </a:p>
                  </a:txBody>
                  <a:tcPr marL="109728" marR="109728" anchor="ctr">
                    <a:solidFill>
                      <a:srgbClr val="F4F4F4"/>
                    </a:solidFill>
                  </a:tcPr>
                </a:tc>
                <a:extLst>
                  <a:ext uri="{0D108BD9-81ED-4DB2-BD59-A6C34878D82A}">
                    <a16:rowId xmlns:a16="http://schemas.microsoft.com/office/drawing/2014/main" val="10006"/>
                  </a:ext>
                </a:extLst>
              </a:tr>
            </a:tbl>
          </a:graphicData>
        </a:graphic>
      </p:graphicFrame>
      <p:sp>
        <p:nvSpPr>
          <p:cNvPr id="91" name="Slide Number Placeholder"/>
          <p:cNvSpPr>
            <a:spLocks noGrp="1"/>
          </p:cNvSpPr>
          <p:nvPr>
            <p:ph type="sldNum" sz="quarter" idx="12"/>
          </p:nvPr>
        </p:nvSpPr>
        <p:spPr/>
        <p:txBody>
          <a:bodyPr/>
          <a:lstStyle/>
          <a:p>
            <a:fld id="{CB012AB6-14AF-4351-87AD-D420B05274E1}" type="slidenum">
              <a:rPr lang="en-IN"/>
              <a:t>8</a:t>
            </a:fld>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8760" y="320040"/>
            <a:ext cx="10363200" cy="822960"/>
          </a:xfrm>
        </p:spPr>
        <p:txBody>
          <a:bodyPr/>
          <a:lstStyle/>
          <a:p>
            <a:r>
              <a:t>CO 6 Topics</a:t>
            </a:r>
          </a:p>
        </p:txBody>
      </p:sp>
      <p:sp>
        <p:nvSpPr>
          <p:cNvPr id="6" name="TextBox 5"/>
          <p:cNvSpPr txBox="1"/>
          <p:nvPr/>
        </p:nvSpPr>
        <p:spPr>
          <a:xfrm>
            <a:off x="1508760" y="1417320"/>
            <a:ext cx="10363200" cy="384048"/>
          </a:xfrm>
          <a:prstGeom prst="rect">
            <a:avLst/>
          </a:prstGeom>
          <a:noFill/>
        </p:spPr>
        <p:txBody>
          <a:bodyPr wrap="square" anchor="t">
            <a:spAutoFit/>
          </a:bodyPr>
          <a:lstStyle/>
          <a:p>
            <a:r>
              <a:rPr lang="en-IN" sz="1400" b="1">
                <a:solidFill>
                  <a:srgbClr val="A31F24"/>
                </a:solidFill>
              </a:rPr>
              <a:t>Module 6 – Functional Programming with Collections &amp; Streams</a:t>
            </a:r>
          </a:p>
        </p:txBody>
      </p:sp>
      <p:graphicFrame>
        <p:nvGraphicFramePr>
          <p:cNvPr id="7" name="Table 6"/>
          <p:cNvGraphicFramePr>
            <a:graphicFrameLocks noGrp="1"/>
          </p:cNvGraphicFramePr>
          <p:nvPr/>
        </p:nvGraphicFramePr>
        <p:xfrm>
          <a:off x="838200" y="1828800"/>
          <a:ext cx="5669280" cy="384048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tblGrid>
              <a:tr h="548640">
                <a:tc>
                  <a:txBody>
                    <a:bodyPr/>
                    <a:lstStyle/>
                    <a:p>
                      <a:r>
                        <a:rPr sz="1100" b="1">
                          <a:latin typeface="Aptos"/>
                        </a:rPr>
                        <a:t>Topic</a:t>
                      </a:r>
                    </a:p>
                  </a:txBody>
                  <a:tcPr marL="109728" marR="109728" anchor="ctr">
                    <a:solidFill>
                      <a:srgbClr val="A31F24"/>
                    </a:solidFill>
                  </a:tcPr>
                </a:tc>
                <a:tc>
                  <a:txBody>
                    <a:bodyPr/>
                    <a:lstStyle/>
                    <a:p>
                      <a:r>
                        <a:rPr sz="1100" b="1">
                          <a:latin typeface="Aptos"/>
                        </a:rPr>
                        <a:t>How it is used in our project</a:t>
                      </a:r>
                    </a:p>
                  </a:txBody>
                  <a:tcPr marL="109728" marR="109728" anchor="ctr">
                    <a:solidFill>
                      <a:srgbClr val="A31F24"/>
                    </a:solidFill>
                  </a:tcPr>
                </a:tc>
                <a:extLst>
                  <a:ext uri="{0D108BD9-81ED-4DB2-BD59-A6C34878D82A}">
                    <a16:rowId xmlns:a16="http://schemas.microsoft.com/office/drawing/2014/main" val="10000"/>
                  </a:ext>
                </a:extLst>
              </a:tr>
              <a:tr h="548640">
                <a:tc>
                  <a:txBody>
                    <a:bodyPr/>
                    <a:lstStyle/>
                    <a:p>
                      <a:r>
                        <a:rPr sz="1000">
                          <a:latin typeface="Aptos"/>
                        </a:rPr>
                        <a:t>Collections and generics</a:t>
                      </a:r>
                    </a:p>
                  </a:txBody>
                  <a:tcPr marL="109728" marR="109728" anchor="ctr">
                    <a:solidFill>
                      <a:srgbClr val="FFFFFF"/>
                    </a:solidFill>
                  </a:tcPr>
                </a:tc>
                <a:tc>
                  <a:txBody>
                    <a:bodyPr/>
                    <a:lstStyle/>
                    <a:p>
                      <a:r>
                        <a:rPr sz="1000">
                          <a:latin typeface="Aptos"/>
                        </a:rPr>
                        <a:t>Use ArrayList&lt;Song&gt; for a flexible playlist and HashMap&lt;String, Integer&gt; for play counts.</a:t>
                      </a:r>
                    </a:p>
                  </a:txBody>
                  <a:tcPr marL="109728" marR="109728" anchor="ctr">
                    <a:solidFill>
                      <a:srgbClr val="FFFFFF"/>
                    </a:solidFill>
                  </a:tcPr>
                </a:tc>
                <a:extLst>
                  <a:ext uri="{0D108BD9-81ED-4DB2-BD59-A6C34878D82A}">
                    <a16:rowId xmlns:a16="http://schemas.microsoft.com/office/drawing/2014/main" val="10001"/>
                  </a:ext>
                </a:extLst>
              </a:tr>
              <a:tr h="548640">
                <a:tc>
                  <a:txBody>
                    <a:bodyPr/>
                    <a:lstStyle/>
                    <a:p>
                      <a:r>
                        <a:rPr sz="1000">
                          <a:latin typeface="Aptos"/>
                        </a:rPr>
                        <a:t>Set, Map and iteration</a:t>
                      </a:r>
                    </a:p>
                  </a:txBody>
                  <a:tcPr marL="109728" marR="109728" anchor="ctr">
                    <a:solidFill>
                      <a:srgbClr val="F4F4F4"/>
                    </a:solidFill>
                  </a:tcPr>
                </a:tc>
                <a:tc>
                  <a:txBody>
                    <a:bodyPr/>
                    <a:lstStyle/>
                    <a:p>
                      <a:r>
                        <a:rPr sz="1000">
                          <a:latin typeface="Aptos"/>
                        </a:rPr>
                        <a:t>Use a Set to track unique titles; use for-each loops to display songs.</a:t>
                      </a:r>
                    </a:p>
                  </a:txBody>
                  <a:tcPr marL="109728" marR="109728" anchor="ctr">
                    <a:solidFill>
                      <a:srgbClr val="F4F4F4"/>
                    </a:solidFill>
                  </a:tcPr>
                </a:tc>
                <a:extLst>
                  <a:ext uri="{0D108BD9-81ED-4DB2-BD59-A6C34878D82A}">
                    <a16:rowId xmlns:a16="http://schemas.microsoft.com/office/drawing/2014/main" val="10002"/>
                  </a:ext>
                </a:extLst>
              </a:tr>
              <a:tr h="548640">
                <a:tc>
                  <a:txBody>
                    <a:bodyPr/>
                    <a:lstStyle/>
                    <a:p>
                      <a:r>
                        <a:rPr sz="1000">
                          <a:latin typeface="Aptos"/>
                        </a:rPr>
                        <a:t>Lambdas and functional interfaces</a:t>
                      </a:r>
                    </a:p>
                  </a:txBody>
                  <a:tcPr marL="109728" marR="109728" anchor="ctr">
                    <a:solidFill>
                      <a:srgbClr val="FFFFFF"/>
                    </a:solidFill>
                  </a:tcPr>
                </a:tc>
                <a:tc>
                  <a:txBody>
                    <a:bodyPr/>
                    <a:lstStyle/>
                    <a:p>
                      <a:r>
                        <a:rPr sz="1000">
                          <a:latin typeface="Aptos"/>
                        </a:rPr>
                        <a:t>Use a Comparator or lambda to define how songs are ordered.</a:t>
                      </a:r>
                    </a:p>
                  </a:txBody>
                  <a:tcPr marL="109728" marR="109728" anchor="ctr">
                    <a:solidFill>
                      <a:srgbClr val="FFFFFF"/>
                    </a:solidFill>
                  </a:tcPr>
                </a:tc>
                <a:extLst>
                  <a:ext uri="{0D108BD9-81ED-4DB2-BD59-A6C34878D82A}">
                    <a16:rowId xmlns:a16="http://schemas.microsoft.com/office/drawing/2014/main" val="10003"/>
                  </a:ext>
                </a:extLst>
              </a:tr>
              <a:tr h="548640">
                <a:tc>
                  <a:txBody>
                    <a:bodyPr/>
                    <a:lstStyle/>
                    <a:p>
                      <a:r>
                        <a:rPr sz="1000">
                          <a:latin typeface="Aptos"/>
                        </a:rPr>
                        <a:t>Stream pipelines</a:t>
                      </a:r>
                    </a:p>
                  </a:txBody>
                  <a:tcPr marL="109728" marR="109728" anchor="ctr">
                    <a:solidFill>
                      <a:srgbClr val="F4F4F4"/>
                    </a:solidFill>
                  </a:tcPr>
                </a:tc>
                <a:tc>
                  <a:txBody>
                    <a:bodyPr/>
                    <a:lstStyle/>
                    <a:p>
                      <a:r>
                        <a:rPr sz="1000">
                          <a:latin typeface="Aptos"/>
                        </a:rPr>
                        <a:t>Filter popular songs, map titles, sort results and count songs using streams.</a:t>
                      </a:r>
                    </a:p>
                  </a:txBody>
                  <a:tcPr marL="109728" marR="109728" anchor="ctr">
                    <a:solidFill>
                      <a:srgbClr val="F4F4F4"/>
                    </a:solidFill>
                  </a:tcPr>
                </a:tc>
                <a:extLst>
                  <a:ext uri="{0D108BD9-81ED-4DB2-BD59-A6C34878D82A}">
                    <a16:rowId xmlns:a16="http://schemas.microsoft.com/office/drawing/2014/main" val="10004"/>
                  </a:ext>
                </a:extLst>
              </a:tr>
              <a:tr h="548640">
                <a:tc>
                  <a:txBody>
                    <a:bodyPr/>
                    <a:lstStyle/>
                    <a:p>
                      <a:r>
                        <a:rPr sz="1000">
                          <a:latin typeface="Aptos"/>
                        </a:rPr>
                        <a:t>Collectors and Optional</a:t>
                      </a:r>
                    </a:p>
                  </a:txBody>
                  <a:tcPr marL="109728" marR="109728" anchor="ctr">
                    <a:solidFill>
                      <a:srgbClr val="FFFFFF"/>
                    </a:solidFill>
                  </a:tcPr>
                </a:tc>
                <a:tc>
                  <a:txBody>
                    <a:bodyPr/>
                    <a:lstStyle/>
                    <a:p>
                      <a:r>
                        <a:rPr sz="1000">
                          <a:latin typeface="Aptos"/>
                        </a:rPr>
                        <a:t>Use groupingBy() for artist summaries and Optional for searches that may find no song.</a:t>
                      </a:r>
                    </a:p>
                  </a:txBody>
                  <a:tcPr marL="109728" marR="109728" anchor="ctr">
                    <a:solidFill>
                      <a:srgbClr val="FFFFFF"/>
                    </a:solidFill>
                  </a:tcPr>
                </a:tc>
                <a:extLst>
                  <a:ext uri="{0D108BD9-81ED-4DB2-BD59-A6C34878D82A}">
                    <a16:rowId xmlns:a16="http://schemas.microsoft.com/office/drawing/2014/main" val="10005"/>
                  </a:ext>
                </a:extLst>
              </a:tr>
              <a:tr h="548640">
                <a:tc>
                  <a:txBody>
                    <a:bodyPr/>
                    <a:lstStyle/>
                    <a:p>
                      <a:r>
                        <a:rPr sz="1000">
                          <a:latin typeface="Aptos"/>
                        </a:rPr>
                        <a:t>Imperative vs functional</a:t>
                      </a:r>
                    </a:p>
                  </a:txBody>
                  <a:tcPr marL="109728" marR="109728" anchor="ctr">
                    <a:solidFill>
                      <a:srgbClr val="F4F4F4"/>
                    </a:solidFill>
                  </a:tcPr>
                </a:tc>
                <a:tc>
                  <a:txBody>
                    <a:bodyPr/>
                    <a:lstStyle/>
                    <a:p>
                      <a:r>
                        <a:rPr sz="1000">
                          <a:latin typeface="Aptos"/>
                        </a:rPr>
                        <a:t>A stream pipeline can express filtering and statistics more directly than a manual loop.</a:t>
                      </a:r>
                    </a:p>
                  </a:txBody>
                  <a:tcPr marL="109728" marR="109728" anchor="ctr">
                    <a:solidFill>
                      <a:srgbClr val="F4F4F4"/>
                    </a:solidFill>
                  </a:tcPr>
                </a:tc>
                <a:extLst>
                  <a:ext uri="{0D108BD9-81ED-4DB2-BD59-A6C34878D82A}">
                    <a16:rowId xmlns:a16="http://schemas.microsoft.com/office/drawing/2014/main" val="10006"/>
                  </a:ext>
                </a:extLst>
              </a:tr>
            </a:tbl>
          </a:graphicData>
        </a:graphic>
      </p:graphicFrame>
      <p:sp>
        <p:nvSpPr>
          <p:cNvPr id="91" name="Slide Number Placeholder"/>
          <p:cNvSpPr>
            <a:spLocks noGrp="1"/>
          </p:cNvSpPr>
          <p:nvPr>
            <p:ph type="sldNum" sz="quarter" idx="12"/>
          </p:nvPr>
        </p:nvSpPr>
        <p:spPr/>
        <p:txBody>
          <a:bodyPr/>
          <a:lstStyle/>
          <a:p>
            <a:fld id="{CB012AB6-14AF-4351-87AD-D420B05274E1}" type="slidenum">
              <a:rPr lang="en-IN"/>
              <a:t>9</a:t>
            </a:fld>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54CC5-4FD5-611A-4481-E878E281E2CD}"/>
              </a:ext>
            </a:extLst>
          </p:cNvPr>
          <p:cNvSpPr>
            <a:spLocks noGrp="1"/>
          </p:cNvSpPr>
          <p:nvPr>
            <p:ph type="title"/>
          </p:nvPr>
        </p:nvSpPr>
        <p:spPr>
          <a:xfrm>
            <a:off x="1508760" y="320040"/>
            <a:ext cx="10363200" cy="822960"/>
          </a:xfrm>
        </p:spPr>
        <p:txBody>
          <a:bodyPr/>
          <a:lstStyle/>
          <a:p>
            <a:r>
              <a:t>Conclusion</a:t>
            </a:r>
          </a:p>
        </p:txBody>
      </p:sp>
      <p:sp>
        <p:nvSpPr>
          <p:cNvPr id="6" name="Conclusion Points"/>
          <p:cNvSpPr txBox="1"/>
          <p:nvPr/>
        </p:nvSpPr>
        <p:spPr>
          <a:xfrm>
            <a:off x="1508760" y="1417320"/>
            <a:ext cx="10058400" cy="4572000"/>
          </a:xfrm>
          <a:prstGeom prst="rect">
            <a:avLst/>
          </a:prstGeom>
          <a:noFill/>
        </p:spPr>
        <p:txBody>
          <a:bodyPr wrap="square" anchor="t">
            <a:normAutofit/>
          </a:bodyPr>
          <a:lstStyle/>
          <a:p>
            <a:pPr marL="285750" indent="-285750">
              <a:spcAft>
                <a:spcPts val="900"/>
              </a:spcAft>
              <a:buFont typeface="Arial"/>
              <a:buChar char="•"/>
            </a:pPr>
            <a:r>
              <a:rPr lang="en-IN" sz="1800" b="1">
                <a:solidFill>
                  <a:srgbClr val="A31F24"/>
                </a:solidFill>
              </a:rPr>
              <a:t>Working application: </a:t>
            </a:r>
            <a:r>
              <a:rPr lang="en-IN" sz="1800"/>
              <a:t>a Java program that reads songs and play counts, finds the most played song, and reports total and average plays (CO1–CO3).</a:t>
            </a:r>
          </a:p>
          <a:p>
            <a:pPr marL="285750" indent="-285750">
              <a:spcAft>
                <a:spcPts val="900"/>
              </a:spcAft>
              <a:buFont typeface="Arial"/>
              <a:buChar char="•"/>
            </a:pPr>
            <a:r>
              <a:rPr lang="en-IN" sz="1800" b="1">
                <a:solidFill>
                  <a:srgbClr val="A31F24"/>
                </a:solidFill>
              </a:rPr>
              <a:t>Object-oriented design: </a:t>
            </a:r>
            <a:r>
              <a:rPr lang="en-IN" sz="1800"/>
              <a:t>a Song class with private fields, a constructor and validation rejects blank titles and negative play counts (CO4).</a:t>
            </a:r>
          </a:p>
          <a:p>
            <a:pPr marL="285750" indent="-285750">
              <a:spcAft>
                <a:spcPts val="900"/>
              </a:spcAft>
              <a:buFont typeface="Arial"/>
              <a:buChar char="•"/>
            </a:pPr>
            <a:r>
              <a:rPr lang="en-IN" sz="1800" b="1">
                <a:solidFill>
                  <a:srgbClr val="A31F24"/>
                </a:solidFill>
              </a:rPr>
              <a:t>Strings and files: </a:t>
            </a:r>
            <a:r>
              <a:rPr lang="en-IN" sz="1800"/>
              <a:t>song titles are searched with String methods, and the playlist is saved to and loaded from playlist.txt (CO5).</a:t>
            </a:r>
          </a:p>
          <a:p>
            <a:pPr marL="285750" indent="-285750">
              <a:spcAft>
                <a:spcPts val="900"/>
              </a:spcAft>
              <a:buFont typeface="Arial"/>
              <a:buChar char="•"/>
            </a:pPr>
            <a:r>
              <a:rPr lang="en-IN" sz="1800" b="1">
                <a:solidFill>
                  <a:srgbClr val="A31F24"/>
                </a:solidFill>
              </a:rPr>
              <a:t>Functional style: </a:t>
            </a:r>
            <a:r>
              <a:rPr lang="en-IN" sz="1800"/>
              <a:t>Comparator, lambdas and streams sort the songs, count popular ones and search by title (CO6).</a:t>
            </a:r>
          </a:p>
          <a:p>
            <a:pPr marL="285750" indent="-285750">
              <a:spcAft>
                <a:spcPts val="900"/>
              </a:spcAft>
              <a:buFont typeface="Arial"/>
              <a:buChar char="•"/>
            </a:pPr>
            <a:r>
              <a:rPr lang="en-IN" sz="1800" b="1">
                <a:solidFill>
                  <a:srgbClr val="A31F24"/>
                </a:solidFill>
              </a:rPr>
              <a:t>Future scope: </a:t>
            </a:r>
            <a:r>
              <a:rPr lang="en-IN" sz="1800"/>
              <a:t>a menu-driven interface, a GUI or web version, and richer listening statistics such as top songs per playlist.</a:t>
            </a:r>
          </a:p>
        </p:txBody>
      </p:sp>
      <p:sp>
        <p:nvSpPr>
          <p:cNvPr id="91" name="Slide Number Placeholder"/>
          <p:cNvSpPr>
            <a:spLocks noGrp="1"/>
          </p:cNvSpPr>
          <p:nvPr>
            <p:ph type="sldNum" sz="quarter" idx="12"/>
          </p:nvPr>
        </p:nvSpPr>
        <p:spPr/>
        <p:txBody>
          <a:bodyPr/>
          <a:lstStyle/>
          <a:p>
            <a:fld id="{CB012AB6-14AF-4351-87AD-D420B05274E1}" type="slidenum">
              <a:rPr lang="en-IN"/>
              <a:t>10</a:t>
            </a:fld>
            <a:endParaRPr lang="en-IN"/>
          </a:p>
        </p:txBody>
      </p:sp>
    </p:spTree>
    <p:extLst>
      <p:ext uri="{BB962C8B-B14F-4D97-AF65-F5344CB8AC3E}">
        <p14:creationId xmlns:p14="http://schemas.microsoft.com/office/powerpoint/2010/main" val="4104242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A3C50-554F-0D42-C771-DA35851EBF32}"/>
              </a:ext>
            </a:extLst>
          </p:cNvPr>
          <p:cNvSpPr>
            <a:spLocks noGrp="1"/>
          </p:cNvSpPr>
          <p:nvPr>
            <p:ph type="ctrTitle"/>
          </p:nvPr>
        </p:nvSpPr>
        <p:spPr>
          <a:xfrm>
            <a:off x="1438275" y="238125"/>
            <a:ext cx="7505699" cy="857250"/>
          </a:xfrm>
        </p:spPr>
        <p:txBody>
          <a:bodyPr>
            <a:normAutofit fontScale="90000"/>
          </a:bodyPr>
          <a:lstStyle/>
          <a:p>
            <a:r>
              <a:rPr lang="en-IN" dirty="0"/>
              <a:t>Screen Shots</a:t>
            </a:r>
          </a:p>
        </p:txBody>
      </p:sp>
      <p:sp>
        <p:nvSpPr>
          <p:cNvPr id="3" name="Subtitle 2">
            <a:extLst>
              <a:ext uri="{FF2B5EF4-FFF2-40B4-BE49-F238E27FC236}">
                <a16:creationId xmlns:a16="http://schemas.microsoft.com/office/drawing/2014/main" id="{00CF1587-62A7-CD9A-908B-49D08F11E6F2}"/>
              </a:ext>
            </a:extLst>
          </p:cNvPr>
          <p:cNvSpPr>
            <a:spLocks noGrp="1"/>
          </p:cNvSpPr>
          <p:nvPr>
            <p:ph type="subTitle" idx="1"/>
          </p:nvPr>
        </p:nvSpPr>
        <p:spPr>
          <a:xfrm>
            <a:off x="266699" y="1400175"/>
            <a:ext cx="11715751" cy="5114925"/>
          </a:xfrm>
        </p:spPr>
        <p:txBody>
          <a:bodyPr/>
          <a:lstStyle/>
          <a:p>
            <a:pPr algn="l"/>
            <a:r>
              <a:rPr lang="en-IN" dirty="0"/>
              <a:t>Program execution                                                                         Playlist Display</a:t>
            </a:r>
          </a:p>
          <a:p>
            <a:pPr algn="l"/>
            <a:endParaRPr lang="en-IN" dirty="0"/>
          </a:p>
          <a:p>
            <a:pPr algn="l"/>
            <a:endParaRPr lang="en-IN" dirty="0"/>
          </a:p>
          <a:p>
            <a:pPr algn="l"/>
            <a:endParaRPr lang="en-IN" dirty="0"/>
          </a:p>
          <a:p>
            <a:pPr algn="l"/>
            <a:endParaRPr lang="en-IN" dirty="0"/>
          </a:p>
          <a:p>
            <a:pPr algn="l"/>
            <a:endParaRPr lang="en-IN" dirty="0"/>
          </a:p>
          <a:p>
            <a:pPr algn="l"/>
            <a:r>
              <a:rPr lang="en-IN" dirty="0"/>
              <a:t>Listening Statistics                                                                Search Results</a:t>
            </a:r>
          </a:p>
        </p:txBody>
      </p:sp>
      <p:pic>
        <p:nvPicPr>
          <p:cNvPr id="5" name="Picture 4">
            <a:extLst>
              <a:ext uri="{FF2B5EF4-FFF2-40B4-BE49-F238E27FC236}">
                <a16:creationId xmlns:a16="http://schemas.microsoft.com/office/drawing/2014/main" id="{0132CF09-5F59-EBFD-CFC4-1529635958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124" y="1790471"/>
            <a:ext cx="3172268" cy="1638529"/>
          </a:xfrm>
          <a:prstGeom prst="rect">
            <a:avLst/>
          </a:prstGeom>
        </p:spPr>
      </p:pic>
      <p:pic>
        <p:nvPicPr>
          <p:cNvPr id="7" name="Picture 6">
            <a:extLst>
              <a:ext uri="{FF2B5EF4-FFF2-40B4-BE49-F238E27FC236}">
                <a16:creationId xmlns:a16="http://schemas.microsoft.com/office/drawing/2014/main" id="{39E10A99-2DE7-C24E-D841-FECB39DCAF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48261" y="1919076"/>
            <a:ext cx="3591426" cy="1381318"/>
          </a:xfrm>
          <a:prstGeom prst="rect">
            <a:avLst/>
          </a:prstGeom>
        </p:spPr>
      </p:pic>
      <p:pic>
        <p:nvPicPr>
          <p:cNvPr id="9" name="Picture 8">
            <a:extLst>
              <a:ext uri="{FF2B5EF4-FFF2-40B4-BE49-F238E27FC236}">
                <a16:creationId xmlns:a16="http://schemas.microsoft.com/office/drawing/2014/main" id="{EFD10D9B-749A-743E-D7C2-B589E5C02D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3579" y="4775322"/>
            <a:ext cx="3191320" cy="1181265"/>
          </a:xfrm>
          <a:prstGeom prst="rect">
            <a:avLst/>
          </a:prstGeom>
        </p:spPr>
      </p:pic>
      <p:pic>
        <p:nvPicPr>
          <p:cNvPr id="11" name="Picture 10">
            <a:extLst>
              <a:ext uri="{FF2B5EF4-FFF2-40B4-BE49-F238E27FC236}">
                <a16:creationId xmlns:a16="http://schemas.microsoft.com/office/drawing/2014/main" id="{A5B3CFBD-161D-803E-AD2A-DBF61AF8CE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58846" y="4505631"/>
            <a:ext cx="4213353" cy="1450956"/>
          </a:xfrm>
          <a:prstGeom prst="rect">
            <a:avLst/>
          </a:prstGeom>
        </p:spPr>
      </p:pic>
    </p:spTree>
    <p:extLst>
      <p:ext uri="{BB962C8B-B14F-4D97-AF65-F5344CB8AC3E}">
        <p14:creationId xmlns:p14="http://schemas.microsoft.com/office/powerpoint/2010/main" val="1924669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8760" y="320040"/>
            <a:ext cx="10363200" cy="822960"/>
          </a:xfrm>
        </p:spPr>
        <p:txBody>
          <a:bodyPr/>
          <a:lstStyle/>
          <a:p>
            <a:r>
              <a:t>Full Program (Part 1/3)</a:t>
            </a:r>
          </a:p>
        </p:txBody>
      </p:sp>
      <p:sp>
        <p:nvSpPr>
          <p:cNvPr id="20" name="Code Left"/>
          <p:cNvSpPr/>
          <p:nvPr/>
        </p:nvSpPr>
        <p:spPr>
          <a:xfrm>
            <a:off x="600000" y="1400000"/>
            <a:ext cx="5421000" cy="5200000"/>
          </a:xfrm>
          <a:prstGeom prst="rect">
            <a:avLst/>
          </a:prstGeom>
          <a:solidFill>
            <a:srgbClr val="F6F3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t">
            <a:normAutofit/>
          </a:bodyPr>
          <a:lstStyle/>
          <a:p>
            <a:pPr>
              <a:spcBef>
                <a:spcPts val="0"/>
              </a:spcBef>
              <a:spcAft>
                <a:spcPts val="0"/>
              </a:spcAft>
            </a:pPr>
            <a:r>
              <a:rPr sz="800">
                <a:solidFill>
                  <a:srgbClr val="191919"/>
                </a:solidFill>
                <a:latin typeface="Consolas"/>
              </a:rPr>
              <a:t>// CO1-CO4: Imports, Song class and validation</a:t>
            </a:r>
          </a:p>
          <a:p>
            <a:pPr>
              <a:spcBef>
                <a:spcPts val="0"/>
              </a:spcBef>
              <a:spcAft>
                <a:spcPts val="0"/>
              </a:spcAft>
            </a:pPr>
            <a:r>
              <a:rPr sz="800">
                <a:solidFill>
                  <a:srgbClr val="191919"/>
                </a:solidFill>
                <a:latin typeface="Consolas"/>
              </a:rPr>
              <a:t>import java.util.*;</a:t>
            </a:r>
          </a:p>
          <a:p>
            <a:pPr>
              <a:spcBef>
                <a:spcPts val="0"/>
              </a:spcBef>
              <a:spcAft>
                <a:spcPts val="0"/>
              </a:spcAft>
            </a:pPr>
            <a:r>
              <a:rPr sz="800">
                <a:solidFill>
                  <a:srgbClr val="191919"/>
                </a:solidFill>
                <a:latin typeface="Consolas"/>
              </a:rPr>
              <a:t>import java.nio.file.*;</a:t>
            </a:r>
          </a:p>
          <a:p>
            <a:pPr>
              <a:spcBef>
                <a:spcPts val="0"/>
              </a:spcBef>
              <a:spcAft>
                <a:spcPts val="0"/>
              </a:spcAft>
            </a:pPr>
            <a:r>
              <a:rPr sz="800">
                <a:solidFill>
                  <a:srgbClr val="191919"/>
                </a:solidFill>
                <a:latin typeface="Consolas"/>
              </a:rPr>
              <a:t>import java.io.*;</a:t>
            </a:r>
          </a:p>
          <a:p>
            <a:pPr>
              <a:spcBef>
                <a:spcPts val="0"/>
              </a:spcBef>
              <a:spcAft>
                <a:spcPts val="0"/>
              </a:spcAft>
            </a:pPr>
            <a:r>
              <a:rPr sz="800">
                <a:solidFill>
                  <a:srgbClr val="191919"/>
                </a:solidFill>
                <a:latin typeface="Consolas"/>
              </a:rPr>
              <a:t>import java.util.stream.*;</a:t>
            </a:r>
          </a:p>
          <a:p>
            <a:pPr>
              <a:spcBef>
                <a:spcPts val="0"/>
              </a:spcBef>
              <a:spcAft>
                <a:spcPts val="0"/>
              </a:spcAft>
            </a:pPr>
            <a:endParaRPr sz="800">
              <a:solidFill>
                <a:srgbClr val="191919"/>
              </a:solidFill>
              <a:latin typeface="Consolas"/>
            </a:endParaRPr>
          </a:p>
          <a:p>
            <a:pPr>
              <a:spcBef>
                <a:spcPts val="0"/>
              </a:spcBef>
              <a:spcAft>
                <a:spcPts val="0"/>
              </a:spcAft>
            </a:pPr>
            <a:r>
              <a:rPr sz="800">
                <a:solidFill>
                  <a:srgbClr val="191919"/>
                </a:solidFill>
                <a:latin typeface="Consolas"/>
              </a:rPr>
              <a:t>public class MusicPlaylist {</a:t>
            </a:r>
          </a:p>
          <a:p>
            <a:pPr>
              <a:spcBef>
                <a:spcPts val="0"/>
              </a:spcBef>
              <a:spcAft>
                <a:spcPts val="0"/>
              </a:spcAft>
            </a:pPr>
            <a:r>
              <a:rPr sz="800">
                <a:solidFill>
                  <a:srgbClr val="191919"/>
                </a:solidFill>
                <a:latin typeface="Consolas"/>
              </a:rPr>
              <a:t>    static class Song {</a:t>
            </a:r>
          </a:p>
          <a:p>
            <a:pPr>
              <a:spcBef>
                <a:spcPts val="0"/>
              </a:spcBef>
              <a:spcAft>
                <a:spcPts val="0"/>
              </a:spcAft>
            </a:pPr>
            <a:r>
              <a:rPr sz="800">
                <a:solidFill>
                  <a:srgbClr val="191919"/>
                </a:solidFill>
                <a:latin typeface="Consolas"/>
              </a:rPr>
              <a:t>        private String title, artist;</a:t>
            </a:r>
          </a:p>
          <a:p>
            <a:pPr>
              <a:spcBef>
                <a:spcPts val="0"/>
              </a:spcBef>
              <a:spcAft>
                <a:spcPts val="0"/>
              </a:spcAft>
            </a:pPr>
            <a:r>
              <a:rPr sz="800">
                <a:solidFill>
                  <a:srgbClr val="191919"/>
                </a:solidFill>
                <a:latin typeface="Consolas"/>
              </a:rPr>
              <a:t>        private int plays;</a:t>
            </a:r>
          </a:p>
          <a:p>
            <a:pPr>
              <a:spcBef>
                <a:spcPts val="0"/>
              </a:spcBef>
              <a:spcAft>
                <a:spcPts val="0"/>
              </a:spcAft>
            </a:pPr>
            <a:endParaRPr sz="800">
              <a:solidFill>
                <a:srgbClr val="191919"/>
              </a:solidFill>
              <a:latin typeface="Consolas"/>
            </a:endParaRPr>
          </a:p>
          <a:p>
            <a:pPr>
              <a:spcBef>
                <a:spcPts val="0"/>
              </a:spcBef>
              <a:spcAft>
                <a:spcPts val="0"/>
              </a:spcAft>
            </a:pPr>
            <a:r>
              <a:rPr sz="800">
                <a:solidFill>
                  <a:srgbClr val="191919"/>
                </a:solidFill>
                <a:latin typeface="Consolas"/>
              </a:rPr>
              <a:t>        Song(String title, String artist, int plays) {</a:t>
            </a:r>
          </a:p>
          <a:p>
            <a:pPr>
              <a:spcBef>
                <a:spcPts val="0"/>
              </a:spcBef>
              <a:spcAft>
                <a:spcPts val="0"/>
              </a:spcAft>
            </a:pPr>
            <a:r>
              <a:rPr sz="800">
                <a:solidFill>
                  <a:srgbClr val="191919"/>
                </a:solidFill>
                <a:latin typeface="Consolas"/>
              </a:rPr>
              <a:t>            if (title == null || title.trim().isEmpty()</a:t>
            </a:r>
          </a:p>
          <a:p>
            <a:pPr>
              <a:spcBef>
                <a:spcPts val="0"/>
              </a:spcBef>
              <a:spcAft>
                <a:spcPts val="0"/>
              </a:spcAft>
            </a:pPr>
            <a:r>
              <a:rPr sz="800">
                <a:solidFill>
                  <a:srgbClr val="191919"/>
                </a:solidFill>
                <a:latin typeface="Consolas"/>
              </a:rPr>
              <a:t>                    || artist == null || artist.trim().isEmpty()</a:t>
            </a:r>
          </a:p>
          <a:p>
            <a:pPr>
              <a:spcBef>
                <a:spcPts val="0"/>
              </a:spcBef>
              <a:spcAft>
                <a:spcPts val="0"/>
              </a:spcAft>
            </a:pPr>
            <a:r>
              <a:rPr sz="800">
                <a:solidFill>
                  <a:srgbClr val="191919"/>
                </a:solidFill>
                <a:latin typeface="Consolas"/>
              </a:rPr>
              <a:t>                    || plays &lt; 0)</a:t>
            </a:r>
          </a:p>
          <a:p>
            <a:pPr>
              <a:spcBef>
                <a:spcPts val="0"/>
              </a:spcBef>
              <a:spcAft>
                <a:spcPts val="0"/>
              </a:spcAft>
            </a:pPr>
            <a:r>
              <a:rPr sz="800">
                <a:solidFill>
                  <a:srgbClr val="191919"/>
                </a:solidFill>
                <a:latin typeface="Consolas"/>
              </a:rPr>
              <a:t>                throw new IllegalArgumentException("Invalid song details");</a:t>
            </a:r>
          </a:p>
        </p:txBody>
      </p:sp>
      <p:sp>
        <p:nvSpPr>
          <p:cNvPr id="21" name="Code Right"/>
          <p:cNvSpPr/>
          <p:nvPr/>
        </p:nvSpPr>
        <p:spPr>
          <a:xfrm>
            <a:off x="6171000" y="1400000"/>
            <a:ext cx="5421000" cy="5200000"/>
          </a:xfrm>
          <a:prstGeom prst="rect">
            <a:avLst/>
          </a:prstGeom>
          <a:solidFill>
            <a:srgbClr val="F6F3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t">
            <a:normAutofit/>
          </a:bodyPr>
          <a:lstStyle/>
          <a:p>
            <a:pPr>
              <a:spcBef>
                <a:spcPts val="0"/>
              </a:spcBef>
              <a:spcAft>
                <a:spcPts val="0"/>
              </a:spcAft>
            </a:pPr>
            <a:r>
              <a:rPr sz="800">
                <a:solidFill>
                  <a:srgbClr val="191919"/>
                </a:solidFill>
                <a:latin typeface="Consolas"/>
              </a:rPr>
              <a:t>            this.title = title.trim();</a:t>
            </a:r>
          </a:p>
          <a:p>
            <a:pPr>
              <a:spcBef>
                <a:spcPts val="0"/>
              </a:spcBef>
              <a:spcAft>
                <a:spcPts val="0"/>
              </a:spcAft>
            </a:pPr>
            <a:r>
              <a:rPr sz="800">
                <a:solidFill>
                  <a:srgbClr val="191919"/>
                </a:solidFill>
                <a:latin typeface="Consolas"/>
              </a:rPr>
              <a:t>            this.artist = artist.trim();</a:t>
            </a:r>
          </a:p>
          <a:p>
            <a:pPr>
              <a:spcBef>
                <a:spcPts val="0"/>
              </a:spcBef>
              <a:spcAft>
                <a:spcPts val="0"/>
              </a:spcAft>
            </a:pPr>
            <a:r>
              <a:rPr sz="800">
                <a:solidFill>
                  <a:srgbClr val="191919"/>
                </a:solidFill>
                <a:latin typeface="Consolas"/>
              </a:rPr>
              <a:t>            this.plays = plays;</a:t>
            </a:r>
          </a:p>
          <a:p>
            <a:pPr>
              <a:spcBef>
                <a:spcPts val="0"/>
              </a:spcBef>
              <a:spcAft>
                <a:spcPts val="0"/>
              </a:spcAft>
            </a:pPr>
            <a:r>
              <a:rPr sz="800">
                <a:solidFill>
                  <a:srgbClr val="191919"/>
                </a:solidFill>
                <a:latin typeface="Consolas"/>
              </a:rPr>
              <a:t>        }</a:t>
            </a:r>
          </a:p>
          <a:p>
            <a:pPr>
              <a:spcBef>
                <a:spcPts val="0"/>
              </a:spcBef>
              <a:spcAft>
                <a:spcPts val="0"/>
              </a:spcAft>
            </a:pPr>
            <a:endParaRPr sz="800">
              <a:solidFill>
                <a:srgbClr val="191919"/>
              </a:solidFill>
              <a:latin typeface="Consolas"/>
            </a:endParaRPr>
          </a:p>
          <a:p>
            <a:pPr>
              <a:spcBef>
                <a:spcPts val="0"/>
              </a:spcBef>
              <a:spcAft>
                <a:spcPts val="0"/>
              </a:spcAft>
            </a:pPr>
            <a:r>
              <a:rPr sz="800">
                <a:solidFill>
                  <a:srgbClr val="191919"/>
                </a:solidFill>
                <a:latin typeface="Consolas"/>
              </a:rPr>
              <a:t>        String getTitle() { return title; }</a:t>
            </a:r>
          </a:p>
          <a:p>
            <a:pPr>
              <a:spcBef>
                <a:spcPts val="0"/>
              </a:spcBef>
              <a:spcAft>
                <a:spcPts val="0"/>
              </a:spcAft>
            </a:pPr>
            <a:r>
              <a:rPr sz="800">
                <a:solidFill>
                  <a:srgbClr val="191919"/>
                </a:solidFill>
                <a:latin typeface="Consolas"/>
              </a:rPr>
              <a:t>        String getArtist() { return artist; }</a:t>
            </a:r>
          </a:p>
          <a:p>
            <a:pPr>
              <a:spcBef>
                <a:spcPts val="0"/>
              </a:spcBef>
              <a:spcAft>
                <a:spcPts val="0"/>
              </a:spcAft>
            </a:pPr>
            <a:r>
              <a:rPr sz="800">
                <a:solidFill>
                  <a:srgbClr val="191919"/>
                </a:solidFill>
                <a:latin typeface="Consolas"/>
              </a:rPr>
              <a:t>        int getPlays() { return plays; }</a:t>
            </a:r>
          </a:p>
          <a:p>
            <a:pPr>
              <a:spcBef>
                <a:spcPts val="0"/>
              </a:spcBef>
              <a:spcAft>
                <a:spcPts val="0"/>
              </a:spcAft>
            </a:pPr>
            <a:r>
              <a:rPr sz="800">
                <a:solidFill>
                  <a:srgbClr val="191919"/>
                </a:solidFill>
                <a:latin typeface="Consolas"/>
              </a:rPr>
              <a:t>        @Override</a:t>
            </a:r>
          </a:p>
          <a:p>
            <a:pPr>
              <a:spcBef>
                <a:spcPts val="0"/>
              </a:spcBef>
              <a:spcAft>
                <a:spcPts val="0"/>
              </a:spcAft>
            </a:pPr>
            <a:r>
              <a:rPr sz="800">
                <a:solidFill>
                  <a:srgbClr val="191919"/>
                </a:solidFill>
                <a:latin typeface="Consolas"/>
              </a:rPr>
              <a:t>        public String toString() {</a:t>
            </a:r>
          </a:p>
          <a:p>
            <a:pPr>
              <a:spcBef>
                <a:spcPts val="0"/>
              </a:spcBef>
              <a:spcAft>
                <a:spcPts val="0"/>
              </a:spcAft>
            </a:pPr>
            <a:r>
              <a:rPr sz="800">
                <a:solidFill>
                  <a:srgbClr val="191919"/>
                </a:solidFill>
                <a:latin typeface="Consolas"/>
              </a:rPr>
              <a:t>            return title + "|" + artist + "|" + plays;</a:t>
            </a:r>
          </a:p>
          <a:p>
            <a:pPr>
              <a:spcBef>
                <a:spcPts val="0"/>
              </a:spcBef>
              <a:spcAft>
                <a:spcPts val="0"/>
              </a:spcAft>
            </a:pPr>
            <a:r>
              <a:rPr sz="800">
                <a:solidFill>
                  <a:srgbClr val="191919"/>
                </a:solidFill>
                <a:latin typeface="Consolas"/>
              </a:rPr>
              <a:t>        }</a:t>
            </a:r>
          </a:p>
          <a:p>
            <a:pPr>
              <a:spcBef>
                <a:spcPts val="0"/>
              </a:spcBef>
              <a:spcAft>
                <a:spcPts val="0"/>
              </a:spcAft>
            </a:pPr>
            <a:r>
              <a:rPr sz="800">
                <a:solidFill>
                  <a:srgbClr val="191919"/>
                </a:solidFill>
                <a:latin typeface="Consolas"/>
              </a:rPr>
              <a:t>    }</a:t>
            </a:r>
          </a:p>
          <a:p>
            <a:pPr>
              <a:spcBef>
                <a:spcPts val="0"/>
              </a:spcBef>
              <a:spcAft>
                <a:spcPts val="0"/>
              </a:spcAft>
            </a:pPr>
            <a:endParaRPr sz="800">
              <a:solidFill>
                <a:srgbClr val="191919"/>
              </a:solidFill>
              <a:latin typeface="Consolas"/>
            </a:endParaRPr>
          </a:p>
          <a:p>
            <a:pPr>
              <a:spcBef>
                <a:spcPts val="0"/>
              </a:spcBef>
              <a:spcAft>
                <a:spcPts val="0"/>
              </a:spcAft>
            </a:pPr>
            <a:r>
              <a:rPr sz="800">
                <a:solidFill>
                  <a:srgbClr val="191919"/>
                </a:solidFill>
                <a:latin typeface="Consolas"/>
              </a:rPr>
              <a:t>    public static void main(String[] args) {</a:t>
            </a:r>
          </a:p>
          <a:p>
            <a:pPr>
              <a:spcBef>
                <a:spcPts val="0"/>
              </a:spcBef>
              <a:spcAft>
                <a:spcPts val="0"/>
              </a:spcAft>
            </a:pPr>
            <a:r>
              <a:rPr sz="800">
                <a:solidFill>
                  <a:srgbClr val="191919"/>
                </a:solidFill>
                <a:latin typeface="Consolas"/>
              </a:rPr>
              <a:t>        Scanner sc = new Scanner(System.in);</a:t>
            </a:r>
          </a:p>
          <a:p>
            <a:pPr>
              <a:spcBef>
                <a:spcPts val="0"/>
              </a:spcBef>
              <a:spcAft>
                <a:spcPts val="0"/>
              </a:spcAft>
            </a:pPr>
            <a:r>
              <a:rPr sz="800">
                <a:solidFill>
                  <a:srgbClr val="191919"/>
                </a:solidFill>
                <a:latin typeface="Consolas"/>
              </a:rPr>
              <a:t>        List&lt;Song&gt; playlist = new ArrayList&lt;&gt;();</a:t>
            </a:r>
          </a:p>
        </p:txBody>
      </p:sp>
      <p:sp>
        <p:nvSpPr>
          <p:cNvPr id="90" name="Date Placeholder"/>
          <p:cNvSpPr>
            <a:spLocks noGrp="1"/>
          </p:cNvSpPr>
          <p:nvPr>
            <p:ph type="dt" sz="half" idx="10"/>
          </p:nvPr>
        </p:nvSpPr>
        <p:spPr/>
        <p:txBody>
          <a:bodyPr/>
          <a:lstStyle/>
          <a:p>
            <a:fld id="{98A7212C-F907-4AC4-966E-162B34E8EFA5}" type="datetime1">
              <a:rPr lang="en-IN"/>
              <a:t>15-10-2026</a:t>
            </a:fld>
            <a:endParaRPr lang="en-IN"/>
          </a:p>
        </p:txBody>
      </p:sp>
      <p:sp>
        <p:nvSpPr>
          <p:cNvPr id="91" name="Slide Number Placeholder"/>
          <p:cNvSpPr>
            <a:spLocks noGrp="1"/>
          </p:cNvSpPr>
          <p:nvPr>
            <p:ph type="sldNum" sz="quarter" idx="12"/>
          </p:nvPr>
        </p:nvSpPr>
        <p:spPr/>
        <p:txBody>
          <a:bodyPr/>
          <a:lstStyle/>
          <a:p>
            <a:fld id="{CB012AB6-14AF-4351-87AD-D420B05274E1}" type="slidenum">
              <a:rPr lang="en-IN"/>
              <a:t>12</a:t>
            </a:fld>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8760" y="320040"/>
            <a:ext cx="10363200" cy="822960"/>
          </a:xfrm>
        </p:spPr>
        <p:txBody>
          <a:bodyPr/>
          <a:lstStyle/>
          <a:p>
            <a:r>
              <a:t>Full Program (Part 2/3)</a:t>
            </a:r>
          </a:p>
        </p:txBody>
      </p:sp>
      <p:sp>
        <p:nvSpPr>
          <p:cNvPr id="20" name="Code Left"/>
          <p:cNvSpPr/>
          <p:nvPr/>
        </p:nvSpPr>
        <p:spPr>
          <a:xfrm>
            <a:off x="600000" y="1400000"/>
            <a:ext cx="5421000" cy="5200000"/>
          </a:xfrm>
          <a:prstGeom prst="rect">
            <a:avLst/>
          </a:prstGeom>
          <a:solidFill>
            <a:srgbClr val="F6F3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t">
            <a:normAutofit/>
          </a:bodyPr>
          <a:lstStyle/>
          <a:p>
            <a:pPr>
              <a:spcBef>
                <a:spcPts val="0"/>
              </a:spcBef>
              <a:spcAft>
                <a:spcPts val="0"/>
              </a:spcAft>
            </a:pPr>
            <a:r>
              <a:rPr sz="800">
                <a:solidFill>
                  <a:srgbClr val="191919"/>
                </a:solidFill>
                <a:latin typeface="Consolas"/>
              </a:rPr>
              <a:t>        // CO1-CO3: Read five songs using a loop</a:t>
            </a:r>
          </a:p>
          <a:p>
            <a:pPr>
              <a:spcBef>
                <a:spcPts val="0"/>
              </a:spcBef>
              <a:spcAft>
                <a:spcPts val="0"/>
              </a:spcAft>
            </a:pPr>
            <a:r>
              <a:rPr sz="800">
                <a:solidFill>
                  <a:srgbClr val="191919"/>
                </a:solidFill>
                <a:latin typeface="Consolas"/>
              </a:rPr>
              <a:t>        for (int i = 0; i &lt; 5; i++) {</a:t>
            </a:r>
          </a:p>
          <a:p>
            <a:pPr>
              <a:spcBef>
                <a:spcPts val="0"/>
              </a:spcBef>
              <a:spcAft>
                <a:spcPts val="0"/>
              </a:spcAft>
            </a:pPr>
            <a:r>
              <a:rPr sz="800">
                <a:solidFill>
                  <a:srgbClr val="191919"/>
                </a:solidFill>
                <a:latin typeface="Consolas"/>
              </a:rPr>
              <a:t>            try {</a:t>
            </a:r>
          </a:p>
          <a:p>
            <a:pPr>
              <a:spcBef>
                <a:spcPts val="0"/>
              </a:spcBef>
              <a:spcAft>
                <a:spcPts val="0"/>
              </a:spcAft>
            </a:pPr>
            <a:r>
              <a:rPr sz="800">
                <a:solidFill>
                  <a:srgbClr val="191919"/>
                </a:solidFill>
                <a:latin typeface="Consolas"/>
              </a:rPr>
              <a:t>                System.out.print("Song title: ");</a:t>
            </a:r>
          </a:p>
          <a:p>
            <a:pPr>
              <a:spcBef>
                <a:spcPts val="0"/>
              </a:spcBef>
              <a:spcAft>
                <a:spcPts val="0"/>
              </a:spcAft>
            </a:pPr>
            <a:r>
              <a:rPr sz="800">
                <a:solidFill>
                  <a:srgbClr val="191919"/>
                </a:solidFill>
                <a:latin typeface="Consolas"/>
              </a:rPr>
              <a:t>                String title = sc.nextLine();</a:t>
            </a:r>
          </a:p>
          <a:p>
            <a:pPr>
              <a:spcBef>
                <a:spcPts val="0"/>
              </a:spcBef>
              <a:spcAft>
                <a:spcPts val="0"/>
              </a:spcAft>
            </a:pPr>
            <a:r>
              <a:rPr sz="800">
                <a:solidFill>
                  <a:srgbClr val="191919"/>
                </a:solidFill>
                <a:latin typeface="Consolas"/>
              </a:rPr>
              <a:t>                System.out.print("Artist: ");</a:t>
            </a:r>
          </a:p>
          <a:p>
            <a:pPr>
              <a:spcBef>
                <a:spcPts val="0"/>
              </a:spcBef>
              <a:spcAft>
                <a:spcPts val="0"/>
              </a:spcAft>
            </a:pPr>
            <a:r>
              <a:rPr sz="800">
                <a:solidFill>
                  <a:srgbClr val="191919"/>
                </a:solidFill>
                <a:latin typeface="Consolas"/>
              </a:rPr>
              <a:t>                String artist = sc.nextLine();</a:t>
            </a:r>
          </a:p>
          <a:p>
            <a:pPr>
              <a:spcBef>
                <a:spcPts val="0"/>
              </a:spcBef>
              <a:spcAft>
                <a:spcPts val="0"/>
              </a:spcAft>
            </a:pPr>
            <a:r>
              <a:rPr sz="800">
                <a:solidFill>
                  <a:srgbClr val="191919"/>
                </a:solidFill>
                <a:latin typeface="Consolas"/>
              </a:rPr>
              <a:t>                System.out.print("Number of plays: ");</a:t>
            </a:r>
          </a:p>
          <a:p>
            <a:pPr>
              <a:spcBef>
                <a:spcPts val="0"/>
              </a:spcBef>
              <a:spcAft>
                <a:spcPts val="0"/>
              </a:spcAft>
            </a:pPr>
            <a:r>
              <a:rPr sz="800">
                <a:solidFill>
                  <a:srgbClr val="191919"/>
                </a:solidFill>
                <a:latin typeface="Consolas"/>
              </a:rPr>
              <a:t>                int plays = Integer.parseInt(sc.nextLine().trim());</a:t>
            </a:r>
          </a:p>
          <a:p>
            <a:pPr>
              <a:spcBef>
                <a:spcPts val="0"/>
              </a:spcBef>
              <a:spcAft>
                <a:spcPts val="0"/>
              </a:spcAft>
            </a:pPr>
            <a:r>
              <a:rPr sz="800">
                <a:solidFill>
                  <a:srgbClr val="191919"/>
                </a:solidFill>
                <a:latin typeface="Consolas"/>
              </a:rPr>
              <a:t>                playlist.add(new Song(title, artist, plays));</a:t>
            </a:r>
          </a:p>
          <a:p>
            <a:pPr>
              <a:spcBef>
                <a:spcPts val="0"/>
              </a:spcBef>
              <a:spcAft>
                <a:spcPts val="0"/>
              </a:spcAft>
            </a:pPr>
            <a:r>
              <a:rPr sz="800">
                <a:solidFill>
                  <a:srgbClr val="191919"/>
                </a:solidFill>
                <a:latin typeface="Consolas"/>
              </a:rPr>
              <a:t>            } catch (IllegalArgumentException e) {</a:t>
            </a:r>
          </a:p>
          <a:p>
            <a:pPr>
              <a:spcBef>
                <a:spcPts val="0"/>
              </a:spcBef>
              <a:spcAft>
                <a:spcPts val="0"/>
              </a:spcAft>
            </a:pPr>
            <a:r>
              <a:rPr sz="800">
                <a:solidFill>
                  <a:srgbClr val="191919"/>
                </a:solidFill>
                <a:latin typeface="Consolas"/>
              </a:rPr>
              <a:t>                System.out.println("Invalid input. Song skipped.");</a:t>
            </a:r>
          </a:p>
          <a:p>
            <a:pPr>
              <a:spcBef>
                <a:spcPts val="0"/>
              </a:spcBef>
              <a:spcAft>
                <a:spcPts val="0"/>
              </a:spcAft>
            </a:pPr>
            <a:r>
              <a:rPr sz="800">
                <a:solidFill>
                  <a:srgbClr val="191919"/>
                </a:solidFill>
                <a:latin typeface="Consolas"/>
              </a:rPr>
              <a:t>            }</a:t>
            </a:r>
          </a:p>
          <a:p>
            <a:pPr>
              <a:spcBef>
                <a:spcPts val="0"/>
              </a:spcBef>
              <a:spcAft>
                <a:spcPts val="0"/>
              </a:spcAft>
            </a:pPr>
            <a:r>
              <a:rPr sz="800">
                <a:solidFill>
                  <a:srgbClr val="191919"/>
                </a:solidFill>
                <a:latin typeface="Consolas"/>
              </a:rPr>
              <a:t>        }</a:t>
            </a:r>
          </a:p>
          <a:p>
            <a:pPr>
              <a:spcBef>
                <a:spcPts val="0"/>
              </a:spcBef>
              <a:spcAft>
                <a:spcPts val="0"/>
              </a:spcAft>
            </a:pPr>
            <a:endParaRPr sz="800">
              <a:solidFill>
                <a:srgbClr val="191919"/>
              </a:solidFill>
              <a:latin typeface="Consolas"/>
            </a:endParaRPr>
          </a:p>
          <a:p>
            <a:pPr>
              <a:spcBef>
                <a:spcPts val="0"/>
              </a:spcBef>
              <a:spcAft>
                <a:spcPts val="0"/>
              </a:spcAft>
            </a:pPr>
            <a:r>
              <a:rPr sz="800">
                <a:solidFill>
                  <a:srgbClr val="191919"/>
                </a:solidFill>
                <a:latin typeface="Consolas"/>
              </a:rPr>
              <a:t>        // CO5: Load saved records from playlist.txt</a:t>
            </a:r>
          </a:p>
          <a:p>
            <a:pPr>
              <a:spcBef>
                <a:spcPts val="0"/>
              </a:spcBef>
              <a:spcAft>
                <a:spcPts val="0"/>
              </a:spcAft>
            </a:pPr>
            <a:r>
              <a:rPr sz="800">
                <a:solidFill>
                  <a:srgbClr val="191919"/>
                </a:solidFill>
                <a:latin typeface="Consolas"/>
              </a:rPr>
              <a:t>        Path file = Paths.get("playlist.txt");</a:t>
            </a:r>
          </a:p>
          <a:p>
            <a:pPr>
              <a:spcBef>
                <a:spcPts val="0"/>
              </a:spcBef>
              <a:spcAft>
                <a:spcPts val="0"/>
              </a:spcAft>
            </a:pPr>
            <a:r>
              <a:rPr sz="800">
                <a:solidFill>
                  <a:srgbClr val="191919"/>
                </a:solidFill>
                <a:latin typeface="Consolas"/>
              </a:rPr>
              <a:t>        try {</a:t>
            </a:r>
          </a:p>
          <a:p>
            <a:pPr>
              <a:spcBef>
                <a:spcPts val="0"/>
              </a:spcBef>
              <a:spcAft>
                <a:spcPts val="0"/>
              </a:spcAft>
            </a:pPr>
            <a:r>
              <a:rPr sz="800">
                <a:solidFill>
                  <a:srgbClr val="191919"/>
                </a:solidFill>
                <a:latin typeface="Consolas"/>
              </a:rPr>
              <a:t>            if (Files.exists(file)) {</a:t>
            </a:r>
          </a:p>
          <a:p>
            <a:pPr>
              <a:spcBef>
                <a:spcPts val="0"/>
              </a:spcBef>
              <a:spcAft>
                <a:spcPts val="0"/>
              </a:spcAft>
            </a:pPr>
            <a:r>
              <a:rPr sz="800">
                <a:solidFill>
                  <a:srgbClr val="191919"/>
                </a:solidFill>
                <a:latin typeface="Consolas"/>
              </a:rPr>
              <a:t>                for (String line : Files.readAllLines(file)) {</a:t>
            </a:r>
          </a:p>
        </p:txBody>
      </p:sp>
      <p:sp>
        <p:nvSpPr>
          <p:cNvPr id="21" name="Code Right"/>
          <p:cNvSpPr/>
          <p:nvPr/>
        </p:nvSpPr>
        <p:spPr>
          <a:xfrm>
            <a:off x="6171000" y="1400000"/>
            <a:ext cx="5421000" cy="5200000"/>
          </a:xfrm>
          <a:prstGeom prst="rect">
            <a:avLst/>
          </a:prstGeom>
          <a:solidFill>
            <a:srgbClr val="F6F3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t">
            <a:normAutofit/>
          </a:bodyPr>
          <a:lstStyle/>
          <a:p>
            <a:pPr>
              <a:spcBef>
                <a:spcPts val="0"/>
              </a:spcBef>
              <a:spcAft>
                <a:spcPts val="0"/>
              </a:spcAft>
            </a:pPr>
            <a:r>
              <a:rPr sz="800">
                <a:solidFill>
                  <a:srgbClr val="191919"/>
                </a:solidFill>
                <a:latin typeface="Consolas"/>
              </a:rPr>
              <a:t>                    String[] data = line.split("\\|");</a:t>
            </a:r>
          </a:p>
          <a:p>
            <a:pPr>
              <a:spcBef>
                <a:spcPts val="0"/>
              </a:spcBef>
              <a:spcAft>
                <a:spcPts val="0"/>
              </a:spcAft>
            </a:pPr>
            <a:r>
              <a:rPr sz="800">
                <a:solidFill>
                  <a:srgbClr val="191919"/>
                </a:solidFill>
                <a:latin typeface="Consolas"/>
              </a:rPr>
              <a:t>                    if (data.length == 3) {</a:t>
            </a:r>
          </a:p>
          <a:p>
            <a:pPr>
              <a:spcBef>
                <a:spcPts val="0"/>
              </a:spcBef>
              <a:spcAft>
                <a:spcPts val="0"/>
              </a:spcAft>
            </a:pPr>
            <a:r>
              <a:rPr sz="800">
                <a:solidFill>
                  <a:srgbClr val="191919"/>
                </a:solidFill>
                <a:latin typeface="Consolas"/>
              </a:rPr>
              <a:t>                        try {</a:t>
            </a:r>
          </a:p>
          <a:p>
            <a:pPr>
              <a:spcBef>
                <a:spcPts val="0"/>
              </a:spcBef>
              <a:spcAft>
                <a:spcPts val="0"/>
              </a:spcAft>
            </a:pPr>
            <a:r>
              <a:rPr sz="800">
                <a:solidFill>
                  <a:srgbClr val="191919"/>
                </a:solidFill>
                <a:latin typeface="Consolas"/>
              </a:rPr>
              <a:t>                            playlist.add(new Song(data[0], data[1],</a:t>
            </a:r>
          </a:p>
          <a:p>
            <a:pPr>
              <a:spcBef>
                <a:spcPts val="0"/>
              </a:spcBef>
              <a:spcAft>
                <a:spcPts val="0"/>
              </a:spcAft>
            </a:pPr>
            <a:r>
              <a:rPr sz="800">
                <a:solidFill>
                  <a:srgbClr val="191919"/>
                </a:solidFill>
                <a:latin typeface="Consolas"/>
              </a:rPr>
              <a:t>                                Integer.parseInt(data[2].trim())));</a:t>
            </a:r>
          </a:p>
          <a:p>
            <a:pPr>
              <a:spcBef>
                <a:spcPts val="0"/>
              </a:spcBef>
              <a:spcAft>
                <a:spcPts val="0"/>
              </a:spcAft>
            </a:pPr>
            <a:r>
              <a:rPr sz="800">
                <a:solidFill>
                  <a:srgbClr val="191919"/>
                </a:solidFill>
                <a:latin typeface="Consolas"/>
              </a:rPr>
              <a:t>                        } catch (IllegalArgumentException e) {</a:t>
            </a:r>
          </a:p>
          <a:p>
            <a:pPr>
              <a:spcBef>
                <a:spcPts val="0"/>
              </a:spcBef>
              <a:spcAft>
                <a:spcPts val="0"/>
              </a:spcAft>
            </a:pPr>
            <a:r>
              <a:rPr sz="800">
                <a:solidFill>
                  <a:srgbClr val="191919"/>
                </a:solidFill>
                <a:latin typeface="Consolas"/>
              </a:rPr>
              <a:t>                            System.out.println("Skipped malformed record.");</a:t>
            </a:r>
          </a:p>
          <a:p>
            <a:pPr>
              <a:spcBef>
                <a:spcPts val="0"/>
              </a:spcBef>
              <a:spcAft>
                <a:spcPts val="0"/>
              </a:spcAft>
            </a:pPr>
            <a:r>
              <a:rPr sz="800">
                <a:solidFill>
                  <a:srgbClr val="191919"/>
                </a:solidFill>
                <a:latin typeface="Consolas"/>
              </a:rPr>
              <a:t>                        }</a:t>
            </a:r>
          </a:p>
          <a:p>
            <a:pPr>
              <a:spcBef>
                <a:spcPts val="0"/>
              </a:spcBef>
              <a:spcAft>
                <a:spcPts val="0"/>
              </a:spcAft>
            </a:pPr>
            <a:r>
              <a:rPr sz="800">
                <a:solidFill>
                  <a:srgbClr val="191919"/>
                </a:solidFill>
                <a:latin typeface="Consolas"/>
              </a:rPr>
              <a:t>                    }</a:t>
            </a:r>
          </a:p>
          <a:p>
            <a:pPr>
              <a:spcBef>
                <a:spcPts val="0"/>
              </a:spcBef>
              <a:spcAft>
                <a:spcPts val="0"/>
              </a:spcAft>
            </a:pPr>
            <a:r>
              <a:rPr sz="800">
                <a:solidFill>
                  <a:srgbClr val="191919"/>
                </a:solidFill>
                <a:latin typeface="Consolas"/>
              </a:rPr>
              <a:t>                }</a:t>
            </a:r>
          </a:p>
          <a:p>
            <a:pPr>
              <a:spcBef>
                <a:spcPts val="0"/>
              </a:spcBef>
              <a:spcAft>
                <a:spcPts val="0"/>
              </a:spcAft>
            </a:pPr>
            <a:r>
              <a:rPr sz="800">
                <a:solidFill>
                  <a:srgbClr val="191919"/>
                </a:solidFill>
                <a:latin typeface="Consolas"/>
              </a:rPr>
              <a:t>            }</a:t>
            </a:r>
          </a:p>
          <a:p>
            <a:pPr>
              <a:spcBef>
                <a:spcPts val="0"/>
              </a:spcBef>
              <a:spcAft>
                <a:spcPts val="0"/>
              </a:spcAft>
            </a:pPr>
            <a:r>
              <a:rPr sz="800">
                <a:solidFill>
                  <a:srgbClr val="191919"/>
                </a:solidFill>
                <a:latin typeface="Consolas"/>
              </a:rPr>
              <a:t>        } catch (IOException e) {</a:t>
            </a:r>
          </a:p>
          <a:p>
            <a:pPr>
              <a:spcBef>
                <a:spcPts val="0"/>
              </a:spcBef>
              <a:spcAft>
                <a:spcPts val="0"/>
              </a:spcAft>
            </a:pPr>
            <a:r>
              <a:rPr sz="800">
                <a:solidFill>
                  <a:srgbClr val="191919"/>
                </a:solidFill>
                <a:latin typeface="Consolas"/>
              </a:rPr>
              <a:t>            System.out.println("Could not read saved playlist.");</a:t>
            </a:r>
          </a:p>
          <a:p>
            <a:pPr>
              <a:spcBef>
                <a:spcPts val="0"/>
              </a:spcBef>
              <a:spcAft>
                <a:spcPts val="0"/>
              </a:spcAft>
            </a:pPr>
            <a:r>
              <a:rPr sz="800">
                <a:solidFill>
                  <a:srgbClr val="191919"/>
                </a:solidFill>
                <a:latin typeface="Consolas"/>
              </a:rPr>
              <a:t>        }</a:t>
            </a:r>
          </a:p>
          <a:p>
            <a:pPr>
              <a:spcBef>
                <a:spcPts val="0"/>
              </a:spcBef>
              <a:spcAft>
                <a:spcPts val="0"/>
              </a:spcAft>
            </a:pPr>
            <a:endParaRPr sz="800">
              <a:solidFill>
                <a:srgbClr val="191919"/>
              </a:solidFill>
              <a:latin typeface="Consolas"/>
            </a:endParaRPr>
          </a:p>
          <a:p>
            <a:pPr>
              <a:spcBef>
                <a:spcPts val="0"/>
              </a:spcBef>
              <a:spcAft>
                <a:spcPts val="0"/>
              </a:spcAft>
            </a:pPr>
            <a:r>
              <a:rPr sz="800">
                <a:solidFill>
                  <a:srgbClr val="191919"/>
                </a:solidFill>
                <a:latin typeface="Consolas"/>
              </a:rPr>
              <a:t>        int total = 0;</a:t>
            </a:r>
          </a:p>
          <a:p>
            <a:pPr>
              <a:spcBef>
                <a:spcPts val="0"/>
              </a:spcBef>
              <a:spcAft>
                <a:spcPts val="0"/>
              </a:spcAft>
            </a:pPr>
            <a:r>
              <a:rPr sz="800">
                <a:solidFill>
                  <a:srgbClr val="191919"/>
                </a:solidFill>
                <a:latin typeface="Consolas"/>
              </a:rPr>
              <a:t>        for (Song song : playlist) {</a:t>
            </a:r>
          </a:p>
          <a:p>
            <a:pPr>
              <a:spcBef>
                <a:spcPts val="0"/>
              </a:spcBef>
              <a:spcAft>
                <a:spcPts val="0"/>
              </a:spcAft>
            </a:pPr>
            <a:r>
              <a:rPr sz="800">
                <a:solidFill>
                  <a:srgbClr val="191919"/>
                </a:solidFill>
                <a:latin typeface="Consolas"/>
              </a:rPr>
              <a:t>            System.out.println(song.getTitle() + " - "</a:t>
            </a:r>
          </a:p>
          <a:p>
            <a:pPr>
              <a:spcBef>
                <a:spcPts val="0"/>
              </a:spcBef>
              <a:spcAft>
                <a:spcPts val="0"/>
              </a:spcAft>
            </a:pPr>
            <a:r>
              <a:rPr sz="800">
                <a:solidFill>
                  <a:srgbClr val="191919"/>
                </a:solidFill>
                <a:latin typeface="Consolas"/>
              </a:rPr>
              <a:t>                + song.getPlays() + " plays");</a:t>
            </a:r>
          </a:p>
          <a:p>
            <a:pPr>
              <a:spcBef>
                <a:spcPts val="0"/>
              </a:spcBef>
              <a:spcAft>
                <a:spcPts val="0"/>
              </a:spcAft>
            </a:pPr>
            <a:r>
              <a:rPr sz="800">
                <a:solidFill>
                  <a:srgbClr val="191919"/>
                </a:solidFill>
                <a:latin typeface="Consolas"/>
              </a:rPr>
              <a:t>            total += song.getPlays();</a:t>
            </a:r>
          </a:p>
          <a:p>
            <a:pPr>
              <a:spcBef>
                <a:spcPts val="0"/>
              </a:spcBef>
              <a:spcAft>
                <a:spcPts val="0"/>
              </a:spcAft>
            </a:pPr>
            <a:r>
              <a:rPr sz="800">
                <a:solidFill>
                  <a:srgbClr val="191919"/>
                </a:solidFill>
                <a:latin typeface="Consolas"/>
              </a:rPr>
              <a:t>        }</a:t>
            </a:r>
          </a:p>
        </p:txBody>
      </p:sp>
      <p:sp>
        <p:nvSpPr>
          <p:cNvPr id="90" name="Date Placeholder"/>
          <p:cNvSpPr>
            <a:spLocks noGrp="1"/>
          </p:cNvSpPr>
          <p:nvPr>
            <p:ph type="dt" sz="half" idx="10"/>
          </p:nvPr>
        </p:nvSpPr>
        <p:spPr/>
        <p:txBody>
          <a:bodyPr/>
          <a:lstStyle/>
          <a:p>
            <a:fld id="{98A7212C-F907-4AC4-966E-162B34E8EFA5}" type="datetime1">
              <a:rPr lang="en-IN"/>
              <a:t>15-10-2026</a:t>
            </a:fld>
            <a:endParaRPr lang="en-IN"/>
          </a:p>
        </p:txBody>
      </p:sp>
      <p:sp>
        <p:nvSpPr>
          <p:cNvPr id="91" name="Slide Number Placeholder"/>
          <p:cNvSpPr>
            <a:spLocks noGrp="1"/>
          </p:cNvSpPr>
          <p:nvPr>
            <p:ph type="sldNum" sz="quarter" idx="12"/>
          </p:nvPr>
        </p:nvSpPr>
        <p:spPr/>
        <p:txBody>
          <a:bodyPr/>
          <a:lstStyle/>
          <a:p>
            <a:fld id="{CB012AB6-14AF-4351-87AD-D420B05274E1}" type="slidenum">
              <a:rPr lang="en-IN"/>
              <a:t>13</a:t>
            </a:fld>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8760" y="320040"/>
            <a:ext cx="10363200" cy="822960"/>
          </a:xfrm>
        </p:spPr>
        <p:txBody>
          <a:bodyPr/>
          <a:lstStyle/>
          <a:p>
            <a:r>
              <a:t>Full Program (Part 3/3)</a:t>
            </a:r>
          </a:p>
        </p:txBody>
      </p:sp>
      <p:sp>
        <p:nvSpPr>
          <p:cNvPr id="20" name="Code Left"/>
          <p:cNvSpPr/>
          <p:nvPr/>
        </p:nvSpPr>
        <p:spPr>
          <a:xfrm>
            <a:off x="600000" y="1400000"/>
            <a:ext cx="5421000" cy="5200000"/>
          </a:xfrm>
          <a:prstGeom prst="rect">
            <a:avLst/>
          </a:prstGeom>
          <a:solidFill>
            <a:srgbClr val="F6F3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t">
            <a:normAutofit/>
          </a:bodyPr>
          <a:lstStyle/>
          <a:p>
            <a:pPr>
              <a:spcBef>
                <a:spcPts val="0"/>
              </a:spcBef>
              <a:spcAft>
                <a:spcPts val="0"/>
              </a:spcAft>
            </a:pPr>
            <a:r>
              <a:rPr lang="en-IN" sz="800" dirty="0">
                <a:solidFill>
                  <a:srgbClr val="191919"/>
                </a:solidFill>
                <a:latin typeface="Consolas"/>
              </a:rPr>
              <a:t>        // CO6: Sort songs by play count, highest first</a:t>
            </a:r>
          </a:p>
          <a:p>
            <a:pPr>
              <a:spcBef>
                <a:spcPts val="0"/>
              </a:spcBef>
              <a:spcAft>
                <a:spcPts val="0"/>
              </a:spcAft>
            </a:pPr>
            <a:r>
              <a:rPr lang="en-IN" sz="800" dirty="0">
                <a:solidFill>
                  <a:srgbClr val="191919"/>
                </a:solidFill>
                <a:latin typeface="Consolas"/>
              </a:rPr>
              <a:t>        playlist.sort(Comparator.comparingInt(Song::getPlays).reversed());</a:t>
            </a:r>
          </a:p>
          <a:p>
            <a:pPr>
              <a:spcBef>
                <a:spcPts val="0"/>
              </a:spcBef>
              <a:spcAft>
                <a:spcPts val="0"/>
              </a:spcAft>
            </a:pPr>
            <a:r>
              <a:rPr lang="en-IN" sz="800" dirty="0">
                <a:solidFill>
                  <a:srgbClr val="191919"/>
                </a:solidFill>
                <a:latin typeface="Consolas"/>
              </a:rPr>
              <a:t>        System.out.println("\nMost played songs first:");</a:t>
            </a:r>
          </a:p>
          <a:p>
            <a:pPr>
              <a:spcBef>
                <a:spcPts val="0"/>
              </a:spcBef>
              <a:spcAft>
                <a:spcPts val="0"/>
              </a:spcAft>
            </a:pPr>
            <a:r>
              <a:rPr lang="en-IN" sz="800" dirty="0">
                <a:solidFill>
                  <a:srgbClr val="191919"/>
                </a:solidFill>
                <a:latin typeface="Consolas"/>
              </a:rPr>
              <a:t>        playlist.forEach(System.out::println);</a:t>
            </a:r>
          </a:p>
          <a:p>
            <a:pPr>
              <a:spcBef>
                <a:spcPts val="0"/>
              </a:spcBef>
              <a:spcAft>
                <a:spcPts val="0"/>
              </a:spcAft>
            </a:pPr>
            <a:endParaRPr lang="en-IN" sz="800" dirty="0">
              <a:solidFill>
                <a:srgbClr val="191919"/>
              </a:solidFill>
              <a:latin typeface="Consolas"/>
            </a:endParaRPr>
          </a:p>
          <a:p>
            <a:pPr>
              <a:spcBef>
                <a:spcPts val="0"/>
              </a:spcBef>
              <a:spcAft>
                <a:spcPts val="0"/>
              </a:spcAft>
            </a:pPr>
            <a:r>
              <a:rPr lang="en-IN" sz="800" dirty="0">
                <a:solidFill>
                  <a:srgbClr val="191919"/>
                </a:solidFill>
                <a:latin typeface="Consolas"/>
              </a:rPr>
              <a:t>        long popularCount = playlist.stream()</a:t>
            </a:r>
          </a:p>
          <a:p>
            <a:pPr>
              <a:spcBef>
                <a:spcPts val="0"/>
              </a:spcBef>
              <a:spcAft>
                <a:spcPts val="0"/>
              </a:spcAft>
            </a:pPr>
            <a:r>
              <a:rPr lang="en-IN" sz="800" dirty="0">
                <a:solidFill>
                  <a:srgbClr val="191919"/>
                </a:solidFill>
                <a:latin typeface="Consolas"/>
              </a:rPr>
              <a:t>            .filter(song -&gt; song.getPlays() &gt;= 10)</a:t>
            </a:r>
          </a:p>
          <a:p>
            <a:pPr>
              <a:spcBef>
                <a:spcPts val="0"/>
              </a:spcBef>
              <a:spcAft>
                <a:spcPts val="0"/>
              </a:spcAft>
            </a:pPr>
            <a:r>
              <a:rPr lang="en-IN" sz="800" dirty="0">
                <a:solidFill>
                  <a:srgbClr val="191919"/>
                </a:solidFill>
                <a:latin typeface="Consolas"/>
              </a:rPr>
              <a:t>            .count();</a:t>
            </a:r>
          </a:p>
          <a:p>
            <a:pPr>
              <a:spcBef>
                <a:spcPts val="0"/>
              </a:spcBef>
              <a:spcAft>
                <a:spcPts val="0"/>
              </a:spcAft>
            </a:pPr>
            <a:endParaRPr lang="en-IN" sz="800" dirty="0">
              <a:solidFill>
                <a:srgbClr val="191919"/>
              </a:solidFill>
              <a:latin typeface="Consolas"/>
            </a:endParaRPr>
          </a:p>
          <a:p>
            <a:pPr>
              <a:spcBef>
                <a:spcPts val="0"/>
              </a:spcBef>
              <a:spcAft>
                <a:spcPts val="0"/>
              </a:spcAft>
            </a:pPr>
            <a:r>
              <a:rPr lang="en-IN" sz="800" dirty="0">
                <a:solidFill>
                  <a:srgbClr val="191919"/>
                </a:solidFill>
                <a:latin typeface="Consolas"/>
              </a:rPr>
              <a:t>        double average = playlist.isEmpty()</a:t>
            </a:r>
          </a:p>
          <a:p>
            <a:pPr>
              <a:spcBef>
                <a:spcPts val="0"/>
              </a:spcBef>
              <a:spcAft>
                <a:spcPts val="0"/>
              </a:spcAft>
            </a:pPr>
            <a:r>
              <a:rPr lang="en-IN" sz="800" dirty="0">
                <a:solidFill>
                  <a:srgbClr val="191919"/>
                </a:solidFill>
                <a:latin typeface="Consolas"/>
              </a:rPr>
              <a:t>            ? 0.0 : (double) total / playlist.size();</a:t>
            </a:r>
          </a:p>
          <a:p>
            <a:pPr>
              <a:spcBef>
                <a:spcPts val="0"/>
              </a:spcBef>
              <a:spcAft>
                <a:spcPts val="0"/>
              </a:spcAft>
            </a:pPr>
            <a:r>
              <a:rPr lang="en-IN" sz="800" dirty="0">
                <a:solidFill>
                  <a:srgbClr val="191919"/>
                </a:solidFill>
                <a:latin typeface="Consolas"/>
              </a:rPr>
              <a:t>        System.out.println("Total plays: " + total);</a:t>
            </a:r>
          </a:p>
          <a:p>
            <a:pPr>
              <a:spcBef>
                <a:spcPts val="0"/>
              </a:spcBef>
              <a:spcAft>
                <a:spcPts val="0"/>
              </a:spcAft>
            </a:pPr>
            <a:r>
              <a:rPr lang="en-IN" sz="800" dirty="0">
                <a:solidFill>
                  <a:srgbClr val="191919"/>
                </a:solidFill>
                <a:latin typeface="Consolas"/>
              </a:rPr>
              <a:t>        System.out.println("Average plays: " + average);</a:t>
            </a:r>
          </a:p>
          <a:p>
            <a:pPr>
              <a:spcBef>
                <a:spcPts val="0"/>
              </a:spcBef>
              <a:spcAft>
                <a:spcPts val="0"/>
              </a:spcAft>
            </a:pPr>
            <a:r>
              <a:rPr lang="en-IN" sz="800" dirty="0">
                <a:solidFill>
                  <a:srgbClr val="191919"/>
                </a:solidFill>
                <a:latin typeface="Consolas"/>
              </a:rPr>
              <a:t>        System.out.println("Songs with 10+ plays: " + popularCount);</a:t>
            </a:r>
          </a:p>
          <a:p>
            <a:pPr>
              <a:spcBef>
                <a:spcPts val="0"/>
              </a:spcBef>
              <a:spcAft>
                <a:spcPts val="0"/>
              </a:spcAft>
            </a:pPr>
            <a:endParaRPr lang="en-IN" sz="800" dirty="0">
              <a:solidFill>
                <a:srgbClr val="191919"/>
              </a:solidFill>
              <a:latin typeface="Consolas"/>
            </a:endParaRPr>
          </a:p>
          <a:p>
            <a:pPr>
              <a:spcBef>
                <a:spcPts val="0"/>
              </a:spcBef>
              <a:spcAft>
                <a:spcPts val="0"/>
              </a:spcAft>
            </a:pPr>
            <a:r>
              <a:rPr lang="en-IN" sz="800" dirty="0">
                <a:solidFill>
                  <a:srgbClr val="191919"/>
                </a:solidFill>
                <a:latin typeface="Consolas"/>
              </a:rPr>
              <a:t>        // CO5: Save playlist for the next run</a:t>
            </a:r>
          </a:p>
          <a:p>
            <a:pPr>
              <a:spcBef>
                <a:spcPts val="0"/>
              </a:spcBef>
              <a:spcAft>
                <a:spcPts val="0"/>
              </a:spcAft>
            </a:pPr>
            <a:r>
              <a:rPr lang="en-IN" sz="800" dirty="0">
                <a:solidFill>
                  <a:srgbClr val="191919"/>
                </a:solidFill>
                <a:latin typeface="Consolas"/>
              </a:rPr>
              <a:t>        List&lt;String&gt; lines = playlist.stream()</a:t>
            </a:r>
          </a:p>
          <a:p>
            <a:pPr>
              <a:spcBef>
                <a:spcPts val="0"/>
              </a:spcBef>
              <a:spcAft>
                <a:spcPts val="0"/>
              </a:spcAft>
            </a:pPr>
            <a:r>
              <a:rPr lang="en-IN" sz="800" dirty="0">
                <a:solidFill>
                  <a:srgbClr val="191919"/>
                </a:solidFill>
                <a:latin typeface="Consolas"/>
              </a:rPr>
              <a:t>            .map(Song::toString)</a:t>
            </a:r>
          </a:p>
          <a:p>
            <a:pPr>
              <a:spcBef>
                <a:spcPts val="0"/>
              </a:spcBef>
              <a:spcAft>
                <a:spcPts val="0"/>
              </a:spcAft>
            </a:pPr>
            <a:r>
              <a:rPr lang="en-IN" sz="800" dirty="0">
                <a:solidFill>
                  <a:srgbClr val="191919"/>
                </a:solidFill>
                <a:latin typeface="Consolas"/>
              </a:rPr>
              <a:t>            .collect(Collectors.toList());</a:t>
            </a:r>
          </a:p>
          <a:p>
            <a:pPr>
              <a:spcBef>
                <a:spcPts val="0"/>
              </a:spcBef>
              <a:spcAft>
                <a:spcPts val="0"/>
              </a:spcAft>
            </a:pPr>
            <a:r>
              <a:rPr lang="en-IN" sz="800" dirty="0">
                <a:solidFill>
                  <a:srgbClr val="191919"/>
                </a:solidFill>
                <a:latin typeface="Consolas"/>
              </a:rPr>
              <a:t>        try {</a:t>
            </a:r>
          </a:p>
          <a:p>
            <a:pPr>
              <a:spcBef>
                <a:spcPts val="0"/>
              </a:spcBef>
              <a:spcAft>
                <a:spcPts val="0"/>
              </a:spcAft>
            </a:pPr>
            <a:r>
              <a:rPr lang="en-IN" sz="800" dirty="0">
                <a:solidFill>
                  <a:srgbClr val="191919"/>
                </a:solidFill>
                <a:latin typeface="Consolas"/>
              </a:rPr>
              <a:t>            Files.write(file, lines);</a:t>
            </a:r>
          </a:p>
          <a:p>
            <a:pPr>
              <a:spcBef>
                <a:spcPts val="0"/>
              </a:spcBef>
              <a:spcAft>
                <a:spcPts val="0"/>
              </a:spcAft>
            </a:pPr>
            <a:r>
              <a:rPr lang="en-IN" sz="800" dirty="0">
                <a:solidFill>
                  <a:srgbClr val="191919"/>
                </a:solidFill>
                <a:latin typeface="Consolas"/>
              </a:rPr>
              <a:t>            System.out.println("Playlist saved to playlist.txt");</a:t>
            </a:r>
          </a:p>
          <a:p>
            <a:pPr>
              <a:spcBef>
                <a:spcPts val="0"/>
              </a:spcBef>
              <a:spcAft>
                <a:spcPts val="0"/>
              </a:spcAft>
            </a:pPr>
            <a:r>
              <a:rPr lang="en-IN" sz="800" dirty="0">
                <a:solidFill>
                  <a:srgbClr val="191919"/>
                </a:solidFill>
                <a:latin typeface="Consolas"/>
              </a:rPr>
              <a:t>        } catch (IOException e) {</a:t>
            </a:r>
          </a:p>
          <a:p>
            <a:pPr>
              <a:spcBef>
                <a:spcPts val="0"/>
              </a:spcBef>
              <a:spcAft>
                <a:spcPts val="0"/>
              </a:spcAft>
            </a:pPr>
            <a:r>
              <a:rPr lang="en-IN" sz="800" dirty="0">
                <a:solidFill>
                  <a:srgbClr val="191919"/>
                </a:solidFill>
                <a:latin typeface="Consolas"/>
              </a:rPr>
              <a:t>            System.out.println("Could not save playlist.");</a:t>
            </a:r>
          </a:p>
          <a:p>
            <a:pPr>
              <a:spcBef>
                <a:spcPts val="0"/>
              </a:spcBef>
              <a:spcAft>
                <a:spcPts val="0"/>
              </a:spcAft>
            </a:pPr>
            <a:r>
              <a:rPr lang="en-IN" sz="800" dirty="0">
                <a:solidFill>
                  <a:srgbClr val="191919"/>
                </a:solidFill>
                <a:latin typeface="Consolas"/>
              </a:rPr>
              <a:t>        }</a:t>
            </a:r>
          </a:p>
        </p:txBody>
      </p:sp>
      <p:sp>
        <p:nvSpPr>
          <p:cNvPr id="21" name="Code Right"/>
          <p:cNvSpPr/>
          <p:nvPr/>
        </p:nvSpPr>
        <p:spPr>
          <a:xfrm>
            <a:off x="6171000" y="1400000"/>
            <a:ext cx="5421000" cy="5200000"/>
          </a:xfrm>
          <a:prstGeom prst="rect">
            <a:avLst/>
          </a:prstGeom>
          <a:solidFill>
            <a:srgbClr val="F6F3EE"/>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t">
            <a:normAutofit/>
          </a:bodyPr>
          <a:lstStyle/>
          <a:p>
            <a:pPr>
              <a:spcBef>
                <a:spcPts val="0"/>
              </a:spcBef>
              <a:spcAft>
                <a:spcPts val="0"/>
              </a:spcAft>
            </a:pPr>
            <a:r>
              <a:rPr lang="en-IN" sz="800" dirty="0">
                <a:solidFill>
                  <a:srgbClr val="191919"/>
                </a:solidFill>
                <a:latin typeface="Consolas"/>
              </a:rPr>
              <a:t>        // CO5/CO6: Search titles using a stream</a:t>
            </a:r>
          </a:p>
          <a:p>
            <a:pPr>
              <a:spcBef>
                <a:spcPts val="0"/>
              </a:spcBef>
              <a:spcAft>
                <a:spcPts val="0"/>
              </a:spcAft>
            </a:pPr>
            <a:r>
              <a:rPr lang="en-IN" sz="800" dirty="0">
                <a:solidFill>
                  <a:srgbClr val="191919"/>
                </a:solidFill>
                <a:latin typeface="Consolas"/>
              </a:rPr>
              <a:t>        System.out.print("Search title: ");</a:t>
            </a:r>
          </a:p>
          <a:p>
            <a:pPr>
              <a:spcBef>
                <a:spcPts val="0"/>
              </a:spcBef>
              <a:spcAft>
                <a:spcPts val="0"/>
              </a:spcAft>
            </a:pPr>
            <a:r>
              <a:rPr lang="en-IN" sz="800" dirty="0">
                <a:solidFill>
                  <a:srgbClr val="191919"/>
                </a:solidFill>
                <a:latin typeface="Consolas"/>
              </a:rPr>
              <a:t>        String query = sc.nextLine().trim();</a:t>
            </a:r>
          </a:p>
          <a:p>
            <a:pPr>
              <a:spcBef>
                <a:spcPts val="0"/>
              </a:spcBef>
              <a:spcAft>
                <a:spcPts val="0"/>
              </a:spcAft>
            </a:pPr>
            <a:r>
              <a:rPr lang="en-IN" sz="800" dirty="0">
                <a:solidFill>
                  <a:srgbClr val="191919"/>
                </a:solidFill>
                <a:latin typeface="Consolas"/>
              </a:rPr>
              <a:t>        List&lt;Song&gt; matches = playlist.stream()</a:t>
            </a:r>
          </a:p>
          <a:p>
            <a:pPr>
              <a:spcBef>
                <a:spcPts val="0"/>
              </a:spcBef>
              <a:spcAft>
                <a:spcPts val="0"/>
              </a:spcAft>
            </a:pPr>
            <a:r>
              <a:rPr lang="en-IN" sz="800" dirty="0">
                <a:solidFill>
                  <a:srgbClr val="191919"/>
                </a:solidFill>
                <a:latin typeface="Consolas"/>
              </a:rPr>
              <a:t>            .filter(song -&gt; song.getTitle().toLowerCase()</a:t>
            </a:r>
          </a:p>
          <a:p>
            <a:pPr>
              <a:spcBef>
                <a:spcPts val="0"/>
              </a:spcBef>
              <a:spcAft>
                <a:spcPts val="0"/>
              </a:spcAft>
            </a:pPr>
            <a:r>
              <a:rPr lang="en-IN" sz="800" dirty="0">
                <a:solidFill>
                  <a:srgbClr val="191919"/>
                </a:solidFill>
                <a:latin typeface="Consolas"/>
              </a:rPr>
              <a:t>                .contains(query.toLowerCase()))</a:t>
            </a:r>
          </a:p>
          <a:p>
            <a:pPr>
              <a:spcBef>
                <a:spcPts val="0"/>
              </a:spcBef>
              <a:spcAft>
                <a:spcPts val="0"/>
              </a:spcAft>
            </a:pPr>
            <a:r>
              <a:rPr lang="en-IN" sz="800" dirty="0">
                <a:solidFill>
                  <a:srgbClr val="191919"/>
                </a:solidFill>
                <a:latin typeface="Consolas"/>
              </a:rPr>
              <a:t>            .collect(Collectors.toList());</a:t>
            </a:r>
          </a:p>
          <a:p>
            <a:pPr>
              <a:spcBef>
                <a:spcPts val="0"/>
              </a:spcBef>
              <a:spcAft>
                <a:spcPts val="0"/>
              </a:spcAft>
            </a:pPr>
            <a:endParaRPr lang="en-IN" sz="800" dirty="0">
              <a:solidFill>
                <a:srgbClr val="191919"/>
              </a:solidFill>
              <a:latin typeface="Consolas"/>
            </a:endParaRPr>
          </a:p>
          <a:p>
            <a:pPr>
              <a:spcBef>
                <a:spcPts val="0"/>
              </a:spcBef>
              <a:spcAft>
                <a:spcPts val="0"/>
              </a:spcAft>
            </a:pPr>
            <a:r>
              <a:rPr lang="en-IN" sz="800" dirty="0">
                <a:solidFill>
                  <a:srgbClr val="191919"/>
                </a:solidFill>
                <a:latin typeface="Consolas"/>
              </a:rPr>
              <a:t>        if (matches.isEmpty()) {</a:t>
            </a:r>
          </a:p>
          <a:p>
            <a:pPr>
              <a:spcBef>
                <a:spcPts val="0"/>
              </a:spcBef>
              <a:spcAft>
                <a:spcPts val="0"/>
              </a:spcAft>
            </a:pPr>
            <a:r>
              <a:rPr lang="en-IN" sz="800" dirty="0">
                <a:solidFill>
                  <a:srgbClr val="191919"/>
                </a:solidFill>
                <a:latin typeface="Consolas"/>
              </a:rPr>
              <a:t>            System.out.println("No matching songs found.");</a:t>
            </a:r>
          </a:p>
          <a:p>
            <a:pPr>
              <a:spcBef>
                <a:spcPts val="0"/>
              </a:spcBef>
              <a:spcAft>
                <a:spcPts val="0"/>
              </a:spcAft>
            </a:pPr>
            <a:r>
              <a:rPr lang="en-IN" sz="800" dirty="0">
                <a:solidFill>
                  <a:srgbClr val="191919"/>
                </a:solidFill>
                <a:latin typeface="Consolas"/>
              </a:rPr>
              <a:t>        } else {</a:t>
            </a:r>
          </a:p>
          <a:p>
            <a:pPr>
              <a:spcBef>
                <a:spcPts val="0"/>
              </a:spcBef>
              <a:spcAft>
                <a:spcPts val="0"/>
              </a:spcAft>
            </a:pPr>
            <a:r>
              <a:rPr lang="en-IN" sz="800" dirty="0">
                <a:solidFill>
                  <a:srgbClr val="191919"/>
                </a:solidFill>
                <a:latin typeface="Consolas"/>
              </a:rPr>
              <a:t>            matches.forEach(System.out::println);</a:t>
            </a:r>
          </a:p>
          <a:p>
            <a:pPr>
              <a:spcBef>
                <a:spcPts val="0"/>
              </a:spcBef>
              <a:spcAft>
                <a:spcPts val="0"/>
              </a:spcAft>
            </a:pPr>
            <a:r>
              <a:rPr lang="en-IN" sz="800" dirty="0">
                <a:solidFill>
                  <a:srgbClr val="191919"/>
                </a:solidFill>
                <a:latin typeface="Consolas"/>
              </a:rPr>
              <a:t>        }</a:t>
            </a:r>
          </a:p>
          <a:p>
            <a:pPr>
              <a:spcBef>
                <a:spcPts val="0"/>
              </a:spcBef>
              <a:spcAft>
                <a:spcPts val="0"/>
              </a:spcAft>
            </a:pPr>
            <a:r>
              <a:rPr lang="en-IN" sz="800" dirty="0">
                <a:solidFill>
                  <a:srgbClr val="191919"/>
                </a:solidFill>
                <a:latin typeface="Consolas"/>
              </a:rPr>
              <a:t>        sc.close();</a:t>
            </a:r>
          </a:p>
          <a:p>
            <a:pPr>
              <a:spcBef>
                <a:spcPts val="0"/>
              </a:spcBef>
              <a:spcAft>
                <a:spcPts val="0"/>
              </a:spcAft>
            </a:pPr>
            <a:r>
              <a:rPr lang="en-IN" sz="800" dirty="0">
                <a:solidFill>
                  <a:srgbClr val="191919"/>
                </a:solidFill>
                <a:latin typeface="Consolas"/>
              </a:rPr>
              <a:t>    }</a:t>
            </a:r>
          </a:p>
          <a:p>
            <a:pPr>
              <a:spcBef>
                <a:spcPts val="0"/>
              </a:spcBef>
              <a:spcAft>
                <a:spcPts val="0"/>
              </a:spcAft>
            </a:pPr>
            <a:r>
              <a:rPr lang="en-IN" sz="800" dirty="0">
                <a:solidFill>
                  <a:srgbClr val="191919"/>
                </a:solidFill>
                <a:latin typeface="Consolas"/>
              </a:rPr>
              <a:t>}</a:t>
            </a:r>
          </a:p>
        </p:txBody>
      </p:sp>
      <p:sp>
        <p:nvSpPr>
          <p:cNvPr id="90" name="Date Placeholder"/>
          <p:cNvSpPr>
            <a:spLocks noGrp="1"/>
          </p:cNvSpPr>
          <p:nvPr>
            <p:ph type="dt" sz="half" idx="10"/>
          </p:nvPr>
        </p:nvSpPr>
        <p:spPr/>
        <p:txBody>
          <a:bodyPr/>
          <a:lstStyle/>
          <a:p>
            <a:fld id="{98A7212C-F907-4AC4-966E-162B34E8EFA5}" type="datetime1">
              <a:rPr lang="en-IN"/>
              <a:t>15-10-2026</a:t>
            </a:fld>
            <a:endParaRPr lang="en-IN"/>
          </a:p>
        </p:txBody>
      </p:sp>
      <p:sp>
        <p:nvSpPr>
          <p:cNvPr id="91" name="Slide Number Placeholder"/>
          <p:cNvSpPr>
            <a:spLocks noGrp="1"/>
          </p:cNvSpPr>
          <p:nvPr>
            <p:ph type="sldNum" sz="quarter" idx="12"/>
          </p:nvPr>
        </p:nvSpPr>
        <p:spPr/>
        <p:txBody>
          <a:bodyPr/>
          <a:lstStyle/>
          <a:p>
            <a:fld id="{CB012AB6-14AF-4351-87AD-D420B05274E1}" type="slidenum">
              <a:rPr lang="en-IN"/>
              <a:t>14</a:t>
            </a:fld>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8760" y="320040"/>
            <a:ext cx="10363200" cy="822960"/>
          </a:xfrm>
        </p:spPr>
        <p:txBody>
          <a:bodyPr/>
          <a:lstStyle/>
          <a:p>
            <a:r>
              <a:t>Geo Tag Photo and GitHub Link</a:t>
            </a:r>
          </a:p>
        </p:txBody>
      </p:sp>
      <p:sp>
        <p:nvSpPr>
          <p:cNvPr id="6" name="TextBox 5"/>
          <p:cNvSpPr txBox="1"/>
          <p:nvPr/>
        </p:nvSpPr>
        <p:spPr>
          <a:xfrm>
            <a:off x="838200" y="1691640"/>
            <a:ext cx="10515600" cy="365760"/>
          </a:xfrm>
          <a:prstGeom prst="rect">
            <a:avLst/>
          </a:prstGeom>
          <a:noFill/>
        </p:spPr>
        <p:txBody>
          <a:bodyPr wrap="square" anchor="t">
            <a:spAutoFit/>
          </a:bodyPr>
          <a:lstStyle/>
          <a:p>
            <a:pPr>
              <a:spcAft>
                <a:spcPts val="400"/>
              </a:spcAft>
            </a:pPr>
            <a:r>
              <a:rPr sz="1300" b="1">
                <a:solidFill>
                  <a:srgbClr val="A31F24"/>
                </a:solidFill>
              </a:rPr>
              <a:t>GITHUB REPOSITORY</a:t>
            </a:r>
          </a:p>
        </p:txBody>
      </p:sp>
      <p:sp>
        <p:nvSpPr>
          <p:cNvPr id="7" name="TextBox 6"/>
          <p:cNvSpPr txBox="1"/>
          <p:nvPr/>
        </p:nvSpPr>
        <p:spPr>
          <a:xfrm>
            <a:off x="838200" y="2103120"/>
            <a:ext cx="10515600" cy="457200"/>
          </a:xfrm>
          <a:prstGeom prst="rect">
            <a:avLst/>
          </a:prstGeom>
          <a:noFill/>
        </p:spPr>
        <p:txBody>
          <a:bodyPr wrap="square" anchor="t">
            <a:spAutoFit/>
          </a:bodyPr>
          <a:lstStyle/>
          <a:p>
            <a:pPr>
              <a:spcAft>
                <a:spcPts val="400"/>
              </a:spcAft>
            </a:pPr>
            <a:r>
              <a:rPr sz="1500" b="0" u="sng">
                <a:solidFill>
                  <a:srgbClr val="0563C1"/>
                </a:solidFill>
                <a:hlinkClick r:id="rId2"/>
              </a:rPr>
              <a:t>https://github.com/harshinipemmaraju/KLH-2026-Section-3-Batch-no-28</a:t>
            </a:r>
          </a:p>
        </p:txBody>
      </p:sp>
      <p:sp>
        <p:nvSpPr>
          <p:cNvPr id="8" name="TextBox 7"/>
          <p:cNvSpPr txBox="1"/>
          <p:nvPr/>
        </p:nvSpPr>
        <p:spPr>
          <a:xfrm>
            <a:off x="838200" y="2606040"/>
            <a:ext cx="10515600" cy="457200"/>
          </a:xfrm>
          <a:prstGeom prst="rect">
            <a:avLst/>
          </a:prstGeom>
          <a:noFill/>
        </p:spPr>
        <p:txBody>
          <a:bodyPr wrap="square" anchor="t">
            <a:spAutoFit/>
          </a:bodyPr>
          <a:lstStyle/>
          <a:p>
            <a:pPr>
              <a:spcAft>
                <a:spcPts val="400"/>
              </a:spcAft>
            </a:pPr>
            <a:r>
              <a:rPr sz="1500" b="0" u="sng">
                <a:solidFill>
                  <a:srgbClr val="0563C1"/>
                </a:solidFill>
                <a:hlinkClick r:id="rId3"/>
              </a:rPr>
              <a:t>https://github.com/Vidhijna2009/KLH-2026-Section-3-Batch-no-28</a:t>
            </a:r>
          </a:p>
        </p:txBody>
      </p:sp>
      <p:sp>
        <p:nvSpPr>
          <p:cNvPr id="92" name="Geo Tag Heading"/>
          <p:cNvSpPr txBox="1"/>
          <p:nvPr/>
        </p:nvSpPr>
        <p:spPr>
          <a:xfrm>
            <a:off x="838200" y="3200400"/>
            <a:ext cx="5000000" cy="365760"/>
          </a:xfrm>
          <a:prstGeom prst="rect">
            <a:avLst/>
          </a:prstGeom>
          <a:noFill/>
        </p:spPr>
        <p:txBody>
          <a:bodyPr wrap="square" anchor="t">
            <a:spAutoFit/>
          </a:bodyPr>
          <a:lstStyle/>
          <a:p>
            <a:r>
              <a:rPr lang="en-IN" sz="1300" b="1">
                <a:solidFill>
                  <a:srgbClr val="A31F24"/>
                </a:solidFill>
              </a:rPr>
              <a:t>GEO TAG PHOTO</a:t>
            </a:r>
          </a:p>
        </p:txBody>
      </p:sp>
      <p:sp>
        <p:nvSpPr>
          <p:cNvPr id="93" name="Geo Tag Photo Box"/>
          <p:cNvSpPr/>
          <p:nvPr/>
        </p:nvSpPr>
        <p:spPr>
          <a:xfrm>
            <a:off x="838200" y="3611880"/>
            <a:ext cx="4572000" cy="2560320"/>
          </a:xfrm>
          <a:prstGeom prst="rect">
            <a:avLst/>
          </a:prstGeom>
          <a:noFill/>
          <a:ln w="12700">
            <a:solidFill>
              <a:srgbClr val="A6A6A6"/>
            </a:solidFill>
            <a:prstDash val="dash"/>
          </a:ln>
        </p:spPr>
        <p:txBody>
          <a:bodyPr wrap="square" anchor="ctr"/>
          <a:lstStyle/>
          <a:p>
            <a:pPr algn="ctr"/>
            <a:r>
              <a:rPr lang="en-IN" sz="1400">
                <a:solidFill>
                  <a:srgbClr val="7F7F7F"/>
                </a:solidFill>
              </a:rPr>
              <a:t>Insert your geo-tagged photo here</a:t>
            </a:r>
          </a:p>
        </p:txBody>
      </p:sp>
      <p:sp>
        <p:nvSpPr>
          <p:cNvPr id="91" name="Slide Number Placeholder"/>
          <p:cNvSpPr>
            <a:spLocks noGrp="1"/>
          </p:cNvSpPr>
          <p:nvPr>
            <p:ph type="sldNum" sz="quarter" idx="12"/>
          </p:nvPr>
        </p:nvSpPr>
        <p:spPr/>
        <p:txBody>
          <a:bodyPr/>
          <a:lstStyle/>
          <a:p>
            <a:fld id="{CB012AB6-14AF-4351-87AD-D420B05274E1}" type="slidenum">
              <a:rPr lang="en-IN"/>
              <a:t>15</a:t>
            </a:fld>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96FD1B-0E65-6338-1070-9E6CC4D00178}"/>
              </a:ext>
            </a:extLst>
          </p:cNvPr>
          <p:cNvSpPr>
            <a:spLocks noGrp="1"/>
          </p:cNvSpPr>
          <p:nvPr>
            <p:ph type="dt" sz="half" idx="10"/>
          </p:nvPr>
        </p:nvSpPr>
        <p:spPr/>
        <p:txBody>
          <a:bodyPr/>
          <a:lstStyle/>
          <a:p>
            <a:fld id="{2FD85D5E-B9E5-4C7E-88B1-43A66A7C3488}" type="datetime1">
              <a:rPr lang="en-IN" smtClean="0"/>
              <a:t>15-10-2026</a:t>
            </a:fld>
            <a:endParaRPr lang="en-IN"/>
          </a:p>
        </p:txBody>
      </p:sp>
      <p:pic>
        <p:nvPicPr>
          <p:cNvPr id="1040" name="Picture 16" descr="Best Cool Thank You Design For PowerPoint Presentation">
            <a:extLst>
              <a:ext uri="{FF2B5EF4-FFF2-40B4-BE49-F238E27FC236}">
                <a16:creationId xmlns:a16="http://schemas.microsoft.com/office/drawing/2014/main" id="{DDD0CA71-4EE8-26EA-FCD4-F11DD80F12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66440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154</TotalTime>
  <Words>2253</Words>
  <Application>Microsoft Office PowerPoint</Application>
  <PresentationFormat>Widescreen</PresentationFormat>
  <Paragraphs>274</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Consolas</vt:lpstr>
      <vt:lpstr>Office Theme</vt:lpstr>
      <vt:lpstr>Music Playlist and Listening Stats Manager Team No: 28</vt:lpstr>
      <vt:lpstr>Abstract</vt:lpstr>
      <vt:lpstr>Understanding Problem Statement</vt:lpstr>
      <vt:lpstr>CO 1 Topics</vt:lpstr>
      <vt:lpstr>CO 2 Topics</vt:lpstr>
      <vt:lpstr>CO 3 Topics</vt:lpstr>
      <vt:lpstr>CO 4 Topics</vt:lpstr>
      <vt:lpstr>CO 5 Topics</vt:lpstr>
      <vt:lpstr>CO 6 Topics</vt:lpstr>
      <vt:lpstr>Conclusion</vt:lpstr>
      <vt:lpstr>Screen Shots</vt:lpstr>
      <vt:lpstr>Full Program (Part 1/3)</vt:lpstr>
      <vt:lpstr>Full Program (Part 2/3)</vt:lpstr>
      <vt:lpstr>Full Program (Part 3/3)</vt:lpstr>
      <vt:lpstr>Geo Tag Photo and GitHub Link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TSP MADHURI</dc:creator>
  <cp:lastModifiedBy>Harshini Pemmaraju</cp:lastModifiedBy>
  <cp:revision>5</cp:revision>
  <dcterms:created xsi:type="dcterms:W3CDTF">2026-09-15T09:57:10Z</dcterms:created>
  <dcterms:modified xsi:type="dcterms:W3CDTF">2026-10-15T16:13:53Z</dcterms:modified>
</cp:coreProperties>
</file>